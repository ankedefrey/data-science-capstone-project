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Lst>
  <p:sldSz cx="18288000" cy="10287000"/>
  <p:notesSz cx="6858000" cy="9144000"/>
  <p:embeddedFontLst>
    <p:embeddedFont>
      <p:font typeface="Barlow Condensed Bold" charset="1" panose="00000806000000000000"/>
      <p:regular r:id="rId53"/>
    </p:embeddedFont>
    <p:embeddedFont>
      <p:font typeface="Anton" charset="1" panose="00000500000000000000"/>
      <p:regular r:id="rId54"/>
    </p:embeddedFont>
    <p:embeddedFont>
      <p:font typeface="Canva Sans" charset="1" panose="020B0503030501040103"/>
      <p:regular r:id="rId55"/>
    </p:embeddedFont>
    <p:embeddedFont>
      <p:font typeface="Canva Sans Bold" charset="1" panose="020B0803030501040103"/>
      <p:regular r:id="rId56"/>
    </p:embeddedFont>
    <p:embeddedFont>
      <p:font typeface="Canva Sans Italics" charset="1" panose="020B0503030501040103"/>
      <p:regular r:id="rId5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slides/slide47.xml" Type="http://schemas.openxmlformats.org/officeDocument/2006/relationships/slide"/><Relationship Id="rId53" Target="fonts/font53.fntdata" Type="http://schemas.openxmlformats.org/officeDocument/2006/relationships/font"/><Relationship Id="rId54" Target="fonts/font54.fntdata" Type="http://schemas.openxmlformats.org/officeDocument/2006/relationships/font"/><Relationship Id="rId55" Target="fonts/font55.fntdata" Type="http://schemas.openxmlformats.org/officeDocument/2006/relationships/font"/><Relationship Id="rId56" Target="fonts/font56.fntdata" Type="http://schemas.openxmlformats.org/officeDocument/2006/relationships/font"/><Relationship Id="rId57" Target="fonts/font57.fntdata" Type="http://schemas.openxmlformats.org/officeDocument/2006/relationships/font"/><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svg" Type="http://schemas.openxmlformats.org/officeDocument/2006/relationships/image"/><Relationship Id="rId11" Target="../media/image3.png" Type="http://schemas.openxmlformats.org/officeDocument/2006/relationships/image"/><Relationship Id="rId12" Target="../media/image12.png" Type="http://schemas.openxmlformats.org/officeDocument/2006/relationships/image"/><Relationship Id="rId13" Target="../media/image13.svg" Type="http://schemas.openxmlformats.org/officeDocument/2006/relationships/image"/><Relationship Id="rId2" Target="https://github.com/Ankedefrey/Data-Science-Capstone-Project/blob/main/jupyter-labs-spacex-data-collection-api.ipynb" TargetMode="External" Type="http://schemas.openxmlformats.org/officeDocument/2006/relationships/hyperlink"/><Relationship Id="rId3" Target="../media/image4.png" Type="http://schemas.openxmlformats.org/officeDocument/2006/relationships/image"/><Relationship Id="rId4" Target="../media/image5.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 Id="rId9" Target="../media/image10.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svg" Type="http://schemas.openxmlformats.org/officeDocument/2006/relationships/image"/><Relationship Id="rId11" Target="../media/image4.png" Type="http://schemas.openxmlformats.org/officeDocument/2006/relationships/image"/><Relationship Id="rId12" Target="../media/image5.svg" Type="http://schemas.openxmlformats.org/officeDocument/2006/relationships/image"/><Relationship Id="rId2" Target="../media/image3.png" Type="http://schemas.openxmlformats.org/officeDocument/2006/relationships/image"/><Relationship Id="rId3" Target="../media/image14.png" Type="http://schemas.openxmlformats.org/officeDocument/2006/relationships/image"/><Relationship Id="rId4" Target="../media/image15.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 Id="rId9" Target="../media/image10.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svg" Type="http://schemas.openxmlformats.org/officeDocument/2006/relationships/image"/><Relationship Id="rId11" Target="../media/image4.png" Type="http://schemas.openxmlformats.org/officeDocument/2006/relationships/image"/><Relationship Id="rId12" Target="../media/image5.svg" Type="http://schemas.openxmlformats.org/officeDocument/2006/relationships/image"/><Relationship Id="rId2" Target="../media/image3.png" Type="http://schemas.openxmlformats.org/officeDocument/2006/relationships/image"/><Relationship Id="rId3" Target="../media/image14.png" Type="http://schemas.openxmlformats.org/officeDocument/2006/relationships/image"/><Relationship Id="rId4" Target="../media/image15.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 Id="rId9" Target="../media/image10.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4.png" Type="http://schemas.openxmlformats.org/officeDocument/2006/relationships/image"/><Relationship Id="rId4" Target="../media/image3.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 Id="rId3" Target="../media/image26.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png" Type="http://schemas.openxmlformats.org/officeDocument/2006/relationships/image"/><Relationship Id="rId4" Target="../media/image3.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 Id="rId3" Target="../media/image3.png" Type="http://schemas.openxmlformats.org/officeDocument/2006/relationships/image"/><Relationship Id="rId4" Target="../media/image30.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png" Type="http://schemas.openxmlformats.org/officeDocument/2006/relationships/image"/><Relationship Id="rId3" Target="../media/image3.png" Type="http://schemas.openxmlformats.org/officeDocument/2006/relationships/image"/><Relationship Id="rId4" Target="../media/image32.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3.png" Type="http://schemas.openxmlformats.org/officeDocument/2006/relationships/image"/><Relationship Id="rId3" Target="../media/image3.png" Type="http://schemas.openxmlformats.org/officeDocument/2006/relationships/image"/><Relationship Id="rId4" Target="../media/image34.png" Type="http://schemas.openxmlformats.org/officeDocument/2006/relationships/image"/><Relationship Id="rId5" Target="../media/image35.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6.png" Type="http://schemas.openxmlformats.org/officeDocument/2006/relationships/image"/><Relationship Id="rId3" Target="../media/image3.png" Type="http://schemas.openxmlformats.org/officeDocument/2006/relationships/image"/><Relationship Id="rId4" Target="../media/image37.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8.png" Type="http://schemas.openxmlformats.org/officeDocument/2006/relationships/image"/><Relationship Id="rId3" Target="../media/image3.png" Type="http://schemas.openxmlformats.org/officeDocument/2006/relationships/image"/><Relationship Id="rId4" Target="../media/image39.png" Type="http://schemas.openxmlformats.org/officeDocument/2006/relationships/image"/><Relationship Id="rId5" Target="../media/image40.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1.png" Type="http://schemas.openxmlformats.org/officeDocument/2006/relationships/image"/><Relationship Id="rId3" Target="../media/image3.png" Type="http://schemas.openxmlformats.org/officeDocument/2006/relationships/image"/><Relationship Id="rId4" Target="../media/image42.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3.png" Type="http://schemas.openxmlformats.org/officeDocument/2006/relationships/image"/><Relationship Id="rId3" Target="../media/image3.png" Type="http://schemas.openxmlformats.org/officeDocument/2006/relationships/image"/><Relationship Id="rId4" Target="../media/image44.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5.png" Type="http://schemas.openxmlformats.org/officeDocument/2006/relationships/image"/><Relationship Id="rId3" Target="../media/image46.png" Type="http://schemas.openxmlformats.org/officeDocument/2006/relationships/image"/><Relationship Id="rId4" Target="../media/image47.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8.png" Type="http://schemas.openxmlformats.org/officeDocument/2006/relationships/image"/><Relationship Id="rId3" Target="../media/image49.png" Type="http://schemas.openxmlformats.org/officeDocument/2006/relationships/image"/><Relationship Id="rId4" Target="../media/image50.png" Type="http://schemas.openxmlformats.org/officeDocument/2006/relationships/image"/><Relationship Id="rId5" Target="../media/image51.png" Type="http://schemas.openxmlformats.org/officeDocument/2006/relationships/image"/><Relationship Id="rId6" Target="../media/image52.png" Type="http://schemas.openxmlformats.org/officeDocument/2006/relationships/image"/><Relationship Id="rId7" Target="../media/image53.png" Type="http://schemas.openxmlformats.org/officeDocument/2006/relationships/image"/><Relationship Id="rId8" Target="../media/image54.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5.pn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6.pn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7.pn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8.png" Type="http://schemas.openxmlformats.org/officeDocument/2006/relationships/image"/><Relationship Id="rId3" Target="../media/image59.png" Type="http://schemas.openxmlformats.org/officeDocument/2006/relationships/image"/><Relationship Id="rId4" Target="../media/image60.png" Type="http://schemas.openxmlformats.org/officeDocument/2006/relationships/image"/><Relationship Id="rId5" Target="../media/image61.png" Type="http://schemas.openxmlformats.org/officeDocument/2006/relationships/image"/><Relationship Id="rId6" Target="../media/image62.pn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3.png" Type="http://schemas.openxmlformats.org/officeDocument/2006/relationships/imag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4.png" Type="http://schemas.openxmlformats.org/officeDocument/2006/relationships/image"/></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5.png" Type="http://schemas.openxmlformats.org/officeDocument/2006/relationships/image"/></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353535">
                <a:alpha val="100000"/>
              </a:srgbClr>
            </a:gs>
            <a:gs pos="100000">
              <a:srgbClr val="000000">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2578987" y="4667250"/>
            <a:ext cx="13147277" cy="2596587"/>
          </a:xfrm>
          <a:custGeom>
            <a:avLst/>
            <a:gdLst/>
            <a:ahLst/>
            <a:cxnLst/>
            <a:rect r="r" b="b" t="t" l="l"/>
            <a:pathLst>
              <a:path h="2596587" w="13147277">
                <a:moveTo>
                  <a:pt x="0" y="0"/>
                </a:moveTo>
                <a:lnTo>
                  <a:pt x="13147277" y="0"/>
                </a:lnTo>
                <a:lnTo>
                  <a:pt x="13147277" y="2596587"/>
                </a:lnTo>
                <a:lnTo>
                  <a:pt x="0" y="2596587"/>
                </a:lnTo>
                <a:lnTo>
                  <a:pt x="0" y="0"/>
                </a:lnTo>
                <a:close/>
              </a:path>
            </a:pathLst>
          </a:custGeom>
          <a:blipFill>
            <a:blip r:embed="rId2"/>
            <a:stretch>
              <a:fillRect l="0" t="0" r="0" b="0"/>
            </a:stretch>
          </a:blipFill>
        </p:spPr>
      </p:sp>
      <p:sp>
        <p:nvSpPr>
          <p:cNvPr name="TextBox 3" id="3"/>
          <p:cNvSpPr txBox="true"/>
          <p:nvPr/>
        </p:nvSpPr>
        <p:spPr>
          <a:xfrm rot="0">
            <a:off x="895265" y="1402392"/>
            <a:ext cx="17156128" cy="2781585"/>
          </a:xfrm>
          <a:prstGeom prst="rect">
            <a:avLst/>
          </a:prstGeom>
        </p:spPr>
        <p:txBody>
          <a:bodyPr anchor="t" rtlCol="false" tIns="0" lIns="0" bIns="0" rIns="0">
            <a:spAutoFit/>
          </a:bodyPr>
          <a:lstStyle/>
          <a:p>
            <a:pPr algn="l">
              <a:lnSpc>
                <a:spcPts val="10739"/>
              </a:lnSpc>
            </a:pPr>
            <a:r>
              <a:rPr lang="en-US" sz="10326" b="true">
                <a:solidFill>
                  <a:srgbClr val="FFFFFF"/>
                </a:solidFill>
                <a:latin typeface="Barlow Condensed Bold"/>
                <a:ea typeface="Barlow Condensed Bold"/>
                <a:cs typeface="Barlow Condensed Bold"/>
                <a:sym typeface="Barlow Condensed Bold"/>
              </a:rPr>
              <a:t>DATA SCIENCE </a:t>
            </a:r>
          </a:p>
          <a:p>
            <a:pPr algn="l">
              <a:lnSpc>
                <a:spcPts val="10739"/>
              </a:lnSpc>
            </a:pPr>
            <a:r>
              <a:rPr lang="en-US" b="true" sz="10326">
                <a:solidFill>
                  <a:srgbClr val="FFFFFF"/>
                </a:solidFill>
                <a:latin typeface="Barlow Condensed Bold"/>
                <a:ea typeface="Barlow Condensed Bold"/>
                <a:cs typeface="Barlow Condensed Bold"/>
                <a:sym typeface="Barlow Condensed Bold"/>
              </a:rPr>
              <a:t>CAPSTONE PROJECT</a:t>
            </a:r>
          </a:p>
        </p:txBody>
      </p:sp>
      <p:sp>
        <p:nvSpPr>
          <p:cNvPr name="TextBox 4" id="4"/>
          <p:cNvSpPr txBox="true"/>
          <p:nvPr/>
        </p:nvSpPr>
        <p:spPr>
          <a:xfrm rot="0">
            <a:off x="1028700" y="4409965"/>
            <a:ext cx="14124384" cy="3168308"/>
          </a:xfrm>
          <a:prstGeom prst="rect">
            <a:avLst/>
          </a:prstGeom>
        </p:spPr>
        <p:txBody>
          <a:bodyPr anchor="t" rtlCol="false" tIns="0" lIns="0" bIns="0" rIns="0">
            <a:spAutoFit/>
          </a:bodyPr>
          <a:lstStyle/>
          <a:p>
            <a:pPr algn="l">
              <a:lnSpc>
                <a:spcPts val="4500"/>
              </a:lnSpc>
            </a:pPr>
            <a:r>
              <a:rPr lang="en-US" sz="4327" b="true">
                <a:solidFill>
                  <a:srgbClr val="FFFFFF"/>
                </a:solidFill>
                <a:latin typeface="Barlow Condensed Bold"/>
                <a:ea typeface="Barlow Condensed Bold"/>
                <a:cs typeface="Barlow Condensed Bold"/>
                <a:sym typeface="Barlow Condensed Bold"/>
              </a:rPr>
              <a:t>ANKE DE FREY</a:t>
            </a:r>
          </a:p>
          <a:p>
            <a:pPr algn="l">
              <a:lnSpc>
                <a:spcPts val="4500"/>
              </a:lnSpc>
            </a:pPr>
            <a:r>
              <a:rPr lang="en-US" sz="4327" b="true">
                <a:solidFill>
                  <a:srgbClr val="FFFFFF"/>
                </a:solidFill>
                <a:latin typeface="Barlow Condensed Bold"/>
                <a:ea typeface="Barlow Condensed Bold"/>
                <a:cs typeface="Barlow Condensed Bold"/>
                <a:sym typeface="Barlow Condensed Bold"/>
              </a:rPr>
              <a:t>09/11/2024</a:t>
            </a:r>
          </a:p>
          <a:p>
            <a:pPr algn="l">
              <a:lnSpc>
                <a:spcPts val="4500"/>
              </a:lnSpc>
            </a:pPr>
            <a:r>
              <a:rPr lang="en-US" sz="4327">
                <a:solidFill>
                  <a:srgbClr val="FFFFFF"/>
                </a:solidFill>
                <a:latin typeface="Anton"/>
                <a:ea typeface="Anton"/>
                <a:cs typeface="Anton"/>
                <a:sym typeface="Anton"/>
              </a:rPr>
              <a:t>HTTPS://GITHUB.COM/ANKEDEFREY/DATA-SCIENCE-CAPSTONE-PROJECT</a:t>
            </a:r>
          </a:p>
          <a:p>
            <a:pPr algn="ctr">
              <a:lnSpc>
                <a:spcPts val="10739"/>
              </a:lnSpc>
              <a:spcBef>
                <a:spcPct val="0"/>
              </a:spcBef>
            </a:pPr>
          </a:p>
        </p:txBody>
      </p:sp>
      <p:sp>
        <p:nvSpPr>
          <p:cNvPr name="TextBox 5" id="5"/>
          <p:cNvSpPr txBox="true"/>
          <p:nvPr/>
        </p:nvSpPr>
        <p:spPr>
          <a:xfrm rot="0">
            <a:off x="433707" y="9599186"/>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5060B"/>
                </a:solidFill>
                <a:latin typeface="Canva Sans"/>
                <a:ea typeface="Canva Sans"/>
                <a:cs typeface="Canva Sans"/>
                <a:sym typeface="Canva Sans"/>
              </a:rPr>
              <a:t>Page 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1182977" y="0"/>
            <a:ext cx="7831370" cy="10287000"/>
            <a:chOff x="0" y="0"/>
            <a:chExt cx="1168151" cy="1534440"/>
          </a:xfrm>
        </p:grpSpPr>
        <p:sp>
          <p:nvSpPr>
            <p:cNvPr name="Freeform 3" id="3"/>
            <p:cNvSpPr/>
            <p:nvPr/>
          </p:nvSpPr>
          <p:spPr>
            <a:xfrm flipH="false" flipV="false" rot="0">
              <a:off x="0" y="0"/>
              <a:ext cx="1168150" cy="1534440"/>
            </a:xfrm>
            <a:custGeom>
              <a:avLst/>
              <a:gdLst/>
              <a:ahLst/>
              <a:cxnLst/>
              <a:rect r="r" b="b" t="t" l="l"/>
              <a:pathLst>
                <a:path h="1534440" w="1168150">
                  <a:moveTo>
                    <a:pt x="0" y="0"/>
                  </a:moveTo>
                  <a:lnTo>
                    <a:pt x="1168150" y="0"/>
                  </a:lnTo>
                  <a:lnTo>
                    <a:pt x="1168150" y="1534440"/>
                  </a:lnTo>
                  <a:lnTo>
                    <a:pt x="0" y="1534440"/>
                  </a:lnTo>
                  <a:close/>
                </a:path>
              </a:pathLst>
            </a:custGeom>
            <a:blipFill>
              <a:blip r:embed="rId2">
                <a:alphaModFix amt="82000"/>
              </a:blip>
              <a:stretch>
                <a:fillRect l="-39510" t="0" r="-39510" b="0"/>
              </a:stretch>
            </a:blipFill>
            <a:ln cap="sq">
              <a:noFill/>
              <a:prstDash val="solid"/>
              <a:miter/>
            </a:ln>
          </p:spPr>
        </p:sp>
      </p:grpSp>
      <p:sp>
        <p:nvSpPr>
          <p:cNvPr name="TextBox 4" id="4"/>
          <p:cNvSpPr txBox="true"/>
          <p:nvPr/>
        </p:nvSpPr>
        <p:spPr>
          <a:xfrm rot="0">
            <a:off x="1156757" y="411162"/>
            <a:ext cx="5040963" cy="1111250"/>
          </a:xfrm>
          <a:prstGeom prst="rect">
            <a:avLst/>
          </a:prstGeom>
        </p:spPr>
        <p:txBody>
          <a:bodyPr anchor="t" rtlCol="false" tIns="0" lIns="0" bIns="0" rIns="0">
            <a:spAutoFit/>
          </a:bodyPr>
          <a:lstStyle/>
          <a:p>
            <a:pPr algn="l">
              <a:lnSpc>
                <a:spcPts val="9099"/>
              </a:lnSpc>
              <a:spcBef>
                <a:spcPct val="0"/>
              </a:spcBef>
            </a:pPr>
            <a:r>
              <a:rPr lang="en-US" sz="6499">
                <a:solidFill>
                  <a:srgbClr val="05060B"/>
                </a:solidFill>
                <a:latin typeface="Anton"/>
                <a:ea typeface="Anton"/>
                <a:cs typeface="Anton"/>
                <a:sym typeface="Anton"/>
              </a:rPr>
              <a:t>OUTLINE</a:t>
            </a:r>
          </a:p>
        </p:txBody>
      </p:sp>
      <p:sp>
        <p:nvSpPr>
          <p:cNvPr name="TextBox 5" id="5"/>
          <p:cNvSpPr txBox="true"/>
          <p:nvPr/>
        </p:nvSpPr>
        <p:spPr>
          <a:xfrm rot="0">
            <a:off x="1156757" y="1958908"/>
            <a:ext cx="8540440" cy="4751071"/>
          </a:xfrm>
          <a:prstGeom prst="rect">
            <a:avLst/>
          </a:prstGeom>
        </p:spPr>
        <p:txBody>
          <a:bodyPr anchor="t" rtlCol="false" tIns="0" lIns="0" bIns="0" rIns="0">
            <a:spAutoFit/>
          </a:bodyPr>
          <a:lstStyle/>
          <a:p>
            <a:pPr algn="l">
              <a:lnSpc>
                <a:spcPts val="3779"/>
              </a:lnSpc>
            </a:pPr>
            <a:r>
              <a:rPr lang="en-US" sz="2699" b="true">
                <a:solidFill>
                  <a:srgbClr val="05060B"/>
                </a:solidFill>
                <a:latin typeface="Canva Sans Bold"/>
                <a:ea typeface="Canva Sans Bold"/>
                <a:cs typeface="Canva Sans Bold"/>
                <a:sym typeface="Canva Sans Bold"/>
              </a:rPr>
              <a:t>P3</a:t>
            </a:r>
            <a:r>
              <a:rPr lang="en-US" sz="2699">
                <a:solidFill>
                  <a:srgbClr val="05060B"/>
                </a:solidFill>
                <a:latin typeface="Canva Sans"/>
                <a:ea typeface="Canva Sans"/>
                <a:cs typeface="Canva Sans"/>
                <a:sym typeface="Canva Sans"/>
              </a:rPr>
              <a:t>      Executive Summary</a:t>
            </a:r>
          </a:p>
          <a:p>
            <a:pPr algn="l">
              <a:lnSpc>
                <a:spcPts val="3779"/>
              </a:lnSpc>
            </a:pPr>
            <a:r>
              <a:rPr lang="en-US" sz="2699" b="true">
                <a:solidFill>
                  <a:srgbClr val="05060B"/>
                </a:solidFill>
                <a:latin typeface="Canva Sans Bold"/>
                <a:ea typeface="Canva Sans Bold"/>
                <a:cs typeface="Canva Sans Bold"/>
                <a:sym typeface="Canva Sans Bold"/>
              </a:rPr>
              <a:t>P4</a:t>
            </a:r>
            <a:r>
              <a:rPr lang="en-US" sz="2699">
                <a:solidFill>
                  <a:srgbClr val="05060B"/>
                </a:solidFill>
                <a:latin typeface="Canva Sans"/>
                <a:ea typeface="Canva Sans"/>
                <a:cs typeface="Canva Sans"/>
                <a:sym typeface="Canva Sans"/>
              </a:rPr>
              <a:t>      Introduction</a:t>
            </a:r>
          </a:p>
          <a:p>
            <a:pPr algn="l">
              <a:lnSpc>
                <a:spcPts val="3779"/>
              </a:lnSpc>
            </a:pPr>
            <a:r>
              <a:rPr lang="en-US" sz="2699" b="true">
                <a:solidFill>
                  <a:srgbClr val="05060B"/>
                </a:solidFill>
                <a:latin typeface="Canva Sans Bold"/>
                <a:ea typeface="Canva Sans Bold"/>
                <a:cs typeface="Canva Sans Bold"/>
                <a:sym typeface="Canva Sans Bold"/>
              </a:rPr>
              <a:t>P5</a:t>
            </a:r>
            <a:r>
              <a:rPr lang="en-US" sz="2699">
                <a:solidFill>
                  <a:srgbClr val="05060B"/>
                </a:solidFill>
                <a:latin typeface="Canva Sans"/>
                <a:ea typeface="Canva Sans"/>
                <a:cs typeface="Canva Sans"/>
                <a:sym typeface="Canva Sans"/>
              </a:rPr>
              <a:t>      </a:t>
            </a:r>
            <a:r>
              <a:rPr lang="en-US" sz="2699">
                <a:solidFill>
                  <a:srgbClr val="05060B"/>
                </a:solidFill>
                <a:latin typeface="Canva Sans"/>
                <a:ea typeface="Canva Sans"/>
                <a:cs typeface="Canva Sans"/>
                <a:sym typeface="Canva Sans"/>
              </a:rPr>
              <a:t>Methodology</a:t>
            </a:r>
          </a:p>
          <a:p>
            <a:pPr algn="l">
              <a:lnSpc>
                <a:spcPts val="3779"/>
              </a:lnSpc>
            </a:pPr>
            <a:r>
              <a:rPr lang="en-US" sz="2699" b="true">
                <a:solidFill>
                  <a:srgbClr val="05060B"/>
                </a:solidFill>
                <a:latin typeface="Canva Sans Bold"/>
                <a:ea typeface="Canva Sans Bold"/>
                <a:cs typeface="Canva Sans Bold"/>
                <a:sym typeface="Canva Sans Bold"/>
              </a:rPr>
              <a:t>P17</a:t>
            </a:r>
            <a:r>
              <a:rPr lang="en-US" sz="2699">
                <a:solidFill>
                  <a:srgbClr val="05060B"/>
                </a:solidFill>
                <a:latin typeface="Canva Sans"/>
                <a:ea typeface="Canva Sans"/>
                <a:cs typeface="Canva Sans"/>
                <a:sym typeface="Canva Sans"/>
              </a:rPr>
              <a:t>    Insights drawn from EDA</a:t>
            </a:r>
          </a:p>
          <a:p>
            <a:pPr algn="l">
              <a:lnSpc>
                <a:spcPts val="3779"/>
              </a:lnSpc>
            </a:pPr>
            <a:r>
              <a:rPr lang="en-US" sz="2699" b="true">
                <a:solidFill>
                  <a:srgbClr val="05060B"/>
                </a:solidFill>
                <a:latin typeface="Canva Sans Bold"/>
                <a:ea typeface="Canva Sans Bold"/>
                <a:cs typeface="Canva Sans Bold"/>
                <a:sym typeface="Canva Sans Bold"/>
              </a:rPr>
              <a:t>P34</a:t>
            </a:r>
            <a:r>
              <a:rPr lang="en-US" sz="2699">
                <a:solidFill>
                  <a:srgbClr val="05060B"/>
                </a:solidFill>
                <a:latin typeface="Canva Sans"/>
                <a:ea typeface="Canva Sans"/>
                <a:cs typeface="Canva Sans"/>
                <a:sym typeface="Canva Sans"/>
              </a:rPr>
              <a:t>   Launch sites proximities analysis</a:t>
            </a:r>
          </a:p>
          <a:p>
            <a:pPr algn="l">
              <a:lnSpc>
                <a:spcPts val="3779"/>
              </a:lnSpc>
            </a:pPr>
            <a:r>
              <a:rPr lang="en-US" sz="2699" b="true">
                <a:solidFill>
                  <a:srgbClr val="05060B"/>
                </a:solidFill>
                <a:latin typeface="Canva Sans Bold"/>
                <a:ea typeface="Canva Sans Bold"/>
                <a:cs typeface="Canva Sans Bold"/>
                <a:sym typeface="Canva Sans Bold"/>
              </a:rPr>
              <a:t>P39</a:t>
            </a:r>
            <a:r>
              <a:rPr lang="en-US" sz="2699">
                <a:solidFill>
                  <a:srgbClr val="05060B"/>
                </a:solidFill>
                <a:latin typeface="Canva Sans"/>
                <a:ea typeface="Canva Sans"/>
                <a:cs typeface="Canva Sans"/>
                <a:sym typeface="Canva Sans"/>
              </a:rPr>
              <a:t>   Dashboard with plotly dash</a:t>
            </a:r>
          </a:p>
          <a:p>
            <a:pPr algn="l">
              <a:lnSpc>
                <a:spcPts val="3779"/>
              </a:lnSpc>
            </a:pPr>
            <a:r>
              <a:rPr lang="en-US" sz="2699" b="true">
                <a:solidFill>
                  <a:srgbClr val="05060B"/>
                </a:solidFill>
                <a:latin typeface="Canva Sans Bold"/>
                <a:ea typeface="Canva Sans Bold"/>
                <a:cs typeface="Canva Sans Bold"/>
                <a:sym typeface="Canva Sans Bold"/>
              </a:rPr>
              <a:t>P43</a:t>
            </a:r>
            <a:r>
              <a:rPr lang="en-US" sz="2699">
                <a:solidFill>
                  <a:srgbClr val="05060B"/>
                </a:solidFill>
                <a:latin typeface="Canva Sans"/>
                <a:ea typeface="Canva Sans"/>
                <a:cs typeface="Canva Sans"/>
                <a:sym typeface="Canva Sans"/>
              </a:rPr>
              <a:t>   Predictive analysis (classification)</a:t>
            </a:r>
          </a:p>
          <a:p>
            <a:pPr algn="l">
              <a:lnSpc>
                <a:spcPts val="3779"/>
              </a:lnSpc>
            </a:pPr>
            <a:r>
              <a:rPr lang="en-US" sz="2699" b="true">
                <a:solidFill>
                  <a:srgbClr val="05060B"/>
                </a:solidFill>
                <a:latin typeface="Canva Sans Bold"/>
                <a:ea typeface="Canva Sans Bold"/>
                <a:cs typeface="Canva Sans Bold"/>
                <a:sym typeface="Canva Sans Bold"/>
              </a:rPr>
              <a:t>P46</a:t>
            </a:r>
            <a:r>
              <a:rPr lang="en-US" sz="2699">
                <a:solidFill>
                  <a:srgbClr val="05060B"/>
                </a:solidFill>
                <a:latin typeface="Canva Sans"/>
                <a:ea typeface="Canva Sans"/>
                <a:cs typeface="Canva Sans"/>
                <a:sym typeface="Canva Sans"/>
              </a:rPr>
              <a:t>   Conclusion</a:t>
            </a:r>
          </a:p>
          <a:p>
            <a:pPr algn="l">
              <a:lnSpc>
                <a:spcPts val="3779"/>
              </a:lnSpc>
            </a:pPr>
            <a:r>
              <a:rPr lang="en-US" sz="2699" b="true">
                <a:solidFill>
                  <a:srgbClr val="05060B"/>
                </a:solidFill>
                <a:latin typeface="Canva Sans Bold"/>
                <a:ea typeface="Canva Sans Bold"/>
                <a:cs typeface="Canva Sans Bold"/>
                <a:sym typeface="Canva Sans Bold"/>
              </a:rPr>
              <a:t>P47</a:t>
            </a:r>
            <a:r>
              <a:rPr lang="en-US" sz="2699">
                <a:solidFill>
                  <a:srgbClr val="05060B"/>
                </a:solidFill>
                <a:latin typeface="Canva Sans"/>
                <a:ea typeface="Canva Sans"/>
                <a:cs typeface="Canva Sans"/>
                <a:sym typeface="Canva Sans"/>
              </a:rPr>
              <a:t>   </a:t>
            </a:r>
            <a:r>
              <a:rPr lang="en-US" sz="2699">
                <a:solidFill>
                  <a:srgbClr val="05060B"/>
                </a:solidFill>
                <a:latin typeface="Canva Sans"/>
                <a:ea typeface="Canva Sans"/>
                <a:cs typeface="Canva Sans"/>
                <a:sym typeface="Canva Sans"/>
              </a:rPr>
              <a:t>Appendix</a:t>
            </a:r>
          </a:p>
          <a:p>
            <a:pPr algn="l">
              <a:lnSpc>
                <a:spcPts val="3779"/>
              </a:lnSpc>
              <a:spcBef>
                <a:spcPct val="0"/>
              </a:spcBef>
            </a:pPr>
          </a:p>
        </p:txBody>
      </p:sp>
      <p:sp>
        <p:nvSpPr>
          <p:cNvPr name="TextBox 6" id="6"/>
          <p:cNvSpPr txBox="true"/>
          <p:nvPr/>
        </p:nvSpPr>
        <p:spPr>
          <a:xfrm rot="0">
            <a:off x="433707" y="9599186"/>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5060B"/>
                </a:solidFill>
                <a:latin typeface="Canva Sans"/>
                <a:ea typeface="Canva Sans"/>
                <a:cs typeface="Canva Sans"/>
                <a:sym typeface="Canva Sans"/>
              </a:rPr>
              <a:t>Page 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156757" y="411162"/>
            <a:ext cx="6713250" cy="1111250"/>
          </a:xfrm>
          <a:prstGeom prst="rect">
            <a:avLst/>
          </a:prstGeom>
        </p:spPr>
        <p:txBody>
          <a:bodyPr anchor="t" rtlCol="false" tIns="0" lIns="0" bIns="0" rIns="0">
            <a:spAutoFit/>
          </a:bodyPr>
          <a:lstStyle/>
          <a:p>
            <a:pPr algn="l">
              <a:lnSpc>
                <a:spcPts val="9099"/>
              </a:lnSpc>
              <a:spcBef>
                <a:spcPct val="0"/>
              </a:spcBef>
            </a:pPr>
            <a:r>
              <a:rPr lang="en-US" sz="6499">
                <a:solidFill>
                  <a:srgbClr val="05060B"/>
                </a:solidFill>
                <a:latin typeface="Anton"/>
                <a:ea typeface="Anton"/>
                <a:cs typeface="Anton"/>
                <a:sym typeface="Anton"/>
              </a:rPr>
              <a:t>EXECUTIVE SUMMARY</a:t>
            </a:r>
          </a:p>
        </p:txBody>
      </p:sp>
      <p:sp>
        <p:nvSpPr>
          <p:cNvPr name="TextBox 3" id="3"/>
          <p:cNvSpPr txBox="true"/>
          <p:nvPr/>
        </p:nvSpPr>
        <p:spPr>
          <a:xfrm rot="0">
            <a:off x="1156757" y="1958908"/>
            <a:ext cx="14606474" cy="6656071"/>
          </a:xfrm>
          <a:prstGeom prst="rect">
            <a:avLst/>
          </a:prstGeom>
        </p:spPr>
        <p:txBody>
          <a:bodyPr anchor="t" rtlCol="false" tIns="0" lIns="0" bIns="0" rIns="0">
            <a:spAutoFit/>
          </a:bodyPr>
          <a:lstStyle/>
          <a:p>
            <a:pPr algn="l" marL="582924" indent="-291462" lvl="1">
              <a:lnSpc>
                <a:spcPts val="3779"/>
              </a:lnSpc>
              <a:buFont typeface="Arial"/>
              <a:buChar char="•"/>
            </a:pPr>
            <a:r>
              <a:rPr lang="en-US" sz="2699">
                <a:solidFill>
                  <a:srgbClr val="05060B"/>
                </a:solidFill>
                <a:latin typeface="Canva Sans"/>
                <a:ea typeface="Canva Sans"/>
                <a:cs typeface="Canva Sans"/>
                <a:sym typeface="Canva Sans"/>
              </a:rPr>
              <a:t>Data was gathered from SpaceX API and the SpaceX Wikipedia page</a:t>
            </a:r>
          </a:p>
          <a:p>
            <a:pPr algn="l" marL="582924" indent="-291462" lvl="1">
              <a:lnSpc>
                <a:spcPts val="3779"/>
              </a:lnSpc>
              <a:buFont typeface="Arial"/>
              <a:buChar char="•"/>
            </a:pPr>
            <a:r>
              <a:rPr lang="en-US" sz="2699">
                <a:solidFill>
                  <a:srgbClr val="05060B"/>
                </a:solidFill>
                <a:latin typeface="Canva Sans"/>
                <a:ea typeface="Canva Sans"/>
                <a:cs typeface="Canva Sans"/>
                <a:sym typeface="Canva Sans"/>
              </a:rPr>
              <a:t>A new column “class” was created to label landings as either successful or not.</a:t>
            </a:r>
          </a:p>
          <a:p>
            <a:pPr algn="l" marL="582924" indent="-291462" lvl="1">
              <a:lnSpc>
                <a:spcPts val="3779"/>
              </a:lnSpc>
              <a:buFont typeface="Arial"/>
              <a:buChar char="•"/>
            </a:pPr>
            <a:r>
              <a:rPr lang="en-US" sz="2699">
                <a:solidFill>
                  <a:srgbClr val="05060B"/>
                </a:solidFill>
                <a:latin typeface="Canva Sans"/>
                <a:ea typeface="Canva Sans"/>
                <a:cs typeface="Canva Sans"/>
                <a:sym typeface="Canva Sans"/>
              </a:rPr>
              <a:t>The dataset was explored through SQL queries, visualization, folium maps and dashboards, with key columns chosen as features.</a:t>
            </a:r>
          </a:p>
          <a:p>
            <a:pPr algn="l" marL="582924" indent="-291462" lvl="1">
              <a:lnSpc>
                <a:spcPts val="3779"/>
              </a:lnSpc>
              <a:buFont typeface="Arial"/>
              <a:buChar char="•"/>
            </a:pPr>
            <a:r>
              <a:rPr lang="en-US" sz="2699">
                <a:solidFill>
                  <a:srgbClr val="05060B"/>
                </a:solidFill>
                <a:latin typeface="Canva Sans"/>
                <a:ea typeface="Canva Sans"/>
                <a:cs typeface="Canva Sans"/>
                <a:sym typeface="Canva Sans"/>
              </a:rPr>
              <a:t>Categorical variables were converted to binary format with one-hot encoding and the data was standardized.</a:t>
            </a:r>
          </a:p>
          <a:p>
            <a:pPr algn="l" marL="582924" indent="-291462" lvl="1">
              <a:lnSpc>
                <a:spcPts val="3779"/>
              </a:lnSpc>
              <a:buFont typeface="Arial"/>
              <a:buChar char="•"/>
            </a:pPr>
            <a:r>
              <a:rPr lang="en-US" sz="2699">
                <a:solidFill>
                  <a:srgbClr val="05060B"/>
                </a:solidFill>
                <a:latin typeface="Canva Sans"/>
                <a:ea typeface="Canva Sans"/>
                <a:cs typeface="Canva Sans"/>
                <a:sym typeface="Canva Sans"/>
              </a:rPr>
              <a:t>GridSearchCV was applied to fine tune the parameters of the machine learning models, and accuracy scroed for each model were displayed.</a:t>
            </a:r>
          </a:p>
          <a:p>
            <a:pPr algn="l" marL="582924" indent="-291462" lvl="1">
              <a:lnSpc>
                <a:spcPts val="3779"/>
              </a:lnSpc>
              <a:buFont typeface="Arial"/>
              <a:buChar char="•"/>
            </a:pPr>
            <a:r>
              <a:rPr lang="en-US" sz="2699">
                <a:solidFill>
                  <a:srgbClr val="05060B"/>
                </a:solidFill>
                <a:latin typeface="Canva Sans"/>
                <a:ea typeface="Canva Sans"/>
                <a:cs typeface="Canva Sans"/>
                <a:sym typeface="Canva Sans"/>
              </a:rPr>
              <a:t>the analysis included four machine learning models: Logistic regression, Support Vector machine, Decision tree Classifier and K-Nearest Neighbors.</a:t>
            </a:r>
          </a:p>
          <a:p>
            <a:pPr algn="l" marL="582924" indent="-291462" lvl="1">
              <a:lnSpc>
                <a:spcPts val="3779"/>
              </a:lnSpc>
              <a:buFont typeface="Arial"/>
              <a:buChar char="•"/>
            </a:pPr>
            <a:r>
              <a:rPr lang="en-US" sz="2699">
                <a:solidFill>
                  <a:srgbClr val="05060B"/>
                </a:solidFill>
                <a:latin typeface="Canva Sans"/>
                <a:ea typeface="Canva Sans"/>
                <a:cs typeface="Canva Sans"/>
                <a:sym typeface="Canva Sans"/>
              </a:rPr>
              <a:t>All models achieved a similar accuracy of 83.33% but tended to overpredict successful landings</a:t>
            </a:r>
          </a:p>
          <a:p>
            <a:pPr algn="l" marL="582924" indent="-291462" lvl="1">
              <a:lnSpc>
                <a:spcPts val="3779"/>
              </a:lnSpc>
              <a:buFont typeface="Arial"/>
              <a:buChar char="•"/>
            </a:pPr>
            <a:r>
              <a:rPr lang="en-US" sz="2699">
                <a:solidFill>
                  <a:srgbClr val="05060B"/>
                </a:solidFill>
                <a:latin typeface="Canva Sans"/>
                <a:ea typeface="Canva Sans"/>
                <a:cs typeface="Canva Sans"/>
                <a:sym typeface="Canva Sans"/>
              </a:rPr>
              <a:t>Increasing the dataset would help enhance model performance and accuracy</a:t>
            </a:r>
          </a:p>
          <a:p>
            <a:pPr algn="l">
              <a:lnSpc>
                <a:spcPts val="3779"/>
              </a:lnSpc>
              <a:spcBef>
                <a:spcPct val="0"/>
              </a:spcBef>
            </a:pPr>
          </a:p>
        </p:txBody>
      </p:sp>
      <p:sp>
        <p:nvSpPr>
          <p:cNvPr name="Freeform 4" id="4"/>
          <p:cNvSpPr/>
          <p:nvPr/>
        </p:nvSpPr>
        <p:spPr>
          <a:xfrm flipH="false" flipV="false" rot="0">
            <a:off x="12782531" y="2934268"/>
            <a:ext cx="8229600" cy="8229600"/>
          </a:xfrm>
          <a:custGeom>
            <a:avLst/>
            <a:gdLst/>
            <a:ahLst/>
            <a:cxnLst/>
            <a:rect r="r" b="b" t="t" l="l"/>
            <a:pathLst>
              <a:path h="8229600" w="8229600">
                <a:moveTo>
                  <a:pt x="0" y="0"/>
                </a:moveTo>
                <a:lnTo>
                  <a:pt x="8229600" y="0"/>
                </a:lnTo>
                <a:lnTo>
                  <a:pt x="8229600" y="8229600"/>
                </a:lnTo>
                <a:lnTo>
                  <a:pt x="0" y="8229600"/>
                </a:lnTo>
                <a:lnTo>
                  <a:pt x="0" y="0"/>
                </a:lnTo>
                <a:close/>
              </a:path>
            </a:pathLst>
          </a:custGeom>
          <a:blipFill>
            <a:blip r:embed="rId2"/>
            <a:stretch>
              <a:fillRect l="0" t="0" r="0" b="0"/>
            </a:stretch>
          </a:blipFill>
        </p:spPr>
      </p:sp>
      <p:sp>
        <p:nvSpPr>
          <p:cNvPr name="TextBox 5" id="5"/>
          <p:cNvSpPr txBox="true"/>
          <p:nvPr/>
        </p:nvSpPr>
        <p:spPr>
          <a:xfrm rot="0">
            <a:off x="433707" y="9599186"/>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5060B"/>
                </a:solidFill>
                <a:latin typeface="Canva Sans"/>
                <a:ea typeface="Canva Sans"/>
                <a:cs typeface="Canva Sans"/>
                <a:sym typeface="Canva Sans"/>
              </a:rPr>
              <a:t>Page 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782531" y="2934268"/>
            <a:ext cx="8229600" cy="8229600"/>
          </a:xfrm>
          <a:custGeom>
            <a:avLst/>
            <a:gdLst/>
            <a:ahLst/>
            <a:cxnLst/>
            <a:rect r="r" b="b" t="t" l="l"/>
            <a:pathLst>
              <a:path h="8229600" w="8229600">
                <a:moveTo>
                  <a:pt x="0" y="0"/>
                </a:moveTo>
                <a:lnTo>
                  <a:pt x="8229600" y="0"/>
                </a:lnTo>
                <a:lnTo>
                  <a:pt x="8229600" y="8229600"/>
                </a:lnTo>
                <a:lnTo>
                  <a:pt x="0" y="8229600"/>
                </a:lnTo>
                <a:lnTo>
                  <a:pt x="0" y="0"/>
                </a:lnTo>
                <a:close/>
              </a:path>
            </a:pathLst>
          </a:custGeom>
          <a:blipFill>
            <a:blip r:embed="rId2"/>
            <a:stretch>
              <a:fillRect l="0" t="0" r="0" b="0"/>
            </a:stretch>
          </a:blipFill>
        </p:spPr>
      </p:sp>
      <p:sp>
        <p:nvSpPr>
          <p:cNvPr name="TextBox 3" id="3"/>
          <p:cNvSpPr txBox="true"/>
          <p:nvPr/>
        </p:nvSpPr>
        <p:spPr>
          <a:xfrm rot="0">
            <a:off x="1156757" y="411162"/>
            <a:ext cx="6713250" cy="1111250"/>
          </a:xfrm>
          <a:prstGeom prst="rect">
            <a:avLst/>
          </a:prstGeom>
        </p:spPr>
        <p:txBody>
          <a:bodyPr anchor="t" rtlCol="false" tIns="0" lIns="0" bIns="0" rIns="0">
            <a:spAutoFit/>
          </a:bodyPr>
          <a:lstStyle/>
          <a:p>
            <a:pPr algn="l">
              <a:lnSpc>
                <a:spcPts val="9099"/>
              </a:lnSpc>
              <a:spcBef>
                <a:spcPct val="0"/>
              </a:spcBef>
            </a:pPr>
            <a:r>
              <a:rPr lang="en-US" sz="6499">
                <a:solidFill>
                  <a:srgbClr val="05060B"/>
                </a:solidFill>
                <a:latin typeface="Anton"/>
                <a:ea typeface="Anton"/>
                <a:cs typeface="Anton"/>
                <a:sym typeface="Anton"/>
              </a:rPr>
              <a:t>INTRODUCTION</a:t>
            </a:r>
          </a:p>
        </p:txBody>
      </p:sp>
      <p:sp>
        <p:nvSpPr>
          <p:cNvPr name="TextBox 4" id="4"/>
          <p:cNvSpPr txBox="true"/>
          <p:nvPr/>
        </p:nvSpPr>
        <p:spPr>
          <a:xfrm rot="0">
            <a:off x="1156757" y="1739315"/>
            <a:ext cx="14334324" cy="8808721"/>
          </a:xfrm>
          <a:prstGeom prst="rect">
            <a:avLst/>
          </a:prstGeom>
        </p:spPr>
        <p:txBody>
          <a:bodyPr anchor="t" rtlCol="false" tIns="0" lIns="0" bIns="0" rIns="0">
            <a:spAutoFit/>
          </a:bodyPr>
          <a:lstStyle/>
          <a:p>
            <a:pPr algn="l">
              <a:lnSpc>
                <a:spcPts val="3779"/>
              </a:lnSpc>
            </a:pPr>
            <a:r>
              <a:rPr lang="en-US" sz="2699" u="sng" b="true">
                <a:solidFill>
                  <a:srgbClr val="05060B"/>
                </a:solidFill>
                <a:latin typeface="Canva Sans Bold"/>
                <a:ea typeface="Canva Sans Bold"/>
                <a:cs typeface="Canva Sans Bold"/>
                <a:sym typeface="Canva Sans Bold"/>
              </a:rPr>
              <a:t>Project background and context</a:t>
            </a:r>
          </a:p>
          <a:p>
            <a:pPr algn="l" marL="582924" indent="-291462" lvl="1">
              <a:lnSpc>
                <a:spcPts val="3779"/>
              </a:lnSpc>
              <a:buFont typeface="Arial"/>
              <a:buChar char="•"/>
            </a:pPr>
            <a:r>
              <a:rPr lang="en-US" sz="2699">
                <a:solidFill>
                  <a:srgbClr val="05060B"/>
                </a:solidFill>
                <a:latin typeface="Canva Sans"/>
                <a:ea typeface="Canva Sans"/>
                <a:cs typeface="Canva Sans"/>
                <a:sym typeface="Canva Sans"/>
              </a:rPr>
              <a:t>Main objective: To Predict if the Falcon 9 first stage will land successfully</a:t>
            </a:r>
          </a:p>
          <a:p>
            <a:pPr algn="l" marL="582924" indent="-291462" lvl="1">
              <a:lnSpc>
                <a:spcPts val="3779"/>
              </a:lnSpc>
              <a:buFont typeface="Arial"/>
              <a:buChar char="•"/>
            </a:pPr>
            <a:r>
              <a:rPr lang="en-US" sz="2699">
                <a:solidFill>
                  <a:srgbClr val="05060B"/>
                </a:solidFill>
                <a:latin typeface="Canva Sans"/>
                <a:ea typeface="Canva Sans"/>
                <a:cs typeface="Canva Sans"/>
                <a:sym typeface="Canva Sans"/>
              </a:rPr>
              <a:t>Context: SpaceX offers relatively inexpensive rocket launches ($62 million) compared to other providers ($165 million+), largely due to reusability of the first stage.</a:t>
            </a:r>
          </a:p>
          <a:p>
            <a:pPr algn="l" marL="582924" indent="-291462" lvl="1">
              <a:lnSpc>
                <a:spcPts val="3779"/>
              </a:lnSpc>
              <a:buFont typeface="Arial"/>
              <a:buChar char="•"/>
            </a:pPr>
            <a:r>
              <a:rPr lang="en-US" sz="2699">
                <a:solidFill>
                  <a:srgbClr val="05060B"/>
                </a:solidFill>
                <a:latin typeface="Canva Sans"/>
                <a:ea typeface="Canva Sans"/>
                <a:cs typeface="Canva Sans"/>
                <a:sym typeface="Canva Sans"/>
              </a:rPr>
              <a:t>Data Collected on Space X’s Falcon 9 launches via an API.</a:t>
            </a:r>
          </a:p>
          <a:p>
            <a:pPr algn="l" marL="582924" indent="-291462" lvl="1">
              <a:lnSpc>
                <a:spcPts val="3779"/>
              </a:lnSpc>
              <a:buFont typeface="Arial"/>
              <a:buChar char="•"/>
            </a:pPr>
            <a:r>
              <a:rPr lang="en-US" sz="2699">
                <a:solidFill>
                  <a:srgbClr val="05060B"/>
                </a:solidFill>
                <a:latin typeface="Canva Sans"/>
                <a:ea typeface="Canva Sans"/>
                <a:cs typeface="Canva Sans"/>
                <a:sym typeface="Canva Sans"/>
              </a:rPr>
              <a:t>The prediction model will help SpaceY, a new rocket company, determine competitive launch pricing.</a:t>
            </a:r>
          </a:p>
          <a:p>
            <a:pPr algn="l">
              <a:lnSpc>
                <a:spcPts val="3779"/>
              </a:lnSpc>
            </a:pPr>
          </a:p>
          <a:p>
            <a:pPr algn="l">
              <a:lnSpc>
                <a:spcPts val="3779"/>
              </a:lnSpc>
            </a:pPr>
            <a:r>
              <a:rPr lang="en-US" sz="2699" u="sng" b="true">
                <a:solidFill>
                  <a:srgbClr val="05060B"/>
                </a:solidFill>
                <a:latin typeface="Canva Sans Bold"/>
                <a:ea typeface="Canva Sans Bold"/>
                <a:cs typeface="Canva Sans Bold"/>
                <a:sym typeface="Canva Sans Bold"/>
              </a:rPr>
              <a:t>Problems you want to find answers</a:t>
            </a:r>
          </a:p>
          <a:p>
            <a:pPr algn="l" marL="582924" indent="-291462" lvl="1">
              <a:lnSpc>
                <a:spcPts val="3779"/>
              </a:lnSpc>
              <a:buFont typeface="Arial"/>
              <a:buChar char="•"/>
            </a:pPr>
            <a:r>
              <a:rPr lang="en-US" sz="2699">
                <a:solidFill>
                  <a:srgbClr val="05060B"/>
                </a:solidFill>
                <a:latin typeface="Canva Sans"/>
                <a:ea typeface="Canva Sans"/>
                <a:cs typeface="Canva Sans"/>
                <a:sym typeface="Canva Sans"/>
              </a:rPr>
              <a:t>Predicting first stage landing success</a:t>
            </a:r>
          </a:p>
          <a:p>
            <a:pPr algn="l" marL="993131" indent="-331044" lvl="2">
              <a:lnSpc>
                <a:spcPts val="3219"/>
              </a:lnSpc>
              <a:buFont typeface="Arial"/>
              <a:buChar char="⚬"/>
            </a:pPr>
            <a:r>
              <a:rPr lang="en-US" sz="2299">
                <a:solidFill>
                  <a:srgbClr val="05060B"/>
                </a:solidFill>
                <a:latin typeface="Canva Sans"/>
                <a:ea typeface="Canva Sans"/>
                <a:cs typeface="Canva Sans"/>
                <a:sym typeface="Canva Sans"/>
              </a:rPr>
              <a:t>Develop a machine learning model to predict whether the Falcon 9 first stage will land successfully based on historical data and launch parameters (payload mass, launch site, number of flights and orbits)</a:t>
            </a:r>
          </a:p>
          <a:p>
            <a:pPr algn="l" marL="582924" indent="-291462" lvl="1">
              <a:lnSpc>
                <a:spcPts val="3779"/>
              </a:lnSpc>
              <a:buFont typeface="Arial"/>
              <a:buChar char="•"/>
            </a:pPr>
            <a:r>
              <a:rPr lang="en-US" sz="2699">
                <a:solidFill>
                  <a:srgbClr val="05060B"/>
                </a:solidFill>
                <a:latin typeface="Canva Sans"/>
                <a:ea typeface="Canva Sans"/>
                <a:cs typeface="Canva Sans"/>
                <a:sym typeface="Canva Sans"/>
              </a:rPr>
              <a:t>Rate of successful landing over time</a:t>
            </a:r>
          </a:p>
          <a:p>
            <a:pPr algn="l" marL="582924" indent="-291462" lvl="1">
              <a:lnSpc>
                <a:spcPts val="3779"/>
              </a:lnSpc>
              <a:buFont typeface="Arial"/>
              <a:buChar char="•"/>
            </a:pPr>
            <a:r>
              <a:rPr lang="en-US" sz="2699">
                <a:solidFill>
                  <a:srgbClr val="05060B"/>
                </a:solidFill>
                <a:latin typeface="Canva Sans"/>
                <a:ea typeface="Canva Sans"/>
                <a:cs typeface="Canva Sans"/>
                <a:sym typeface="Canva Sans"/>
              </a:rPr>
              <a:t>Best predictive model for successful landing</a:t>
            </a:r>
          </a:p>
          <a:p>
            <a:pPr algn="l">
              <a:lnSpc>
                <a:spcPts val="3779"/>
              </a:lnSpc>
            </a:pPr>
          </a:p>
          <a:p>
            <a:pPr algn="l">
              <a:lnSpc>
                <a:spcPts val="3779"/>
              </a:lnSpc>
            </a:pPr>
          </a:p>
          <a:p>
            <a:pPr algn="l">
              <a:lnSpc>
                <a:spcPts val="3779"/>
              </a:lnSpc>
              <a:spcBef>
                <a:spcPct val="0"/>
              </a:spcBef>
            </a:pPr>
          </a:p>
        </p:txBody>
      </p:sp>
      <p:sp>
        <p:nvSpPr>
          <p:cNvPr name="TextBox 5" id="5"/>
          <p:cNvSpPr txBox="true"/>
          <p:nvPr/>
        </p:nvSpPr>
        <p:spPr>
          <a:xfrm rot="0">
            <a:off x="433707" y="9599186"/>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5060B"/>
                </a:solidFill>
                <a:latin typeface="Canva Sans"/>
                <a:ea typeface="Canva Sans"/>
                <a:cs typeface="Canva Sans"/>
                <a:sym typeface="Canva Sans"/>
              </a:rPr>
              <a:t>Page 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693115" y="0"/>
            <a:ext cx="7831370" cy="10287000"/>
            <a:chOff x="0" y="0"/>
            <a:chExt cx="1168151" cy="1534440"/>
          </a:xfrm>
        </p:grpSpPr>
        <p:sp>
          <p:nvSpPr>
            <p:cNvPr name="Freeform 3" id="3"/>
            <p:cNvSpPr/>
            <p:nvPr/>
          </p:nvSpPr>
          <p:spPr>
            <a:xfrm flipH="false" flipV="false" rot="0">
              <a:off x="0" y="0"/>
              <a:ext cx="1168150" cy="1534440"/>
            </a:xfrm>
            <a:custGeom>
              <a:avLst/>
              <a:gdLst/>
              <a:ahLst/>
              <a:cxnLst/>
              <a:rect r="r" b="b" t="t" l="l"/>
              <a:pathLst>
                <a:path h="1534440" w="1168150">
                  <a:moveTo>
                    <a:pt x="0" y="0"/>
                  </a:moveTo>
                  <a:lnTo>
                    <a:pt x="1168150" y="0"/>
                  </a:lnTo>
                  <a:lnTo>
                    <a:pt x="1168150" y="1534440"/>
                  </a:lnTo>
                  <a:lnTo>
                    <a:pt x="0" y="1534440"/>
                  </a:lnTo>
                  <a:close/>
                </a:path>
              </a:pathLst>
            </a:custGeom>
            <a:blipFill>
              <a:blip r:embed="rId2">
                <a:alphaModFix amt="82000"/>
              </a:blip>
              <a:stretch>
                <a:fillRect l="-39510" t="0" r="-39510" b="0"/>
              </a:stretch>
            </a:blipFill>
            <a:ln cap="sq">
              <a:noFill/>
              <a:prstDash val="solid"/>
              <a:miter/>
            </a:ln>
          </p:spPr>
        </p:sp>
      </p:grpSp>
      <p:sp>
        <p:nvSpPr>
          <p:cNvPr name="TextBox 4" id="4"/>
          <p:cNvSpPr txBox="true"/>
          <p:nvPr/>
        </p:nvSpPr>
        <p:spPr>
          <a:xfrm rot="0">
            <a:off x="2971256" y="4414516"/>
            <a:ext cx="4922720" cy="2794642"/>
          </a:xfrm>
          <a:prstGeom prst="rect">
            <a:avLst/>
          </a:prstGeom>
        </p:spPr>
        <p:txBody>
          <a:bodyPr anchor="t" rtlCol="false" tIns="0" lIns="0" bIns="0" rIns="0">
            <a:spAutoFit/>
          </a:bodyPr>
          <a:lstStyle/>
          <a:p>
            <a:pPr algn="l">
              <a:lnSpc>
                <a:spcPts val="9239"/>
              </a:lnSpc>
            </a:pPr>
            <a:r>
              <a:rPr lang="en-US" sz="6599">
                <a:solidFill>
                  <a:srgbClr val="05060B"/>
                </a:solidFill>
                <a:latin typeface="Anton"/>
                <a:ea typeface="Anton"/>
                <a:cs typeface="Anton"/>
                <a:sym typeface="Anton"/>
              </a:rPr>
              <a:t>METHODOLOGY</a:t>
            </a:r>
          </a:p>
          <a:p>
            <a:pPr algn="l">
              <a:lnSpc>
                <a:spcPts val="13439"/>
              </a:lnSpc>
              <a:spcBef>
                <a:spcPct val="0"/>
              </a:spcBef>
            </a:pPr>
          </a:p>
        </p:txBody>
      </p:sp>
      <p:sp>
        <p:nvSpPr>
          <p:cNvPr name="TextBox 5" id="5"/>
          <p:cNvSpPr txBox="true"/>
          <p:nvPr/>
        </p:nvSpPr>
        <p:spPr>
          <a:xfrm rot="0">
            <a:off x="433707" y="9599186"/>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5060B"/>
                </a:solidFill>
                <a:latin typeface="Canva Sans"/>
                <a:ea typeface="Canva Sans"/>
                <a:cs typeface="Canva Sans"/>
                <a:sym typeface="Canva Sans"/>
              </a:rPr>
              <a:t>Page 5</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782531" y="2934268"/>
            <a:ext cx="8229600" cy="8229600"/>
          </a:xfrm>
          <a:custGeom>
            <a:avLst/>
            <a:gdLst/>
            <a:ahLst/>
            <a:cxnLst/>
            <a:rect r="r" b="b" t="t" l="l"/>
            <a:pathLst>
              <a:path h="8229600" w="8229600">
                <a:moveTo>
                  <a:pt x="0" y="0"/>
                </a:moveTo>
                <a:lnTo>
                  <a:pt x="8229600" y="0"/>
                </a:lnTo>
                <a:lnTo>
                  <a:pt x="8229600" y="8229600"/>
                </a:lnTo>
                <a:lnTo>
                  <a:pt x="0" y="8229600"/>
                </a:lnTo>
                <a:lnTo>
                  <a:pt x="0" y="0"/>
                </a:lnTo>
                <a:close/>
              </a:path>
            </a:pathLst>
          </a:custGeom>
          <a:blipFill>
            <a:blip r:embed="rId2"/>
            <a:stretch>
              <a:fillRect l="0" t="0" r="0" b="0"/>
            </a:stretch>
          </a:blipFill>
        </p:spPr>
      </p:sp>
      <p:sp>
        <p:nvSpPr>
          <p:cNvPr name="TextBox 3" id="3"/>
          <p:cNvSpPr txBox="true"/>
          <p:nvPr/>
        </p:nvSpPr>
        <p:spPr>
          <a:xfrm rot="0">
            <a:off x="1156757" y="411162"/>
            <a:ext cx="6713250" cy="1111250"/>
          </a:xfrm>
          <a:prstGeom prst="rect">
            <a:avLst/>
          </a:prstGeom>
        </p:spPr>
        <p:txBody>
          <a:bodyPr anchor="t" rtlCol="false" tIns="0" lIns="0" bIns="0" rIns="0">
            <a:spAutoFit/>
          </a:bodyPr>
          <a:lstStyle/>
          <a:p>
            <a:pPr algn="l">
              <a:lnSpc>
                <a:spcPts val="9099"/>
              </a:lnSpc>
              <a:spcBef>
                <a:spcPct val="0"/>
              </a:spcBef>
            </a:pPr>
            <a:r>
              <a:rPr lang="en-US" sz="6499">
                <a:solidFill>
                  <a:srgbClr val="05060B"/>
                </a:solidFill>
                <a:latin typeface="Anton"/>
                <a:ea typeface="Anton"/>
                <a:cs typeface="Anton"/>
                <a:sym typeface="Anton"/>
              </a:rPr>
              <a:t>METHODOLOGY</a:t>
            </a:r>
          </a:p>
        </p:txBody>
      </p:sp>
      <p:sp>
        <p:nvSpPr>
          <p:cNvPr name="TextBox 4" id="4"/>
          <p:cNvSpPr txBox="true"/>
          <p:nvPr/>
        </p:nvSpPr>
        <p:spPr>
          <a:xfrm rot="0">
            <a:off x="1028700" y="1958908"/>
            <a:ext cx="12256634" cy="7151371"/>
          </a:xfrm>
          <a:prstGeom prst="rect">
            <a:avLst/>
          </a:prstGeom>
        </p:spPr>
        <p:txBody>
          <a:bodyPr anchor="t" rtlCol="false" tIns="0" lIns="0" bIns="0" rIns="0">
            <a:spAutoFit/>
          </a:bodyPr>
          <a:lstStyle/>
          <a:p>
            <a:pPr algn="l">
              <a:lnSpc>
                <a:spcPts val="3779"/>
              </a:lnSpc>
            </a:pPr>
            <a:r>
              <a:rPr lang="en-US" sz="2699">
                <a:solidFill>
                  <a:srgbClr val="05060B"/>
                </a:solidFill>
                <a:latin typeface="Canva Sans"/>
                <a:ea typeface="Canva Sans"/>
                <a:cs typeface="Canva Sans"/>
                <a:sym typeface="Canva Sans"/>
              </a:rPr>
              <a:t>   Summary</a:t>
            </a:r>
          </a:p>
          <a:p>
            <a:pPr algn="l">
              <a:lnSpc>
                <a:spcPts val="4059"/>
              </a:lnSpc>
            </a:pPr>
          </a:p>
          <a:p>
            <a:pPr algn="l" marL="582924" indent="-291462" lvl="1">
              <a:lnSpc>
                <a:spcPts val="4238"/>
              </a:lnSpc>
              <a:buFont typeface="Arial"/>
              <a:buChar char="•"/>
            </a:pPr>
            <a:r>
              <a:rPr lang="en-US" b="true" sz="2699">
                <a:solidFill>
                  <a:srgbClr val="05060B"/>
                </a:solidFill>
                <a:latin typeface="Canva Sans Bold"/>
                <a:ea typeface="Canva Sans Bold"/>
                <a:cs typeface="Canva Sans Bold"/>
                <a:sym typeface="Canva Sans Bold"/>
              </a:rPr>
              <a:t>Data collection methodology: </a:t>
            </a:r>
            <a:r>
              <a:rPr lang="en-US" sz="2699">
                <a:solidFill>
                  <a:srgbClr val="05060B"/>
                </a:solidFill>
                <a:latin typeface="Canva Sans"/>
                <a:ea typeface="Canva Sans"/>
                <a:cs typeface="Canva Sans"/>
                <a:sym typeface="Canva Sans"/>
              </a:rPr>
              <a:t>Via SpaceX REST API and web scraping techniques.</a:t>
            </a:r>
          </a:p>
          <a:p>
            <a:pPr algn="l" marL="582924" indent="-291462" lvl="1">
              <a:lnSpc>
                <a:spcPts val="4238"/>
              </a:lnSpc>
              <a:buFont typeface="Arial"/>
              <a:buChar char="•"/>
            </a:pPr>
            <a:r>
              <a:rPr lang="en-US" b="true" sz="2699">
                <a:solidFill>
                  <a:srgbClr val="05060B"/>
                </a:solidFill>
                <a:latin typeface="Canva Sans Bold"/>
                <a:ea typeface="Canva Sans Bold"/>
                <a:cs typeface="Canva Sans Bold"/>
                <a:sym typeface="Canva Sans Bold"/>
              </a:rPr>
              <a:t>Perform data wrangling: </a:t>
            </a:r>
            <a:r>
              <a:rPr lang="en-US" sz="2699">
                <a:solidFill>
                  <a:srgbClr val="05060B"/>
                </a:solidFill>
                <a:latin typeface="Canva Sans"/>
                <a:ea typeface="Canva Sans"/>
                <a:cs typeface="Canva Sans"/>
                <a:sym typeface="Canva Sans"/>
              </a:rPr>
              <a:t>Filtering data, handling missing values and applying one hot encoding</a:t>
            </a:r>
          </a:p>
          <a:p>
            <a:pPr algn="l" marL="582924" indent="-291462" lvl="1">
              <a:lnSpc>
                <a:spcPts val="4238"/>
              </a:lnSpc>
              <a:buFont typeface="Arial"/>
              <a:buChar char="•"/>
            </a:pPr>
            <a:r>
              <a:rPr lang="en-US" sz="2699">
                <a:solidFill>
                  <a:srgbClr val="05060B"/>
                </a:solidFill>
                <a:latin typeface="Canva Sans"/>
                <a:ea typeface="Canva Sans"/>
                <a:cs typeface="Canva Sans"/>
                <a:sym typeface="Canva Sans"/>
              </a:rPr>
              <a:t>Perform </a:t>
            </a:r>
            <a:r>
              <a:rPr lang="en-US" b="true" sz="2699">
                <a:solidFill>
                  <a:srgbClr val="05060B"/>
                </a:solidFill>
                <a:latin typeface="Canva Sans Bold"/>
                <a:ea typeface="Canva Sans Bold"/>
                <a:cs typeface="Canva Sans Bold"/>
                <a:sym typeface="Canva Sans Bold"/>
              </a:rPr>
              <a:t>exploratory data analysis</a:t>
            </a:r>
            <a:r>
              <a:rPr lang="en-US" sz="2699">
                <a:solidFill>
                  <a:srgbClr val="05060B"/>
                </a:solidFill>
                <a:latin typeface="Canva Sans"/>
                <a:ea typeface="Canva Sans"/>
                <a:cs typeface="Canva Sans"/>
                <a:sym typeface="Canva Sans"/>
              </a:rPr>
              <a:t> (EDA) using visualization and SQL</a:t>
            </a:r>
          </a:p>
          <a:p>
            <a:pPr algn="l" marL="582924" indent="-291462" lvl="1">
              <a:lnSpc>
                <a:spcPts val="4238"/>
              </a:lnSpc>
              <a:buFont typeface="Arial"/>
              <a:buChar char="•"/>
            </a:pPr>
            <a:r>
              <a:rPr lang="en-US" sz="2699">
                <a:solidFill>
                  <a:srgbClr val="05060B"/>
                </a:solidFill>
                <a:latin typeface="Canva Sans"/>
                <a:ea typeface="Canva Sans"/>
                <a:cs typeface="Canva Sans"/>
                <a:sym typeface="Canva Sans"/>
              </a:rPr>
              <a:t>Perform interactive </a:t>
            </a:r>
            <a:r>
              <a:rPr lang="en-US" b="true" sz="2699">
                <a:solidFill>
                  <a:srgbClr val="05060B"/>
                </a:solidFill>
                <a:latin typeface="Canva Sans Bold"/>
                <a:ea typeface="Canva Sans Bold"/>
                <a:cs typeface="Canva Sans Bold"/>
                <a:sym typeface="Canva Sans Bold"/>
              </a:rPr>
              <a:t>visual analytics</a:t>
            </a:r>
            <a:r>
              <a:rPr lang="en-US" sz="2699">
                <a:solidFill>
                  <a:srgbClr val="05060B"/>
                </a:solidFill>
                <a:latin typeface="Canva Sans"/>
                <a:ea typeface="Canva Sans"/>
                <a:cs typeface="Canva Sans"/>
                <a:sym typeface="Canva Sans"/>
              </a:rPr>
              <a:t> using Folium and Plotly Dash</a:t>
            </a:r>
          </a:p>
          <a:p>
            <a:pPr algn="l" marL="582924" indent="-291462" lvl="1">
              <a:lnSpc>
                <a:spcPts val="4238"/>
              </a:lnSpc>
              <a:buFont typeface="Arial"/>
              <a:buChar char="•"/>
            </a:pPr>
            <a:r>
              <a:rPr lang="en-US" sz="2699">
                <a:solidFill>
                  <a:srgbClr val="05060B"/>
                </a:solidFill>
                <a:latin typeface="Canva Sans"/>
                <a:ea typeface="Canva Sans"/>
                <a:cs typeface="Canva Sans"/>
                <a:sym typeface="Canva Sans"/>
              </a:rPr>
              <a:t>Perform </a:t>
            </a:r>
            <a:r>
              <a:rPr lang="en-US" b="true" sz="2699">
                <a:solidFill>
                  <a:srgbClr val="05060B"/>
                </a:solidFill>
                <a:latin typeface="Canva Sans Bold"/>
                <a:ea typeface="Canva Sans Bold"/>
                <a:cs typeface="Canva Sans Bold"/>
                <a:sym typeface="Canva Sans Bold"/>
              </a:rPr>
              <a:t>predictive analysis</a:t>
            </a:r>
            <a:r>
              <a:rPr lang="en-US" sz="2699">
                <a:solidFill>
                  <a:srgbClr val="05060B"/>
                </a:solidFill>
                <a:latin typeface="Canva Sans"/>
                <a:ea typeface="Canva Sans"/>
                <a:cs typeface="Canva Sans"/>
                <a:sym typeface="Canva Sans"/>
              </a:rPr>
              <a:t> using classification models: How to build, tune, evaluate classification models</a:t>
            </a:r>
          </a:p>
          <a:p>
            <a:pPr algn="l">
              <a:lnSpc>
                <a:spcPts val="3779"/>
              </a:lnSpc>
            </a:pPr>
          </a:p>
          <a:p>
            <a:pPr algn="l">
              <a:lnSpc>
                <a:spcPts val="3779"/>
              </a:lnSpc>
            </a:pPr>
          </a:p>
          <a:p>
            <a:pPr algn="l">
              <a:lnSpc>
                <a:spcPts val="3779"/>
              </a:lnSpc>
            </a:pPr>
          </a:p>
          <a:p>
            <a:pPr algn="l">
              <a:lnSpc>
                <a:spcPts val="3779"/>
              </a:lnSpc>
              <a:spcBef>
                <a:spcPct val="0"/>
              </a:spcBef>
            </a:pPr>
          </a:p>
        </p:txBody>
      </p:sp>
      <p:sp>
        <p:nvSpPr>
          <p:cNvPr name="TextBox 5" id="5"/>
          <p:cNvSpPr txBox="true"/>
          <p:nvPr/>
        </p:nvSpPr>
        <p:spPr>
          <a:xfrm rot="0">
            <a:off x="433707" y="9599186"/>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5060B"/>
                </a:solidFill>
                <a:latin typeface="Canva Sans"/>
                <a:ea typeface="Canva Sans"/>
                <a:cs typeface="Canva Sans"/>
                <a:sym typeface="Canva Sans"/>
              </a:rPr>
              <a:t>Page 6</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156757" y="458787"/>
            <a:ext cx="6713250" cy="1720849"/>
          </a:xfrm>
          <a:prstGeom prst="rect">
            <a:avLst/>
          </a:prstGeom>
        </p:spPr>
        <p:txBody>
          <a:bodyPr anchor="t" rtlCol="false" tIns="0" lIns="0" bIns="0" rIns="0">
            <a:spAutoFit/>
          </a:bodyPr>
          <a:lstStyle/>
          <a:p>
            <a:pPr algn="l">
              <a:lnSpc>
                <a:spcPts val="4900"/>
              </a:lnSpc>
            </a:pPr>
            <a:r>
              <a:rPr lang="en-US" sz="3500">
                <a:solidFill>
                  <a:srgbClr val="05060B"/>
                </a:solidFill>
                <a:latin typeface="Anton"/>
                <a:ea typeface="Anton"/>
                <a:cs typeface="Anton"/>
                <a:sym typeface="Anton"/>
              </a:rPr>
              <a:t>METHODOLOGY</a:t>
            </a:r>
          </a:p>
          <a:p>
            <a:pPr algn="l">
              <a:lnSpc>
                <a:spcPts val="9099"/>
              </a:lnSpc>
              <a:spcBef>
                <a:spcPct val="0"/>
              </a:spcBef>
            </a:pPr>
            <a:r>
              <a:rPr lang="en-US" sz="6499">
                <a:solidFill>
                  <a:srgbClr val="05060B"/>
                </a:solidFill>
                <a:latin typeface="Anton"/>
                <a:ea typeface="Anton"/>
                <a:cs typeface="Anton"/>
                <a:sym typeface="Anton"/>
              </a:rPr>
              <a:t>DATA COLLECTION</a:t>
            </a:r>
          </a:p>
        </p:txBody>
      </p:sp>
      <p:sp>
        <p:nvSpPr>
          <p:cNvPr name="Freeform 3" id="3"/>
          <p:cNvSpPr/>
          <p:nvPr/>
        </p:nvSpPr>
        <p:spPr>
          <a:xfrm flipH="false" flipV="false" rot="0">
            <a:off x="12782531" y="2934268"/>
            <a:ext cx="8229600" cy="8229600"/>
          </a:xfrm>
          <a:custGeom>
            <a:avLst/>
            <a:gdLst/>
            <a:ahLst/>
            <a:cxnLst/>
            <a:rect r="r" b="b" t="t" l="l"/>
            <a:pathLst>
              <a:path h="8229600" w="8229600">
                <a:moveTo>
                  <a:pt x="0" y="0"/>
                </a:moveTo>
                <a:lnTo>
                  <a:pt x="8229600" y="0"/>
                </a:lnTo>
                <a:lnTo>
                  <a:pt x="8229600" y="8229600"/>
                </a:lnTo>
                <a:lnTo>
                  <a:pt x="0" y="8229600"/>
                </a:lnTo>
                <a:lnTo>
                  <a:pt x="0" y="0"/>
                </a:lnTo>
                <a:close/>
              </a:path>
            </a:pathLst>
          </a:custGeom>
          <a:blipFill>
            <a:blip r:embed="rId2"/>
            <a:stretch>
              <a:fillRect l="0" t="0" r="0" b="0"/>
            </a:stretch>
          </a:blipFill>
        </p:spPr>
      </p:sp>
      <p:sp>
        <p:nvSpPr>
          <p:cNvPr name="TextBox 4" id="4"/>
          <p:cNvSpPr txBox="true"/>
          <p:nvPr/>
        </p:nvSpPr>
        <p:spPr>
          <a:xfrm rot="0">
            <a:off x="1066800" y="2411729"/>
            <a:ext cx="13813239" cy="7875271"/>
          </a:xfrm>
          <a:prstGeom prst="rect">
            <a:avLst/>
          </a:prstGeom>
        </p:spPr>
        <p:txBody>
          <a:bodyPr anchor="t" rtlCol="false" tIns="0" lIns="0" bIns="0" rIns="0">
            <a:spAutoFit/>
          </a:bodyPr>
          <a:lstStyle/>
          <a:p>
            <a:pPr algn="l" marL="582924" indent="-291462" lvl="1">
              <a:lnSpc>
                <a:spcPts val="3779"/>
              </a:lnSpc>
              <a:buFont typeface="Arial"/>
              <a:buChar char="•"/>
            </a:pPr>
            <a:r>
              <a:rPr lang="en-US" b="true" sz="2699">
                <a:solidFill>
                  <a:srgbClr val="B16D44"/>
                </a:solidFill>
                <a:latin typeface="Canva Sans Bold"/>
                <a:ea typeface="Canva Sans Bold"/>
                <a:cs typeface="Canva Sans Bold"/>
                <a:sym typeface="Canva Sans Bold"/>
              </a:rPr>
              <a:t>SpaceX REST API: </a:t>
            </a:r>
          </a:p>
          <a:p>
            <a:pPr algn="l" marL="1036310" indent="-345437" lvl="2">
              <a:lnSpc>
                <a:spcPts val="3359"/>
              </a:lnSpc>
              <a:buFont typeface="Arial"/>
              <a:buChar char="⚬"/>
            </a:pPr>
            <a:r>
              <a:rPr lang="en-US" sz="2399">
                <a:solidFill>
                  <a:srgbClr val="05060B"/>
                </a:solidFill>
                <a:latin typeface="Canva Sans"/>
                <a:ea typeface="Canva Sans"/>
                <a:cs typeface="Canva Sans"/>
                <a:sym typeface="Canva Sans"/>
              </a:rPr>
              <a:t>api.spacexdata.com/v4/launches/past</a:t>
            </a:r>
          </a:p>
          <a:p>
            <a:pPr algn="l" marL="1036310" indent="-345437" lvl="2">
              <a:lnSpc>
                <a:spcPts val="3359"/>
              </a:lnSpc>
              <a:buFont typeface="Arial"/>
              <a:buChar char="⚬"/>
            </a:pPr>
            <a:r>
              <a:rPr lang="en-US" sz="2399">
                <a:solidFill>
                  <a:srgbClr val="05060B"/>
                </a:solidFill>
                <a:latin typeface="Canva Sans"/>
                <a:ea typeface="Canva Sans"/>
                <a:cs typeface="Canva Sans"/>
                <a:sym typeface="Canva Sans"/>
              </a:rPr>
              <a:t>Provides detailed information about past SpaceX launches, such as the </a:t>
            </a:r>
            <a:r>
              <a:rPr lang="en-US" b="true" sz="2399">
                <a:solidFill>
                  <a:srgbClr val="05060B"/>
                </a:solidFill>
                <a:latin typeface="Canva Sans Bold"/>
                <a:ea typeface="Canva Sans Bold"/>
                <a:cs typeface="Canva Sans Bold"/>
                <a:sym typeface="Canva Sans Bold"/>
              </a:rPr>
              <a:t>rocket used, payload delivered, launch specifications, landing specifications and the outcome of the landing.</a:t>
            </a:r>
          </a:p>
          <a:p>
            <a:pPr algn="l">
              <a:lnSpc>
                <a:spcPts val="3359"/>
              </a:lnSpc>
            </a:pPr>
          </a:p>
          <a:p>
            <a:pPr algn="l" marL="582924" indent="-291462" lvl="1">
              <a:lnSpc>
                <a:spcPts val="3779"/>
              </a:lnSpc>
              <a:buFont typeface="Arial"/>
              <a:buChar char="•"/>
            </a:pPr>
            <a:r>
              <a:rPr lang="en-US" b="true" sz="2699">
                <a:solidFill>
                  <a:srgbClr val="B16D44"/>
                </a:solidFill>
                <a:latin typeface="Canva Sans Bold"/>
                <a:ea typeface="Canva Sans Bold"/>
                <a:cs typeface="Canva Sans Bold"/>
                <a:sym typeface="Canva Sans Bold"/>
              </a:rPr>
              <a:t>Web Scraping (BeautifulSoup):</a:t>
            </a:r>
          </a:p>
          <a:p>
            <a:pPr algn="l" marL="1036310" indent="-345437" lvl="2">
              <a:lnSpc>
                <a:spcPts val="3359"/>
              </a:lnSpc>
              <a:buFont typeface="Arial"/>
              <a:buChar char="⚬"/>
            </a:pPr>
            <a:r>
              <a:rPr lang="en-US" sz="2399">
                <a:solidFill>
                  <a:srgbClr val="05060B"/>
                </a:solidFill>
                <a:latin typeface="Canva Sans"/>
                <a:ea typeface="Canva Sans"/>
                <a:cs typeface="Canva Sans"/>
                <a:sym typeface="Canva Sans"/>
              </a:rPr>
              <a:t>Alternative data source obtained through </a:t>
            </a:r>
            <a:r>
              <a:rPr lang="en-US" b="true" sz="2399">
                <a:solidFill>
                  <a:srgbClr val="05060B"/>
                </a:solidFill>
                <a:latin typeface="Canva Sans Bold"/>
                <a:ea typeface="Canva Sans Bold"/>
                <a:cs typeface="Canva Sans Bold"/>
                <a:sym typeface="Canva Sans Bold"/>
              </a:rPr>
              <a:t>web scraping of HTML tables</a:t>
            </a:r>
            <a:r>
              <a:rPr lang="en-US" sz="2399">
                <a:solidFill>
                  <a:srgbClr val="05060B"/>
                </a:solidFill>
                <a:latin typeface="Canva Sans"/>
                <a:ea typeface="Canva Sans"/>
                <a:cs typeface="Canva Sans"/>
                <a:sym typeface="Canva Sans"/>
              </a:rPr>
              <a:t> from related </a:t>
            </a:r>
            <a:r>
              <a:rPr lang="en-US" b="true" sz="2399">
                <a:solidFill>
                  <a:srgbClr val="05060B"/>
                </a:solidFill>
                <a:latin typeface="Canva Sans Bold"/>
                <a:ea typeface="Canva Sans Bold"/>
                <a:cs typeface="Canva Sans Bold"/>
                <a:sym typeface="Canva Sans Bold"/>
              </a:rPr>
              <a:t>Wikipedia pages</a:t>
            </a:r>
            <a:r>
              <a:rPr lang="en-US" sz="2399">
                <a:solidFill>
                  <a:srgbClr val="05060B"/>
                </a:solidFill>
                <a:latin typeface="Canva Sans"/>
                <a:ea typeface="Canva Sans"/>
                <a:cs typeface="Canva Sans"/>
                <a:sym typeface="Canva Sans"/>
              </a:rPr>
              <a:t>.</a:t>
            </a:r>
          </a:p>
          <a:p>
            <a:pPr algn="l" marL="1036310" indent="-345437" lvl="2">
              <a:lnSpc>
                <a:spcPts val="3359"/>
              </a:lnSpc>
              <a:buFont typeface="Arial"/>
              <a:buChar char="⚬"/>
            </a:pPr>
            <a:r>
              <a:rPr lang="en-US" b="true" sz="2399">
                <a:solidFill>
                  <a:srgbClr val="05060B"/>
                </a:solidFill>
                <a:latin typeface="Canva Sans Bold"/>
                <a:ea typeface="Canva Sans Bold"/>
                <a:cs typeface="Canva Sans Bold"/>
                <a:sym typeface="Canva Sans Bold"/>
              </a:rPr>
              <a:t>Beautiful soup</a:t>
            </a:r>
            <a:r>
              <a:rPr lang="en-US" sz="2399">
                <a:solidFill>
                  <a:srgbClr val="05060B"/>
                </a:solidFill>
                <a:latin typeface="Canva Sans"/>
                <a:ea typeface="Canva Sans"/>
                <a:cs typeface="Canva Sans"/>
                <a:sym typeface="Canva Sans"/>
              </a:rPr>
              <a:t> used to </a:t>
            </a:r>
            <a:r>
              <a:rPr lang="en-US" b="true" sz="2399">
                <a:solidFill>
                  <a:srgbClr val="05060B"/>
                </a:solidFill>
                <a:latin typeface="Canva Sans Bold"/>
                <a:ea typeface="Canva Sans Bold"/>
                <a:cs typeface="Canva Sans Bold"/>
                <a:sym typeface="Canva Sans Bold"/>
              </a:rPr>
              <a:t>parse HTML tables</a:t>
            </a:r>
            <a:r>
              <a:rPr lang="en-US" sz="2399">
                <a:solidFill>
                  <a:srgbClr val="05060B"/>
                </a:solidFill>
                <a:latin typeface="Canva Sans"/>
                <a:ea typeface="Canva Sans"/>
                <a:cs typeface="Canva Sans"/>
                <a:sym typeface="Canva Sans"/>
              </a:rPr>
              <a:t> to </a:t>
            </a:r>
            <a:r>
              <a:rPr lang="en-US" b="true" sz="2399">
                <a:solidFill>
                  <a:srgbClr val="05060B"/>
                </a:solidFill>
                <a:latin typeface="Canva Sans Bold"/>
                <a:ea typeface="Canva Sans Bold"/>
                <a:cs typeface="Canva Sans Bold"/>
                <a:sym typeface="Canva Sans Bold"/>
              </a:rPr>
              <a:t>extract relevant launch data</a:t>
            </a:r>
            <a:r>
              <a:rPr lang="en-US" sz="2399">
                <a:solidFill>
                  <a:srgbClr val="05060B"/>
                </a:solidFill>
                <a:latin typeface="Canva Sans"/>
                <a:ea typeface="Canva Sans"/>
                <a:cs typeface="Canva Sans"/>
                <a:sym typeface="Canva Sans"/>
              </a:rPr>
              <a:t>.</a:t>
            </a:r>
          </a:p>
          <a:p>
            <a:pPr algn="l" marL="1036310" indent="-345437" lvl="2">
              <a:lnSpc>
                <a:spcPts val="3359"/>
              </a:lnSpc>
              <a:buFont typeface="Arial"/>
              <a:buChar char="⚬"/>
            </a:pPr>
            <a:r>
              <a:rPr lang="en-US" sz="2399">
                <a:solidFill>
                  <a:srgbClr val="05060B"/>
                </a:solidFill>
                <a:latin typeface="Canva Sans"/>
                <a:ea typeface="Canva Sans"/>
                <a:cs typeface="Canva Sans"/>
                <a:sym typeface="Canva Sans"/>
              </a:rPr>
              <a:t>Once data is cleaned it is transformed into a </a:t>
            </a:r>
            <a:r>
              <a:rPr lang="en-US" b="true" sz="2399">
                <a:solidFill>
                  <a:srgbClr val="05060B"/>
                </a:solidFill>
                <a:latin typeface="Canva Sans Bold"/>
                <a:ea typeface="Canva Sans Bold"/>
                <a:cs typeface="Canva Sans Bold"/>
                <a:sym typeface="Canva Sans Bold"/>
              </a:rPr>
              <a:t>Pandas DataFrame</a:t>
            </a:r>
            <a:r>
              <a:rPr lang="en-US" sz="2399">
                <a:solidFill>
                  <a:srgbClr val="05060B"/>
                </a:solidFill>
                <a:latin typeface="Canva Sans"/>
                <a:ea typeface="Canva Sans"/>
                <a:cs typeface="Canva Sans"/>
                <a:sym typeface="Canva Sans"/>
              </a:rPr>
              <a:t> for further </a:t>
            </a:r>
            <a:r>
              <a:rPr lang="en-US" b="true" sz="2399">
                <a:solidFill>
                  <a:srgbClr val="05060B"/>
                </a:solidFill>
                <a:latin typeface="Canva Sans Bold"/>
                <a:ea typeface="Canva Sans Bold"/>
                <a:cs typeface="Canva Sans Bold"/>
                <a:sym typeface="Canva Sans Bold"/>
              </a:rPr>
              <a:t>analysis and visualisation.</a:t>
            </a:r>
            <a:r>
              <a:rPr lang="en-US" sz="2399">
                <a:solidFill>
                  <a:srgbClr val="05060B"/>
                </a:solidFill>
                <a:latin typeface="Canva Sans"/>
                <a:ea typeface="Canva Sans"/>
                <a:cs typeface="Canva Sans"/>
                <a:sym typeface="Canva Sans"/>
              </a:rPr>
              <a:t> </a:t>
            </a:r>
          </a:p>
          <a:p>
            <a:pPr algn="l">
              <a:lnSpc>
                <a:spcPts val="3359"/>
              </a:lnSpc>
            </a:pPr>
          </a:p>
          <a:p>
            <a:pPr algn="r">
              <a:lnSpc>
                <a:spcPts val="3359"/>
              </a:lnSpc>
            </a:pPr>
            <a:r>
              <a:rPr lang="en-US" sz="2399" i="true">
                <a:solidFill>
                  <a:srgbClr val="B16D44"/>
                </a:solidFill>
                <a:latin typeface="Canva Sans Italics"/>
                <a:ea typeface="Canva Sans Italics"/>
                <a:cs typeface="Canva Sans Italics"/>
                <a:sym typeface="Canva Sans Italics"/>
              </a:rPr>
              <a:t>(see flowcharts on next page)</a:t>
            </a:r>
          </a:p>
          <a:p>
            <a:pPr algn="l">
              <a:lnSpc>
                <a:spcPts val="3779"/>
              </a:lnSpc>
            </a:pPr>
          </a:p>
          <a:p>
            <a:pPr algn="l">
              <a:lnSpc>
                <a:spcPts val="3779"/>
              </a:lnSpc>
            </a:pPr>
          </a:p>
          <a:p>
            <a:pPr algn="l">
              <a:lnSpc>
                <a:spcPts val="3779"/>
              </a:lnSpc>
            </a:pPr>
          </a:p>
          <a:p>
            <a:pPr algn="l">
              <a:lnSpc>
                <a:spcPts val="3779"/>
              </a:lnSpc>
              <a:spcBef>
                <a:spcPct val="0"/>
              </a:spcBef>
            </a:pPr>
          </a:p>
        </p:txBody>
      </p:sp>
      <p:sp>
        <p:nvSpPr>
          <p:cNvPr name="TextBox 5" id="5"/>
          <p:cNvSpPr txBox="true"/>
          <p:nvPr/>
        </p:nvSpPr>
        <p:spPr>
          <a:xfrm rot="0">
            <a:off x="433707" y="9599186"/>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5060B"/>
                </a:solidFill>
                <a:latin typeface="Canva Sans"/>
                <a:ea typeface="Canva Sans"/>
                <a:cs typeface="Canva Sans"/>
                <a:sym typeface="Canva Sans"/>
              </a:rPr>
              <a:t>Page 7</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754468" y="408029"/>
            <a:ext cx="9500395" cy="1547177"/>
          </a:xfrm>
          <a:prstGeom prst="rect">
            <a:avLst/>
          </a:prstGeom>
        </p:spPr>
        <p:txBody>
          <a:bodyPr anchor="t" rtlCol="false" tIns="0" lIns="0" bIns="0" rIns="0">
            <a:spAutoFit/>
          </a:bodyPr>
          <a:lstStyle/>
          <a:p>
            <a:pPr algn="l">
              <a:lnSpc>
                <a:spcPts val="4900"/>
              </a:lnSpc>
            </a:pPr>
            <a:r>
              <a:rPr lang="en-US" sz="3500">
                <a:solidFill>
                  <a:srgbClr val="05060B"/>
                </a:solidFill>
                <a:latin typeface="Anton"/>
                <a:ea typeface="Anton"/>
                <a:cs typeface="Anton"/>
                <a:sym typeface="Anton"/>
              </a:rPr>
              <a:t>METHODOLOGY</a:t>
            </a:r>
          </a:p>
          <a:p>
            <a:pPr algn="l">
              <a:lnSpc>
                <a:spcPts val="6434"/>
              </a:lnSpc>
            </a:pPr>
            <a:r>
              <a:rPr lang="en-US" sz="6499">
                <a:solidFill>
                  <a:srgbClr val="05060B"/>
                </a:solidFill>
                <a:latin typeface="Anton"/>
                <a:ea typeface="Anton"/>
                <a:cs typeface="Anton"/>
                <a:sym typeface="Anton"/>
              </a:rPr>
              <a:t>DATA COLLECTION - </a:t>
            </a:r>
            <a:r>
              <a:rPr lang="en-US" sz="6499">
                <a:solidFill>
                  <a:srgbClr val="B16D44"/>
                </a:solidFill>
                <a:latin typeface="Anton"/>
                <a:ea typeface="Anton"/>
                <a:cs typeface="Anton"/>
                <a:sym typeface="Anton"/>
              </a:rPr>
              <a:t>SPACEX API</a:t>
            </a:r>
          </a:p>
        </p:txBody>
      </p:sp>
      <p:sp>
        <p:nvSpPr>
          <p:cNvPr name="TextBox 3" id="3"/>
          <p:cNvSpPr txBox="true"/>
          <p:nvPr/>
        </p:nvSpPr>
        <p:spPr>
          <a:xfrm rot="0">
            <a:off x="433707" y="9599186"/>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5060B"/>
                </a:solidFill>
                <a:latin typeface="Canva Sans"/>
                <a:ea typeface="Canva Sans"/>
                <a:cs typeface="Canva Sans"/>
                <a:sym typeface="Canva Sans"/>
              </a:rPr>
              <a:t>Page 8</a:t>
            </a:r>
          </a:p>
        </p:txBody>
      </p:sp>
      <p:sp>
        <p:nvSpPr>
          <p:cNvPr name="TextBox 4" id="4"/>
          <p:cNvSpPr txBox="true"/>
          <p:nvPr/>
        </p:nvSpPr>
        <p:spPr>
          <a:xfrm rot="0">
            <a:off x="10827068" y="8014977"/>
            <a:ext cx="4019697" cy="1758950"/>
          </a:xfrm>
          <a:prstGeom prst="rect">
            <a:avLst/>
          </a:prstGeom>
        </p:spPr>
        <p:txBody>
          <a:bodyPr anchor="t" rtlCol="false" tIns="0" lIns="0" bIns="0" rIns="0">
            <a:spAutoFit/>
          </a:bodyPr>
          <a:lstStyle/>
          <a:p>
            <a:pPr algn="ctr">
              <a:lnSpc>
                <a:spcPts val="2800"/>
              </a:lnSpc>
              <a:spcBef>
                <a:spcPct val="0"/>
              </a:spcBef>
            </a:pPr>
            <a:r>
              <a:rPr lang="en-US" sz="2000" u="sng">
                <a:solidFill>
                  <a:srgbClr val="004AAD"/>
                </a:solidFill>
                <a:latin typeface="Canva Sans"/>
                <a:ea typeface="Canva Sans"/>
                <a:cs typeface="Canva Sans"/>
                <a:sym typeface="Canva Sans"/>
                <a:hlinkClick r:id="rId2" tooltip="https://github.com/Ankedefrey/Data-Science-Capstone-Project/blob/main/jupyter-labs-spacex-data-collection-api.ipynb"/>
              </a:rPr>
              <a:t>https://github.com/Ankedefrey/Data-Science-Capstone-Project/blob/main/jupyter-labs-spacex-data-collection-api.ipynb</a:t>
            </a:r>
          </a:p>
        </p:txBody>
      </p:sp>
      <p:grpSp>
        <p:nvGrpSpPr>
          <p:cNvPr name="Group 5" id="5"/>
          <p:cNvGrpSpPr/>
          <p:nvPr/>
        </p:nvGrpSpPr>
        <p:grpSpPr>
          <a:xfrm rot="0">
            <a:off x="3171334" y="2942443"/>
            <a:ext cx="3064398" cy="2859724"/>
            <a:chOff x="0" y="0"/>
            <a:chExt cx="966491" cy="901938"/>
          </a:xfrm>
        </p:grpSpPr>
        <p:sp>
          <p:nvSpPr>
            <p:cNvPr name="Freeform 6" id="6"/>
            <p:cNvSpPr/>
            <p:nvPr/>
          </p:nvSpPr>
          <p:spPr>
            <a:xfrm flipH="false" flipV="false" rot="0">
              <a:off x="0" y="0"/>
              <a:ext cx="966491" cy="901938"/>
            </a:xfrm>
            <a:custGeom>
              <a:avLst/>
              <a:gdLst/>
              <a:ahLst/>
              <a:cxnLst/>
              <a:rect r="r" b="b" t="t" l="l"/>
              <a:pathLst>
                <a:path h="901938" w="966491">
                  <a:moveTo>
                    <a:pt x="483246" y="0"/>
                  </a:moveTo>
                  <a:cubicBezTo>
                    <a:pt x="216356" y="0"/>
                    <a:pt x="0" y="201906"/>
                    <a:pt x="0" y="450969"/>
                  </a:cubicBezTo>
                  <a:cubicBezTo>
                    <a:pt x="0" y="700033"/>
                    <a:pt x="216356" y="901938"/>
                    <a:pt x="483246" y="901938"/>
                  </a:cubicBezTo>
                  <a:cubicBezTo>
                    <a:pt x="750135" y="901938"/>
                    <a:pt x="966491" y="700033"/>
                    <a:pt x="966491" y="450969"/>
                  </a:cubicBezTo>
                  <a:cubicBezTo>
                    <a:pt x="966491" y="201906"/>
                    <a:pt x="750135" y="0"/>
                    <a:pt x="483246" y="0"/>
                  </a:cubicBezTo>
                  <a:close/>
                </a:path>
              </a:pathLst>
            </a:custGeom>
            <a:solidFill>
              <a:srgbClr val="2C8CCB"/>
            </a:solidFill>
          </p:spPr>
        </p:sp>
        <p:sp>
          <p:nvSpPr>
            <p:cNvPr name="TextBox 7" id="7"/>
            <p:cNvSpPr txBox="true"/>
            <p:nvPr/>
          </p:nvSpPr>
          <p:spPr>
            <a:xfrm>
              <a:off x="90609" y="94082"/>
              <a:ext cx="785274" cy="723300"/>
            </a:xfrm>
            <a:prstGeom prst="rect">
              <a:avLst/>
            </a:prstGeom>
          </p:spPr>
          <p:txBody>
            <a:bodyPr anchor="ctr" rtlCol="false" tIns="50590" lIns="50590" bIns="50590" rIns="50590"/>
            <a:lstStyle/>
            <a:p>
              <a:pPr algn="ctr">
                <a:lnSpc>
                  <a:spcPts val="2260"/>
                </a:lnSpc>
              </a:pPr>
              <a:r>
                <a:rPr lang="en-US" sz="2000">
                  <a:solidFill>
                    <a:srgbClr val="FFFFFF"/>
                  </a:solidFill>
                  <a:latin typeface="Canva Sans"/>
                  <a:ea typeface="Canva Sans"/>
                  <a:cs typeface="Canva Sans"/>
                  <a:sym typeface="Canva Sans"/>
                </a:rPr>
                <a:t>2</a:t>
              </a:r>
            </a:p>
            <a:p>
              <a:pPr algn="ctr">
                <a:lnSpc>
                  <a:spcPts val="2260"/>
                </a:lnSpc>
              </a:pPr>
              <a:r>
                <a:rPr lang="en-US" sz="2000" b="true">
                  <a:solidFill>
                    <a:srgbClr val="FFFFFF"/>
                  </a:solidFill>
                  <a:latin typeface="Canva Sans Bold"/>
                  <a:ea typeface="Canva Sans Bold"/>
                  <a:cs typeface="Canva Sans Bold"/>
                  <a:sym typeface="Canva Sans Bold"/>
                </a:rPr>
                <a:t>Parse the JSON response</a:t>
              </a:r>
              <a:r>
                <a:rPr lang="en-US" sz="2000">
                  <a:solidFill>
                    <a:srgbClr val="FFFFFF"/>
                  </a:solidFill>
                  <a:latin typeface="Canva Sans"/>
                  <a:ea typeface="Canva Sans"/>
                  <a:cs typeface="Canva Sans"/>
                  <a:sym typeface="Canva Sans"/>
                </a:rPr>
                <a:t> </a:t>
              </a:r>
            </a:p>
            <a:p>
              <a:pPr algn="ctr">
                <a:lnSpc>
                  <a:spcPts val="2034"/>
                </a:lnSpc>
              </a:pPr>
              <a:r>
                <a:rPr lang="en-US" sz="1800" i="true">
                  <a:solidFill>
                    <a:srgbClr val="FFFFFF"/>
                  </a:solidFill>
                  <a:latin typeface="Canva Sans Italics"/>
                  <a:ea typeface="Canva Sans Italics"/>
                  <a:cs typeface="Canva Sans Italics"/>
                  <a:sym typeface="Canva Sans Italics"/>
                </a:rPr>
                <a:t>Convert JSON to DataFrame and use json_normalize to flatten data</a:t>
              </a:r>
            </a:p>
          </p:txBody>
        </p:sp>
      </p:grpSp>
      <p:grpSp>
        <p:nvGrpSpPr>
          <p:cNvPr name="Group 8" id="8"/>
          <p:cNvGrpSpPr/>
          <p:nvPr/>
        </p:nvGrpSpPr>
        <p:grpSpPr>
          <a:xfrm rot="0">
            <a:off x="1028700" y="2478196"/>
            <a:ext cx="2420726" cy="2286050"/>
            <a:chOff x="0" y="0"/>
            <a:chExt cx="860422" cy="812553"/>
          </a:xfrm>
        </p:grpSpPr>
        <p:sp>
          <p:nvSpPr>
            <p:cNvPr name="Freeform 9" id="9"/>
            <p:cNvSpPr/>
            <p:nvPr/>
          </p:nvSpPr>
          <p:spPr>
            <a:xfrm flipH="false" flipV="false" rot="0">
              <a:off x="0" y="0"/>
              <a:ext cx="860422" cy="812553"/>
            </a:xfrm>
            <a:custGeom>
              <a:avLst/>
              <a:gdLst/>
              <a:ahLst/>
              <a:cxnLst/>
              <a:rect r="r" b="b" t="t" l="l"/>
              <a:pathLst>
                <a:path h="812553" w="860422">
                  <a:moveTo>
                    <a:pt x="430211" y="0"/>
                  </a:moveTo>
                  <a:cubicBezTo>
                    <a:pt x="192612" y="0"/>
                    <a:pt x="0" y="181896"/>
                    <a:pt x="0" y="406276"/>
                  </a:cubicBezTo>
                  <a:cubicBezTo>
                    <a:pt x="0" y="630657"/>
                    <a:pt x="192612" y="812553"/>
                    <a:pt x="430211" y="812553"/>
                  </a:cubicBezTo>
                  <a:cubicBezTo>
                    <a:pt x="667810" y="812553"/>
                    <a:pt x="860422" y="630657"/>
                    <a:pt x="860422" y="406276"/>
                  </a:cubicBezTo>
                  <a:cubicBezTo>
                    <a:pt x="860422" y="181896"/>
                    <a:pt x="667810" y="0"/>
                    <a:pt x="430211" y="0"/>
                  </a:cubicBezTo>
                  <a:close/>
                </a:path>
              </a:pathLst>
            </a:custGeom>
            <a:solidFill>
              <a:srgbClr val="13538A"/>
            </a:solidFill>
          </p:spPr>
        </p:sp>
        <p:sp>
          <p:nvSpPr>
            <p:cNvPr name="TextBox 10" id="10"/>
            <p:cNvSpPr txBox="true"/>
            <p:nvPr/>
          </p:nvSpPr>
          <p:spPr>
            <a:xfrm>
              <a:off x="80665" y="85702"/>
              <a:ext cx="699093" cy="650674"/>
            </a:xfrm>
            <a:prstGeom prst="rect">
              <a:avLst/>
            </a:prstGeom>
          </p:spPr>
          <p:txBody>
            <a:bodyPr anchor="ctr" rtlCol="false" tIns="50590" lIns="50590" bIns="50590" rIns="50590"/>
            <a:lstStyle/>
            <a:p>
              <a:pPr algn="ctr">
                <a:lnSpc>
                  <a:spcPts val="2240"/>
                </a:lnSpc>
              </a:pPr>
              <a:r>
                <a:rPr lang="en-US" sz="2000">
                  <a:solidFill>
                    <a:srgbClr val="FFFFFF"/>
                  </a:solidFill>
                  <a:latin typeface="Canva Sans"/>
                  <a:ea typeface="Canva Sans"/>
                  <a:cs typeface="Canva Sans"/>
                  <a:sym typeface="Canva Sans"/>
                </a:rPr>
                <a:t>1</a:t>
              </a:r>
            </a:p>
            <a:p>
              <a:pPr algn="ctr">
                <a:lnSpc>
                  <a:spcPts val="2240"/>
                </a:lnSpc>
              </a:pPr>
              <a:r>
                <a:rPr lang="en-US" sz="2000" b="true">
                  <a:solidFill>
                    <a:srgbClr val="FFFFFF"/>
                  </a:solidFill>
                  <a:latin typeface="Canva Sans Bold"/>
                  <a:ea typeface="Canva Sans Bold"/>
                  <a:cs typeface="Canva Sans Bold"/>
                  <a:sym typeface="Canva Sans Bold"/>
                </a:rPr>
                <a:t>Request SpaceX API</a:t>
              </a:r>
            </a:p>
            <a:p>
              <a:pPr algn="ctr">
                <a:lnSpc>
                  <a:spcPts val="2016"/>
                </a:lnSpc>
              </a:pPr>
              <a:r>
                <a:rPr lang="en-US" sz="1800" i="true">
                  <a:solidFill>
                    <a:srgbClr val="FFFFFF"/>
                  </a:solidFill>
                  <a:latin typeface="Canva Sans Italics"/>
                  <a:ea typeface="Canva Sans Italics"/>
                  <a:cs typeface="Canva Sans Italics"/>
                  <a:sym typeface="Canva Sans Italics"/>
                </a:rPr>
                <a:t>GET request to API URL</a:t>
              </a:r>
            </a:p>
          </p:txBody>
        </p:sp>
      </p:grpSp>
      <p:grpSp>
        <p:nvGrpSpPr>
          <p:cNvPr name="Group 11" id="11"/>
          <p:cNvGrpSpPr/>
          <p:nvPr/>
        </p:nvGrpSpPr>
        <p:grpSpPr>
          <a:xfrm rot="0">
            <a:off x="4851007" y="5939041"/>
            <a:ext cx="2769450" cy="2771142"/>
            <a:chOff x="0" y="0"/>
            <a:chExt cx="960832" cy="961419"/>
          </a:xfrm>
        </p:grpSpPr>
        <p:sp>
          <p:nvSpPr>
            <p:cNvPr name="Freeform 12" id="12"/>
            <p:cNvSpPr/>
            <p:nvPr/>
          </p:nvSpPr>
          <p:spPr>
            <a:xfrm flipH="false" flipV="false" rot="0">
              <a:off x="0" y="0"/>
              <a:ext cx="960832" cy="961419"/>
            </a:xfrm>
            <a:custGeom>
              <a:avLst/>
              <a:gdLst/>
              <a:ahLst/>
              <a:cxnLst/>
              <a:rect r="r" b="b" t="t" l="l"/>
              <a:pathLst>
                <a:path h="961419" w="960832">
                  <a:moveTo>
                    <a:pt x="480416" y="0"/>
                  </a:moveTo>
                  <a:cubicBezTo>
                    <a:pt x="215090" y="0"/>
                    <a:pt x="0" y="215221"/>
                    <a:pt x="0" y="480709"/>
                  </a:cubicBezTo>
                  <a:cubicBezTo>
                    <a:pt x="0" y="746198"/>
                    <a:pt x="215090" y="961419"/>
                    <a:pt x="480416" y="961419"/>
                  </a:cubicBezTo>
                  <a:cubicBezTo>
                    <a:pt x="745742" y="961419"/>
                    <a:pt x="960832" y="746198"/>
                    <a:pt x="960832" y="480709"/>
                  </a:cubicBezTo>
                  <a:cubicBezTo>
                    <a:pt x="960832" y="215221"/>
                    <a:pt x="745742" y="0"/>
                    <a:pt x="480416" y="0"/>
                  </a:cubicBezTo>
                  <a:close/>
                </a:path>
              </a:pathLst>
            </a:custGeom>
            <a:solidFill>
              <a:srgbClr val="13538A"/>
            </a:solidFill>
          </p:spPr>
        </p:sp>
        <p:sp>
          <p:nvSpPr>
            <p:cNvPr name="TextBox 13" id="13"/>
            <p:cNvSpPr txBox="true"/>
            <p:nvPr/>
          </p:nvSpPr>
          <p:spPr>
            <a:xfrm>
              <a:off x="90078" y="99658"/>
              <a:ext cx="780676" cy="771628"/>
            </a:xfrm>
            <a:prstGeom prst="rect">
              <a:avLst/>
            </a:prstGeom>
          </p:spPr>
          <p:txBody>
            <a:bodyPr anchor="ctr" rtlCol="false" tIns="50590" lIns="50590" bIns="50590" rIns="50590"/>
            <a:lstStyle/>
            <a:p>
              <a:pPr algn="ctr">
                <a:lnSpc>
                  <a:spcPts val="2240"/>
                </a:lnSpc>
              </a:pPr>
              <a:r>
                <a:rPr lang="en-US" sz="2000">
                  <a:solidFill>
                    <a:srgbClr val="FFFFFF"/>
                  </a:solidFill>
                  <a:latin typeface="Canva Sans"/>
                  <a:ea typeface="Canva Sans"/>
                  <a:cs typeface="Canva Sans"/>
                  <a:sym typeface="Canva Sans"/>
                </a:rPr>
                <a:t>6</a:t>
              </a:r>
            </a:p>
            <a:p>
              <a:pPr algn="ctr">
                <a:lnSpc>
                  <a:spcPts val="2240"/>
                </a:lnSpc>
              </a:pPr>
              <a:r>
                <a:rPr lang="en-US" sz="2000" b="true">
                  <a:solidFill>
                    <a:srgbClr val="FFFFFF"/>
                  </a:solidFill>
                  <a:latin typeface="Canva Sans Bold"/>
                  <a:ea typeface="Canva Sans Bold"/>
                  <a:cs typeface="Canva Sans Bold"/>
                  <a:sym typeface="Canva Sans Bold"/>
                </a:rPr>
                <a:t>Filter for Falcon 9</a:t>
              </a:r>
            </a:p>
            <a:p>
              <a:pPr algn="ctr">
                <a:lnSpc>
                  <a:spcPts val="2016"/>
                </a:lnSpc>
              </a:pPr>
              <a:r>
                <a:rPr lang="en-US" sz="1800" i="true">
                  <a:solidFill>
                    <a:srgbClr val="FFFFFF"/>
                  </a:solidFill>
                  <a:latin typeface="Canva Sans Italics"/>
                  <a:ea typeface="Canva Sans Italics"/>
                  <a:cs typeface="Canva Sans Italics"/>
                  <a:sym typeface="Canva Sans Italics"/>
                </a:rPr>
                <a:t>Filter and adjust columns as needed</a:t>
              </a:r>
            </a:p>
          </p:txBody>
        </p:sp>
      </p:grpSp>
      <p:grpSp>
        <p:nvGrpSpPr>
          <p:cNvPr name="Group 14" id="14"/>
          <p:cNvGrpSpPr/>
          <p:nvPr/>
        </p:nvGrpSpPr>
        <p:grpSpPr>
          <a:xfrm rot="0">
            <a:off x="7286438" y="5315051"/>
            <a:ext cx="2755292" cy="2747551"/>
            <a:chOff x="0" y="0"/>
            <a:chExt cx="834709" cy="832364"/>
          </a:xfrm>
        </p:grpSpPr>
        <p:sp>
          <p:nvSpPr>
            <p:cNvPr name="Freeform 15" id="15"/>
            <p:cNvSpPr/>
            <p:nvPr/>
          </p:nvSpPr>
          <p:spPr>
            <a:xfrm flipH="false" flipV="false" rot="0">
              <a:off x="0" y="0"/>
              <a:ext cx="834709" cy="832364"/>
            </a:xfrm>
            <a:custGeom>
              <a:avLst/>
              <a:gdLst/>
              <a:ahLst/>
              <a:cxnLst/>
              <a:rect r="r" b="b" t="t" l="l"/>
              <a:pathLst>
                <a:path h="832364" w="834709">
                  <a:moveTo>
                    <a:pt x="417355" y="0"/>
                  </a:moveTo>
                  <a:cubicBezTo>
                    <a:pt x="186856" y="0"/>
                    <a:pt x="0" y="186331"/>
                    <a:pt x="0" y="416182"/>
                  </a:cubicBezTo>
                  <a:cubicBezTo>
                    <a:pt x="0" y="646033"/>
                    <a:pt x="186856" y="832364"/>
                    <a:pt x="417355" y="832364"/>
                  </a:cubicBezTo>
                  <a:cubicBezTo>
                    <a:pt x="647853" y="832364"/>
                    <a:pt x="834709" y="646033"/>
                    <a:pt x="834709" y="416182"/>
                  </a:cubicBezTo>
                  <a:cubicBezTo>
                    <a:pt x="834709" y="186331"/>
                    <a:pt x="647853" y="0"/>
                    <a:pt x="417355" y="0"/>
                  </a:cubicBezTo>
                  <a:close/>
                </a:path>
              </a:pathLst>
            </a:custGeom>
            <a:solidFill>
              <a:srgbClr val="80CDCC"/>
            </a:solidFill>
          </p:spPr>
        </p:sp>
        <p:sp>
          <p:nvSpPr>
            <p:cNvPr name="TextBox 16" id="16"/>
            <p:cNvSpPr txBox="true"/>
            <p:nvPr/>
          </p:nvSpPr>
          <p:spPr>
            <a:xfrm>
              <a:off x="78254" y="87559"/>
              <a:ext cx="678201" cy="666771"/>
            </a:xfrm>
            <a:prstGeom prst="rect">
              <a:avLst/>
            </a:prstGeom>
          </p:spPr>
          <p:txBody>
            <a:bodyPr anchor="ctr" rtlCol="false" tIns="50590" lIns="50590" bIns="50590" rIns="50590"/>
            <a:lstStyle/>
            <a:p>
              <a:pPr algn="ctr">
                <a:lnSpc>
                  <a:spcPts val="2260"/>
                </a:lnSpc>
              </a:pPr>
              <a:r>
                <a:rPr lang="en-US" sz="2000">
                  <a:solidFill>
                    <a:srgbClr val="FFFFFF"/>
                  </a:solidFill>
                  <a:latin typeface="Canva Sans"/>
                  <a:ea typeface="Canva Sans"/>
                  <a:cs typeface="Canva Sans"/>
                  <a:sym typeface="Canva Sans"/>
                </a:rPr>
                <a:t>5</a:t>
              </a:r>
            </a:p>
            <a:p>
              <a:pPr algn="ctr">
                <a:lnSpc>
                  <a:spcPts val="2260"/>
                </a:lnSpc>
              </a:pPr>
              <a:r>
                <a:rPr lang="en-US" sz="2000" b="true">
                  <a:solidFill>
                    <a:srgbClr val="FFFFFF"/>
                  </a:solidFill>
                  <a:latin typeface="Canva Sans Bold"/>
                  <a:ea typeface="Canva Sans Bold"/>
                  <a:cs typeface="Canva Sans Bold"/>
                  <a:sym typeface="Canva Sans Bold"/>
                </a:rPr>
                <a:t>Handle Missing Data</a:t>
              </a:r>
            </a:p>
            <a:p>
              <a:pPr algn="ctr">
                <a:lnSpc>
                  <a:spcPts val="2034"/>
                </a:lnSpc>
              </a:pPr>
              <a:r>
                <a:rPr lang="en-US" sz="1800" i="true">
                  <a:solidFill>
                    <a:srgbClr val="FFFFFF"/>
                  </a:solidFill>
                  <a:latin typeface="Canva Sans Italics"/>
                  <a:ea typeface="Canva Sans Italics"/>
                  <a:cs typeface="Canva Sans Italics"/>
                  <a:sym typeface="Canva Sans Italics"/>
                </a:rPr>
                <a:t>Replace missing PayloadMass values with mean</a:t>
              </a:r>
            </a:p>
          </p:txBody>
        </p:sp>
      </p:grpSp>
      <p:grpSp>
        <p:nvGrpSpPr>
          <p:cNvPr name="Group 17" id="17"/>
          <p:cNvGrpSpPr/>
          <p:nvPr/>
        </p:nvGrpSpPr>
        <p:grpSpPr>
          <a:xfrm rot="0">
            <a:off x="8254264" y="3146464"/>
            <a:ext cx="2676639" cy="2461238"/>
            <a:chOff x="0" y="0"/>
            <a:chExt cx="883665" cy="812553"/>
          </a:xfrm>
        </p:grpSpPr>
        <p:sp>
          <p:nvSpPr>
            <p:cNvPr name="Freeform 18" id="18"/>
            <p:cNvSpPr/>
            <p:nvPr/>
          </p:nvSpPr>
          <p:spPr>
            <a:xfrm flipH="false" flipV="false" rot="0">
              <a:off x="0" y="0"/>
              <a:ext cx="883665" cy="812553"/>
            </a:xfrm>
            <a:custGeom>
              <a:avLst/>
              <a:gdLst/>
              <a:ahLst/>
              <a:cxnLst/>
              <a:rect r="r" b="b" t="t" l="l"/>
              <a:pathLst>
                <a:path h="812553" w="883665">
                  <a:moveTo>
                    <a:pt x="441833" y="0"/>
                  </a:moveTo>
                  <a:cubicBezTo>
                    <a:pt x="197815" y="0"/>
                    <a:pt x="0" y="181896"/>
                    <a:pt x="0" y="406276"/>
                  </a:cubicBezTo>
                  <a:cubicBezTo>
                    <a:pt x="0" y="630657"/>
                    <a:pt x="197815" y="812553"/>
                    <a:pt x="441833" y="812553"/>
                  </a:cubicBezTo>
                  <a:cubicBezTo>
                    <a:pt x="685850" y="812553"/>
                    <a:pt x="883665" y="630657"/>
                    <a:pt x="883665" y="406276"/>
                  </a:cubicBezTo>
                  <a:cubicBezTo>
                    <a:pt x="883665" y="181896"/>
                    <a:pt x="685850" y="0"/>
                    <a:pt x="441833" y="0"/>
                  </a:cubicBezTo>
                  <a:close/>
                </a:path>
              </a:pathLst>
            </a:custGeom>
            <a:solidFill>
              <a:srgbClr val="3CBDBB"/>
            </a:solidFill>
          </p:spPr>
        </p:sp>
        <p:sp>
          <p:nvSpPr>
            <p:cNvPr name="TextBox 19" id="19"/>
            <p:cNvSpPr txBox="true"/>
            <p:nvPr/>
          </p:nvSpPr>
          <p:spPr>
            <a:xfrm>
              <a:off x="82844" y="85702"/>
              <a:ext cx="717978" cy="650674"/>
            </a:xfrm>
            <a:prstGeom prst="rect">
              <a:avLst/>
            </a:prstGeom>
          </p:spPr>
          <p:txBody>
            <a:bodyPr anchor="ctr" rtlCol="false" tIns="50590" lIns="50590" bIns="50590" rIns="50590"/>
            <a:lstStyle/>
            <a:p>
              <a:pPr algn="ctr">
                <a:lnSpc>
                  <a:spcPts val="2280"/>
                </a:lnSpc>
              </a:pPr>
              <a:r>
                <a:rPr lang="en-US" sz="2000">
                  <a:solidFill>
                    <a:srgbClr val="FFFFFF"/>
                  </a:solidFill>
                  <a:latin typeface="Canva Sans"/>
                  <a:ea typeface="Canva Sans"/>
                  <a:cs typeface="Canva Sans"/>
                  <a:sym typeface="Canva Sans"/>
                </a:rPr>
                <a:t>4</a:t>
              </a:r>
            </a:p>
            <a:p>
              <a:pPr algn="ctr">
                <a:lnSpc>
                  <a:spcPts val="2280"/>
                </a:lnSpc>
              </a:pPr>
              <a:r>
                <a:rPr lang="en-US" sz="2000" b="true">
                  <a:solidFill>
                    <a:srgbClr val="FFFFFF"/>
                  </a:solidFill>
                  <a:latin typeface="Canva Sans Bold"/>
                  <a:ea typeface="Canva Sans Bold"/>
                  <a:cs typeface="Canva Sans Bold"/>
                  <a:sym typeface="Canva Sans Bold"/>
                </a:rPr>
                <a:t>Data Enrichment</a:t>
              </a:r>
            </a:p>
            <a:p>
              <a:pPr algn="ctr">
                <a:lnSpc>
                  <a:spcPts val="2052"/>
                </a:lnSpc>
              </a:pPr>
              <a:r>
                <a:rPr lang="en-US" sz="1800" i="true">
                  <a:solidFill>
                    <a:srgbClr val="FFFFFF"/>
                  </a:solidFill>
                  <a:latin typeface="Canva Sans Italics"/>
                  <a:ea typeface="Canva Sans Italics"/>
                  <a:cs typeface="Canva Sans Italics"/>
                  <a:sym typeface="Canva Sans Italics"/>
                </a:rPr>
                <a:t>Make additional API calls and add new columns if relevant</a:t>
              </a:r>
            </a:p>
          </p:txBody>
        </p:sp>
      </p:grpSp>
      <p:sp>
        <p:nvSpPr>
          <p:cNvPr name="Freeform 20" id="20"/>
          <p:cNvSpPr/>
          <p:nvPr/>
        </p:nvSpPr>
        <p:spPr>
          <a:xfrm flipH="false" flipV="false" rot="1289294">
            <a:off x="2796059" y="2979855"/>
            <a:ext cx="1306734" cy="333217"/>
          </a:xfrm>
          <a:custGeom>
            <a:avLst/>
            <a:gdLst/>
            <a:ahLst/>
            <a:cxnLst/>
            <a:rect r="r" b="b" t="t" l="l"/>
            <a:pathLst>
              <a:path h="333217" w="1306734">
                <a:moveTo>
                  <a:pt x="0" y="0"/>
                </a:moveTo>
                <a:lnTo>
                  <a:pt x="1306734" y="0"/>
                </a:lnTo>
                <a:lnTo>
                  <a:pt x="1306734" y="333218"/>
                </a:lnTo>
                <a:lnTo>
                  <a:pt x="0" y="33321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21" id="21"/>
          <p:cNvGrpSpPr/>
          <p:nvPr/>
        </p:nvGrpSpPr>
        <p:grpSpPr>
          <a:xfrm rot="0">
            <a:off x="5921859" y="2267730"/>
            <a:ext cx="2650276" cy="2496516"/>
            <a:chOff x="0" y="0"/>
            <a:chExt cx="942013" cy="887360"/>
          </a:xfrm>
        </p:grpSpPr>
        <p:sp>
          <p:nvSpPr>
            <p:cNvPr name="Freeform 22" id="22"/>
            <p:cNvSpPr/>
            <p:nvPr/>
          </p:nvSpPr>
          <p:spPr>
            <a:xfrm flipH="false" flipV="false" rot="0">
              <a:off x="0" y="0"/>
              <a:ext cx="942013" cy="887360"/>
            </a:xfrm>
            <a:custGeom>
              <a:avLst/>
              <a:gdLst/>
              <a:ahLst/>
              <a:cxnLst/>
              <a:rect r="r" b="b" t="t" l="l"/>
              <a:pathLst>
                <a:path h="887360" w="942013">
                  <a:moveTo>
                    <a:pt x="471006" y="0"/>
                  </a:moveTo>
                  <a:cubicBezTo>
                    <a:pt x="210877" y="0"/>
                    <a:pt x="0" y="198642"/>
                    <a:pt x="0" y="443680"/>
                  </a:cubicBezTo>
                  <a:cubicBezTo>
                    <a:pt x="0" y="688718"/>
                    <a:pt x="210877" y="887360"/>
                    <a:pt x="471006" y="887360"/>
                  </a:cubicBezTo>
                  <a:cubicBezTo>
                    <a:pt x="731136" y="887360"/>
                    <a:pt x="942013" y="688718"/>
                    <a:pt x="942013" y="443680"/>
                  </a:cubicBezTo>
                  <a:cubicBezTo>
                    <a:pt x="942013" y="198642"/>
                    <a:pt x="731136" y="0"/>
                    <a:pt x="471006" y="0"/>
                  </a:cubicBezTo>
                  <a:close/>
                </a:path>
              </a:pathLst>
            </a:custGeom>
            <a:solidFill>
              <a:srgbClr val="36B7DA"/>
            </a:solidFill>
          </p:spPr>
        </p:sp>
        <p:sp>
          <p:nvSpPr>
            <p:cNvPr name="TextBox 23" id="23"/>
            <p:cNvSpPr txBox="true"/>
            <p:nvPr/>
          </p:nvSpPr>
          <p:spPr>
            <a:xfrm>
              <a:off x="88314" y="92715"/>
              <a:ext cx="765385" cy="711455"/>
            </a:xfrm>
            <a:prstGeom prst="rect">
              <a:avLst/>
            </a:prstGeom>
          </p:spPr>
          <p:txBody>
            <a:bodyPr anchor="ctr" rtlCol="false" tIns="50590" lIns="50590" bIns="50590" rIns="50590"/>
            <a:lstStyle/>
            <a:p>
              <a:pPr algn="ctr">
                <a:lnSpc>
                  <a:spcPts val="2260"/>
                </a:lnSpc>
              </a:pPr>
              <a:r>
                <a:rPr lang="en-US" sz="2000">
                  <a:solidFill>
                    <a:srgbClr val="FFFFFF"/>
                  </a:solidFill>
                  <a:latin typeface="Canva Sans"/>
                  <a:ea typeface="Canva Sans"/>
                  <a:cs typeface="Canva Sans"/>
                  <a:sym typeface="Canva Sans"/>
                </a:rPr>
                <a:t>3</a:t>
              </a:r>
            </a:p>
            <a:p>
              <a:pPr algn="ctr">
                <a:lnSpc>
                  <a:spcPts val="2260"/>
                </a:lnSpc>
              </a:pPr>
              <a:r>
                <a:rPr lang="en-US" sz="2000" b="true">
                  <a:solidFill>
                    <a:srgbClr val="FFFFFF"/>
                  </a:solidFill>
                  <a:latin typeface="Canva Sans Bold"/>
                  <a:ea typeface="Canva Sans Bold"/>
                  <a:cs typeface="Canva Sans Bold"/>
                  <a:sym typeface="Canva Sans Bold"/>
                </a:rPr>
                <a:t>Preprocess Data</a:t>
              </a:r>
              <a:r>
                <a:rPr lang="en-US" sz="2000">
                  <a:solidFill>
                    <a:srgbClr val="FFFFFF"/>
                  </a:solidFill>
                  <a:latin typeface="Canva Sans"/>
                  <a:ea typeface="Canva Sans"/>
                  <a:cs typeface="Canva Sans"/>
                  <a:sym typeface="Canva Sans"/>
                </a:rPr>
                <a:t> </a:t>
              </a:r>
            </a:p>
            <a:p>
              <a:pPr algn="ctr">
                <a:lnSpc>
                  <a:spcPts val="2034"/>
                </a:lnSpc>
              </a:pPr>
              <a:r>
                <a:rPr lang="en-US" sz="1800" i="true">
                  <a:solidFill>
                    <a:srgbClr val="FFFFFF"/>
                  </a:solidFill>
                  <a:latin typeface="Canva Sans Italics"/>
                  <a:ea typeface="Canva Sans Italics"/>
                  <a:cs typeface="Canva Sans Italics"/>
                  <a:sym typeface="Canva Sans Italics"/>
                </a:rPr>
                <a:t>Filter for Falcon 9 launches and Extract relevant columns</a:t>
              </a:r>
            </a:p>
          </p:txBody>
        </p:sp>
      </p:grpSp>
      <p:sp>
        <p:nvSpPr>
          <p:cNvPr name="Freeform 24" id="24"/>
          <p:cNvSpPr/>
          <p:nvPr/>
        </p:nvSpPr>
        <p:spPr>
          <a:xfrm flipH="false" flipV="false" rot="1349777">
            <a:off x="7997382" y="2797802"/>
            <a:ext cx="1134438" cy="289282"/>
          </a:xfrm>
          <a:custGeom>
            <a:avLst/>
            <a:gdLst/>
            <a:ahLst/>
            <a:cxnLst/>
            <a:rect r="r" b="b" t="t" l="l"/>
            <a:pathLst>
              <a:path h="289282" w="1134438">
                <a:moveTo>
                  <a:pt x="0" y="0"/>
                </a:moveTo>
                <a:lnTo>
                  <a:pt x="1134438" y="0"/>
                </a:lnTo>
                <a:lnTo>
                  <a:pt x="1134438" y="289282"/>
                </a:lnTo>
                <a:lnTo>
                  <a:pt x="0" y="28928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5" id="25"/>
          <p:cNvSpPr/>
          <p:nvPr/>
        </p:nvSpPr>
        <p:spPr>
          <a:xfrm flipH="true" flipV="true" rot="-4493072">
            <a:off x="9474510" y="5584171"/>
            <a:ext cx="1134438" cy="289282"/>
          </a:xfrm>
          <a:custGeom>
            <a:avLst/>
            <a:gdLst/>
            <a:ahLst/>
            <a:cxnLst/>
            <a:rect r="r" b="b" t="t" l="l"/>
            <a:pathLst>
              <a:path h="289282" w="1134438">
                <a:moveTo>
                  <a:pt x="1134439" y="289282"/>
                </a:moveTo>
                <a:lnTo>
                  <a:pt x="0" y="289282"/>
                </a:lnTo>
                <a:lnTo>
                  <a:pt x="0" y="0"/>
                </a:lnTo>
                <a:lnTo>
                  <a:pt x="1134439" y="0"/>
                </a:lnTo>
                <a:lnTo>
                  <a:pt x="1134439" y="289282"/>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6" id="26"/>
          <p:cNvSpPr/>
          <p:nvPr/>
        </p:nvSpPr>
        <p:spPr>
          <a:xfrm flipH="false" flipV="false" rot="9774604">
            <a:off x="6776782" y="5856614"/>
            <a:ext cx="940431" cy="470216"/>
          </a:xfrm>
          <a:custGeom>
            <a:avLst/>
            <a:gdLst/>
            <a:ahLst/>
            <a:cxnLst/>
            <a:rect r="r" b="b" t="t" l="l"/>
            <a:pathLst>
              <a:path h="470216" w="940431">
                <a:moveTo>
                  <a:pt x="0" y="0"/>
                </a:moveTo>
                <a:lnTo>
                  <a:pt x="940431" y="0"/>
                </a:lnTo>
                <a:lnTo>
                  <a:pt x="940431" y="470216"/>
                </a:lnTo>
                <a:lnTo>
                  <a:pt x="0" y="47021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27" id="27"/>
          <p:cNvGrpSpPr/>
          <p:nvPr/>
        </p:nvGrpSpPr>
        <p:grpSpPr>
          <a:xfrm rot="0">
            <a:off x="2663721" y="6226827"/>
            <a:ext cx="2374817" cy="2102824"/>
            <a:chOff x="0" y="0"/>
            <a:chExt cx="917653" cy="812553"/>
          </a:xfrm>
        </p:grpSpPr>
        <p:sp>
          <p:nvSpPr>
            <p:cNvPr name="Freeform 28" id="28"/>
            <p:cNvSpPr/>
            <p:nvPr/>
          </p:nvSpPr>
          <p:spPr>
            <a:xfrm flipH="false" flipV="false" rot="0">
              <a:off x="0" y="0"/>
              <a:ext cx="917653" cy="812553"/>
            </a:xfrm>
            <a:custGeom>
              <a:avLst/>
              <a:gdLst/>
              <a:ahLst/>
              <a:cxnLst/>
              <a:rect r="r" b="b" t="t" l="l"/>
              <a:pathLst>
                <a:path h="812553" w="917653">
                  <a:moveTo>
                    <a:pt x="458827" y="0"/>
                  </a:moveTo>
                  <a:cubicBezTo>
                    <a:pt x="205424" y="0"/>
                    <a:pt x="0" y="181896"/>
                    <a:pt x="0" y="406276"/>
                  </a:cubicBezTo>
                  <a:cubicBezTo>
                    <a:pt x="0" y="630657"/>
                    <a:pt x="205424" y="812553"/>
                    <a:pt x="458827" y="812553"/>
                  </a:cubicBezTo>
                  <a:cubicBezTo>
                    <a:pt x="712230" y="812553"/>
                    <a:pt x="917653" y="630657"/>
                    <a:pt x="917653" y="406276"/>
                  </a:cubicBezTo>
                  <a:cubicBezTo>
                    <a:pt x="917653" y="181896"/>
                    <a:pt x="712230" y="0"/>
                    <a:pt x="458827" y="0"/>
                  </a:cubicBezTo>
                  <a:close/>
                </a:path>
              </a:pathLst>
            </a:custGeom>
            <a:solidFill>
              <a:srgbClr val="2C8CCB"/>
            </a:solidFill>
          </p:spPr>
        </p:sp>
        <p:sp>
          <p:nvSpPr>
            <p:cNvPr name="TextBox 29" id="29"/>
            <p:cNvSpPr txBox="true"/>
            <p:nvPr/>
          </p:nvSpPr>
          <p:spPr>
            <a:xfrm>
              <a:off x="86030" y="85702"/>
              <a:ext cx="745593" cy="650674"/>
            </a:xfrm>
            <a:prstGeom prst="rect">
              <a:avLst/>
            </a:prstGeom>
          </p:spPr>
          <p:txBody>
            <a:bodyPr anchor="ctr" rtlCol="false" tIns="50590" lIns="50590" bIns="50590" rIns="50590"/>
            <a:lstStyle/>
            <a:p>
              <a:pPr algn="ctr">
                <a:lnSpc>
                  <a:spcPts val="2260"/>
                </a:lnSpc>
              </a:pPr>
              <a:r>
                <a:rPr lang="en-US" sz="2000">
                  <a:solidFill>
                    <a:srgbClr val="FFFFFF"/>
                  </a:solidFill>
                  <a:latin typeface="Canva Sans"/>
                  <a:ea typeface="Canva Sans"/>
                  <a:cs typeface="Canva Sans"/>
                  <a:sym typeface="Canva Sans"/>
                </a:rPr>
                <a:t>7</a:t>
              </a:r>
            </a:p>
            <a:p>
              <a:pPr algn="ctr">
                <a:lnSpc>
                  <a:spcPts val="2260"/>
                </a:lnSpc>
              </a:pPr>
              <a:r>
                <a:rPr lang="en-US" sz="2000" b="true">
                  <a:solidFill>
                    <a:srgbClr val="FFFFFF"/>
                  </a:solidFill>
                  <a:latin typeface="Canva Sans Bold"/>
                  <a:ea typeface="Canva Sans Bold"/>
                  <a:cs typeface="Canva Sans Bold"/>
                  <a:sym typeface="Canva Sans Bold"/>
                </a:rPr>
                <a:t>Export Cleaned Data</a:t>
              </a:r>
            </a:p>
            <a:p>
              <a:pPr algn="ctr">
                <a:lnSpc>
                  <a:spcPts val="2034"/>
                </a:lnSpc>
              </a:pPr>
              <a:r>
                <a:rPr lang="en-US" sz="1800" i="true">
                  <a:solidFill>
                    <a:srgbClr val="FFFFFF"/>
                  </a:solidFill>
                  <a:latin typeface="Canva Sans Italics"/>
                  <a:ea typeface="Canva Sans Italics"/>
                  <a:cs typeface="Canva Sans Italics"/>
                  <a:sym typeface="Canva Sans Italics"/>
                </a:rPr>
                <a:t>Convert to dictionary</a:t>
              </a:r>
            </a:p>
          </p:txBody>
        </p:sp>
      </p:grpSp>
      <p:sp>
        <p:nvSpPr>
          <p:cNvPr name="Freeform 30" id="30"/>
          <p:cNvSpPr/>
          <p:nvPr/>
        </p:nvSpPr>
        <p:spPr>
          <a:xfrm flipH="true" flipV="true" rot="72803">
            <a:off x="4279487" y="8076355"/>
            <a:ext cx="1302478" cy="332132"/>
          </a:xfrm>
          <a:custGeom>
            <a:avLst/>
            <a:gdLst/>
            <a:ahLst/>
            <a:cxnLst/>
            <a:rect r="r" b="b" t="t" l="l"/>
            <a:pathLst>
              <a:path h="332132" w="1302478">
                <a:moveTo>
                  <a:pt x="1302478" y="332132"/>
                </a:moveTo>
                <a:lnTo>
                  <a:pt x="0" y="332132"/>
                </a:lnTo>
                <a:lnTo>
                  <a:pt x="0" y="0"/>
                </a:lnTo>
                <a:lnTo>
                  <a:pt x="1302478" y="0"/>
                </a:lnTo>
                <a:lnTo>
                  <a:pt x="1302478" y="332132"/>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1" id="31"/>
          <p:cNvSpPr/>
          <p:nvPr/>
        </p:nvSpPr>
        <p:spPr>
          <a:xfrm flipH="false" flipV="false" rot="0">
            <a:off x="12616828" y="3209812"/>
            <a:ext cx="8229600" cy="8229600"/>
          </a:xfrm>
          <a:custGeom>
            <a:avLst/>
            <a:gdLst/>
            <a:ahLst/>
            <a:cxnLst/>
            <a:rect r="r" b="b" t="t" l="l"/>
            <a:pathLst>
              <a:path h="8229600" w="8229600">
                <a:moveTo>
                  <a:pt x="0" y="0"/>
                </a:moveTo>
                <a:lnTo>
                  <a:pt x="8229600" y="0"/>
                </a:lnTo>
                <a:lnTo>
                  <a:pt x="8229600" y="8229600"/>
                </a:lnTo>
                <a:lnTo>
                  <a:pt x="0" y="8229600"/>
                </a:lnTo>
                <a:lnTo>
                  <a:pt x="0" y="0"/>
                </a:lnTo>
                <a:close/>
              </a:path>
            </a:pathLst>
          </a:custGeom>
          <a:blipFill>
            <a:blip r:embed="rId11"/>
            <a:stretch>
              <a:fillRect l="0" t="0" r="0" b="0"/>
            </a:stretch>
          </a:blipFill>
        </p:spPr>
      </p:sp>
      <p:sp>
        <p:nvSpPr>
          <p:cNvPr name="Freeform 32" id="32"/>
          <p:cNvSpPr/>
          <p:nvPr/>
        </p:nvSpPr>
        <p:spPr>
          <a:xfrm flipH="false" flipV="true" rot="-1733931">
            <a:off x="5584493" y="4688877"/>
            <a:ext cx="1302478" cy="332132"/>
          </a:xfrm>
          <a:custGeom>
            <a:avLst/>
            <a:gdLst/>
            <a:ahLst/>
            <a:cxnLst/>
            <a:rect r="r" b="b" t="t" l="l"/>
            <a:pathLst>
              <a:path h="332132" w="1302478">
                <a:moveTo>
                  <a:pt x="0" y="332132"/>
                </a:moveTo>
                <a:lnTo>
                  <a:pt x="1302478" y="332132"/>
                </a:lnTo>
                <a:lnTo>
                  <a:pt x="1302478" y="0"/>
                </a:lnTo>
                <a:lnTo>
                  <a:pt x="0" y="0"/>
                </a:lnTo>
                <a:lnTo>
                  <a:pt x="0" y="332132"/>
                </a:lnTo>
                <a:close/>
              </a:path>
            </a:pathLst>
          </a:custGeom>
          <a:blipFill>
            <a:blip r:embed="rId12">
              <a:extLst>
                <a:ext uri="{96DAC541-7B7A-43D3-8B79-37D633B846F1}">
                  <asvg:svgBlip xmlns:asvg="http://schemas.microsoft.com/office/drawing/2016/SVG/main" r:embed="rId13"/>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650211" y="3094544"/>
            <a:ext cx="8229600" cy="8229600"/>
          </a:xfrm>
          <a:custGeom>
            <a:avLst/>
            <a:gdLst/>
            <a:ahLst/>
            <a:cxnLst/>
            <a:rect r="r" b="b" t="t" l="l"/>
            <a:pathLst>
              <a:path h="8229600" w="8229600">
                <a:moveTo>
                  <a:pt x="0" y="0"/>
                </a:moveTo>
                <a:lnTo>
                  <a:pt x="8229600" y="0"/>
                </a:lnTo>
                <a:lnTo>
                  <a:pt x="8229600" y="8229600"/>
                </a:lnTo>
                <a:lnTo>
                  <a:pt x="0" y="8229600"/>
                </a:lnTo>
                <a:lnTo>
                  <a:pt x="0" y="0"/>
                </a:lnTo>
                <a:close/>
              </a:path>
            </a:pathLst>
          </a:custGeom>
          <a:blipFill>
            <a:blip r:embed="rId2"/>
            <a:stretch>
              <a:fillRect l="0" t="0" r="0" b="0"/>
            </a:stretch>
          </a:blipFill>
        </p:spPr>
      </p:sp>
      <p:sp>
        <p:nvSpPr>
          <p:cNvPr name="TextBox 3" id="3"/>
          <p:cNvSpPr txBox="true"/>
          <p:nvPr/>
        </p:nvSpPr>
        <p:spPr>
          <a:xfrm rot="0">
            <a:off x="1028700" y="509463"/>
            <a:ext cx="10868630" cy="1720849"/>
          </a:xfrm>
          <a:prstGeom prst="rect">
            <a:avLst/>
          </a:prstGeom>
        </p:spPr>
        <p:txBody>
          <a:bodyPr anchor="t" rtlCol="false" tIns="0" lIns="0" bIns="0" rIns="0">
            <a:spAutoFit/>
          </a:bodyPr>
          <a:lstStyle/>
          <a:p>
            <a:pPr algn="l">
              <a:lnSpc>
                <a:spcPts val="4900"/>
              </a:lnSpc>
            </a:pPr>
            <a:r>
              <a:rPr lang="en-US" sz="3500">
                <a:solidFill>
                  <a:srgbClr val="05060B"/>
                </a:solidFill>
                <a:latin typeface="Anton"/>
                <a:ea typeface="Anton"/>
                <a:cs typeface="Anton"/>
                <a:sym typeface="Anton"/>
              </a:rPr>
              <a:t>METHODOLOGY</a:t>
            </a:r>
          </a:p>
          <a:p>
            <a:pPr algn="l">
              <a:lnSpc>
                <a:spcPts val="9099"/>
              </a:lnSpc>
              <a:spcBef>
                <a:spcPct val="0"/>
              </a:spcBef>
            </a:pPr>
            <a:r>
              <a:rPr lang="en-US" sz="6499">
                <a:solidFill>
                  <a:srgbClr val="05060B"/>
                </a:solidFill>
                <a:latin typeface="Anton"/>
                <a:ea typeface="Anton"/>
                <a:cs typeface="Anton"/>
                <a:sym typeface="Anton"/>
              </a:rPr>
              <a:t>DATA COLLECTION - </a:t>
            </a:r>
            <a:r>
              <a:rPr lang="en-US" sz="6499">
                <a:solidFill>
                  <a:srgbClr val="B16D44"/>
                </a:solidFill>
                <a:latin typeface="Anton"/>
                <a:ea typeface="Anton"/>
                <a:cs typeface="Anton"/>
                <a:sym typeface="Anton"/>
              </a:rPr>
              <a:t>WEB SCRAPING</a:t>
            </a:r>
          </a:p>
        </p:txBody>
      </p:sp>
      <p:sp>
        <p:nvSpPr>
          <p:cNvPr name="TextBox 4" id="4"/>
          <p:cNvSpPr txBox="true"/>
          <p:nvPr/>
        </p:nvSpPr>
        <p:spPr>
          <a:xfrm rot="0">
            <a:off x="433707" y="9599186"/>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5060B"/>
                </a:solidFill>
                <a:latin typeface="Canva Sans"/>
                <a:ea typeface="Canva Sans"/>
                <a:cs typeface="Canva Sans"/>
                <a:sym typeface="Canva Sans"/>
              </a:rPr>
              <a:t>Page 9</a:t>
            </a:r>
          </a:p>
        </p:txBody>
      </p:sp>
      <p:sp>
        <p:nvSpPr>
          <p:cNvPr name="TextBox 5" id="5"/>
          <p:cNvSpPr txBox="true"/>
          <p:nvPr/>
        </p:nvSpPr>
        <p:spPr>
          <a:xfrm rot="0">
            <a:off x="11130758" y="7966725"/>
            <a:ext cx="4019697" cy="1406525"/>
          </a:xfrm>
          <a:prstGeom prst="rect">
            <a:avLst/>
          </a:prstGeom>
        </p:spPr>
        <p:txBody>
          <a:bodyPr anchor="t" rtlCol="false" tIns="0" lIns="0" bIns="0" rIns="0">
            <a:spAutoFit/>
          </a:bodyPr>
          <a:lstStyle/>
          <a:p>
            <a:pPr algn="ctr">
              <a:lnSpc>
                <a:spcPts val="2800"/>
              </a:lnSpc>
              <a:spcBef>
                <a:spcPct val="0"/>
              </a:spcBef>
            </a:pPr>
            <a:r>
              <a:rPr lang="en-US" sz="2000" u="sng">
                <a:solidFill>
                  <a:srgbClr val="004AAD"/>
                </a:solidFill>
                <a:latin typeface="Canva Sans"/>
                <a:ea typeface="Canva Sans"/>
                <a:cs typeface="Canva Sans"/>
                <a:sym typeface="Canva Sans"/>
              </a:rPr>
              <a:t>https://github.com/Ankedefrey/Data-Science-Capstone-Project/blob/main/jupyter-labs-webscraping%20(1).ipynb</a:t>
            </a:r>
          </a:p>
        </p:txBody>
      </p:sp>
      <p:grpSp>
        <p:nvGrpSpPr>
          <p:cNvPr name="Group 6" id="6"/>
          <p:cNvGrpSpPr/>
          <p:nvPr/>
        </p:nvGrpSpPr>
        <p:grpSpPr>
          <a:xfrm rot="0">
            <a:off x="2786031" y="3681715"/>
            <a:ext cx="2622033" cy="2342408"/>
            <a:chOff x="0" y="0"/>
            <a:chExt cx="993289" cy="887360"/>
          </a:xfrm>
        </p:grpSpPr>
        <p:sp>
          <p:nvSpPr>
            <p:cNvPr name="Freeform 7" id="7"/>
            <p:cNvSpPr/>
            <p:nvPr/>
          </p:nvSpPr>
          <p:spPr>
            <a:xfrm flipH="false" flipV="false" rot="0">
              <a:off x="0" y="0"/>
              <a:ext cx="993289" cy="887360"/>
            </a:xfrm>
            <a:custGeom>
              <a:avLst/>
              <a:gdLst/>
              <a:ahLst/>
              <a:cxnLst/>
              <a:rect r="r" b="b" t="t" l="l"/>
              <a:pathLst>
                <a:path h="887360" w="993289">
                  <a:moveTo>
                    <a:pt x="496645" y="0"/>
                  </a:moveTo>
                  <a:cubicBezTo>
                    <a:pt x="222355" y="0"/>
                    <a:pt x="0" y="198642"/>
                    <a:pt x="0" y="443680"/>
                  </a:cubicBezTo>
                  <a:cubicBezTo>
                    <a:pt x="0" y="688718"/>
                    <a:pt x="222355" y="887360"/>
                    <a:pt x="496645" y="887360"/>
                  </a:cubicBezTo>
                  <a:cubicBezTo>
                    <a:pt x="770934" y="887360"/>
                    <a:pt x="993289" y="688718"/>
                    <a:pt x="993289" y="443680"/>
                  </a:cubicBezTo>
                  <a:cubicBezTo>
                    <a:pt x="993289" y="198642"/>
                    <a:pt x="770934" y="0"/>
                    <a:pt x="496645" y="0"/>
                  </a:cubicBezTo>
                  <a:close/>
                </a:path>
              </a:pathLst>
            </a:custGeom>
            <a:solidFill>
              <a:srgbClr val="36B7DA"/>
            </a:solidFill>
          </p:spPr>
        </p:sp>
        <p:sp>
          <p:nvSpPr>
            <p:cNvPr name="TextBox 8" id="8"/>
            <p:cNvSpPr txBox="true"/>
            <p:nvPr/>
          </p:nvSpPr>
          <p:spPr>
            <a:xfrm>
              <a:off x="93121" y="92715"/>
              <a:ext cx="807047" cy="711455"/>
            </a:xfrm>
            <a:prstGeom prst="rect">
              <a:avLst/>
            </a:prstGeom>
          </p:spPr>
          <p:txBody>
            <a:bodyPr anchor="ctr" rtlCol="false" tIns="50800" lIns="50800" bIns="50800" rIns="50800"/>
            <a:lstStyle/>
            <a:p>
              <a:pPr algn="ctr">
                <a:lnSpc>
                  <a:spcPts val="2260"/>
                </a:lnSpc>
              </a:pPr>
              <a:r>
                <a:rPr lang="en-US" sz="2000" b="true">
                  <a:solidFill>
                    <a:srgbClr val="FFFFFF"/>
                  </a:solidFill>
                  <a:latin typeface="Canva Sans Bold"/>
                  <a:ea typeface="Canva Sans Bold"/>
                  <a:cs typeface="Canva Sans Bold"/>
                  <a:sym typeface="Canva Sans Bold"/>
                </a:rPr>
                <a:t>2</a:t>
              </a:r>
            </a:p>
            <a:p>
              <a:pPr algn="ctr">
                <a:lnSpc>
                  <a:spcPts val="2260"/>
                </a:lnSpc>
              </a:pPr>
              <a:r>
                <a:rPr lang="en-US" sz="2000" b="true">
                  <a:solidFill>
                    <a:srgbClr val="FFFFFF"/>
                  </a:solidFill>
                  <a:latin typeface="Canva Sans Bold"/>
                  <a:ea typeface="Canva Sans Bold"/>
                  <a:cs typeface="Canva Sans Bold"/>
                  <a:sym typeface="Canva Sans Bold"/>
                </a:rPr>
                <a:t>Parse HTML with BeautifulSoup</a:t>
              </a:r>
              <a:r>
                <a:rPr lang="en-US" sz="2000">
                  <a:solidFill>
                    <a:srgbClr val="FFFFFF"/>
                  </a:solidFill>
                  <a:latin typeface="Canva Sans"/>
                  <a:ea typeface="Canva Sans"/>
                  <a:cs typeface="Canva Sans"/>
                  <a:sym typeface="Canva Sans"/>
                </a:rPr>
                <a:t> </a:t>
              </a:r>
            </a:p>
            <a:p>
              <a:pPr algn="ctr">
                <a:lnSpc>
                  <a:spcPts val="2034"/>
                </a:lnSpc>
              </a:pPr>
              <a:r>
                <a:rPr lang="en-US" sz="1800" i="true">
                  <a:solidFill>
                    <a:srgbClr val="FFFFFF"/>
                  </a:solidFill>
                  <a:latin typeface="Canva Sans Italics"/>
                  <a:ea typeface="Canva Sans Italics"/>
                  <a:cs typeface="Canva Sans Italics"/>
                  <a:sym typeface="Canva Sans Italics"/>
                </a:rPr>
                <a:t>using html5lib parser</a:t>
              </a:r>
            </a:p>
          </p:txBody>
        </p:sp>
      </p:grpSp>
      <p:grpSp>
        <p:nvGrpSpPr>
          <p:cNvPr name="Group 9" id="9"/>
          <p:cNvGrpSpPr/>
          <p:nvPr/>
        </p:nvGrpSpPr>
        <p:grpSpPr>
          <a:xfrm rot="0">
            <a:off x="917919" y="4852919"/>
            <a:ext cx="2566145" cy="2491592"/>
            <a:chOff x="0" y="0"/>
            <a:chExt cx="908334" cy="881944"/>
          </a:xfrm>
        </p:grpSpPr>
        <p:sp>
          <p:nvSpPr>
            <p:cNvPr name="Freeform 10" id="10"/>
            <p:cNvSpPr/>
            <p:nvPr/>
          </p:nvSpPr>
          <p:spPr>
            <a:xfrm flipH="false" flipV="false" rot="0">
              <a:off x="0" y="0"/>
              <a:ext cx="908334" cy="881944"/>
            </a:xfrm>
            <a:custGeom>
              <a:avLst/>
              <a:gdLst/>
              <a:ahLst/>
              <a:cxnLst/>
              <a:rect r="r" b="b" t="t" l="l"/>
              <a:pathLst>
                <a:path h="881944" w="908334">
                  <a:moveTo>
                    <a:pt x="454167" y="0"/>
                  </a:moveTo>
                  <a:cubicBezTo>
                    <a:pt x="203337" y="0"/>
                    <a:pt x="0" y="197430"/>
                    <a:pt x="0" y="440972"/>
                  </a:cubicBezTo>
                  <a:cubicBezTo>
                    <a:pt x="0" y="684514"/>
                    <a:pt x="203337" y="881944"/>
                    <a:pt x="454167" y="881944"/>
                  </a:cubicBezTo>
                  <a:cubicBezTo>
                    <a:pt x="704996" y="881944"/>
                    <a:pt x="908334" y="684514"/>
                    <a:pt x="908334" y="440972"/>
                  </a:cubicBezTo>
                  <a:cubicBezTo>
                    <a:pt x="908334" y="197430"/>
                    <a:pt x="704996" y="0"/>
                    <a:pt x="454167" y="0"/>
                  </a:cubicBezTo>
                  <a:close/>
                </a:path>
              </a:pathLst>
            </a:custGeom>
            <a:solidFill>
              <a:srgbClr val="2C8CCB"/>
            </a:solidFill>
          </p:spPr>
        </p:sp>
        <p:sp>
          <p:nvSpPr>
            <p:cNvPr name="TextBox 11" id="11"/>
            <p:cNvSpPr txBox="true"/>
            <p:nvPr/>
          </p:nvSpPr>
          <p:spPr>
            <a:xfrm>
              <a:off x="85156" y="92207"/>
              <a:ext cx="738021" cy="707055"/>
            </a:xfrm>
            <a:prstGeom prst="rect">
              <a:avLst/>
            </a:prstGeom>
          </p:spPr>
          <p:txBody>
            <a:bodyPr anchor="ctr" rtlCol="false" tIns="50800" lIns="50800" bIns="50800" rIns="50800"/>
            <a:lstStyle/>
            <a:p>
              <a:pPr algn="ctr">
                <a:lnSpc>
                  <a:spcPts val="2240"/>
                </a:lnSpc>
              </a:pPr>
              <a:r>
                <a:rPr lang="en-US" sz="2000">
                  <a:solidFill>
                    <a:srgbClr val="FFFFFF"/>
                  </a:solidFill>
                  <a:latin typeface="Canva Sans"/>
                  <a:ea typeface="Canva Sans"/>
                  <a:cs typeface="Canva Sans"/>
                  <a:sym typeface="Canva Sans"/>
                </a:rPr>
                <a:t>1</a:t>
              </a:r>
            </a:p>
            <a:p>
              <a:pPr algn="ctr">
                <a:lnSpc>
                  <a:spcPts val="2240"/>
                </a:lnSpc>
              </a:pPr>
              <a:r>
                <a:rPr lang="en-US" sz="2000" b="true">
                  <a:solidFill>
                    <a:srgbClr val="FFFFFF"/>
                  </a:solidFill>
                  <a:latin typeface="Canva Sans Bold"/>
                  <a:ea typeface="Canva Sans Bold"/>
                  <a:cs typeface="Canva Sans Bold"/>
                  <a:sym typeface="Canva Sans Bold"/>
                </a:rPr>
                <a:t>Request Wikipedia HTML</a:t>
              </a:r>
            </a:p>
            <a:p>
              <a:pPr algn="ctr">
                <a:lnSpc>
                  <a:spcPts val="2016"/>
                </a:lnSpc>
              </a:pPr>
              <a:r>
                <a:rPr lang="en-US" sz="1800" i="true">
                  <a:solidFill>
                    <a:srgbClr val="FFFFFF"/>
                  </a:solidFill>
                  <a:latin typeface="Canva Sans Italics"/>
                  <a:ea typeface="Canva Sans Italics"/>
                  <a:cs typeface="Canva Sans Italics"/>
                  <a:sym typeface="Canva Sans Italics"/>
                </a:rPr>
                <a:t>(Falcon 9 launch records page</a:t>
              </a:r>
            </a:p>
          </p:txBody>
        </p:sp>
      </p:grpSp>
      <p:sp>
        <p:nvSpPr>
          <p:cNvPr name="Freeform 12" id="12"/>
          <p:cNvSpPr/>
          <p:nvPr/>
        </p:nvSpPr>
        <p:spPr>
          <a:xfrm flipH="false" flipV="false" rot="-2400235">
            <a:off x="3233514" y="5958990"/>
            <a:ext cx="876492" cy="438246"/>
          </a:xfrm>
          <a:custGeom>
            <a:avLst/>
            <a:gdLst/>
            <a:ahLst/>
            <a:cxnLst/>
            <a:rect r="r" b="b" t="t" l="l"/>
            <a:pathLst>
              <a:path h="438246" w="876492">
                <a:moveTo>
                  <a:pt x="0" y="0"/>
                </a:moveTo>
                <a:lnTo>
                  <a:pt x="876492" y="0"/>
                </a:lnTo>
                <a:lnTo>
                  <a:pt x="876492" y="438247"/>
                </a:lnTo>
                <a:lnTo>
                  <a:pt x="0" y="43824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3" id="13"/>
          <p:cNvGrpSpPr/>
          <p:nvPr/>
        </p:nvGrpSpPr>
        <p:grpSpPr>
          <a:xfrm rot="0">
            <a:off x="4910318" y="5029615"/>
            <a:ext cx="2163089" cy="1989016"/>
            <a:chOff x="0" y="0"/>
            <a:chExt cx="883665" cy="812553"/>
          </a:xfrm>
        </p:grpSpPr>
        <p:sp>
          <p:nvSpPr>
            <p:cNvPr name="Freeform 14" id="14"/>
            <p:cNvSpPr/>
            <p:nvPr/>
          </p:nvSpPr>
          <p:spPr>
            <a:xfrm flipH="false" flipV="false" rot="0">
              <a:off x="0" y="0"/>
              <a:ext cx="883665" cy="812553"/>
            </a:xfrm>
            <a:custGeom>
              <a:avLst/>
              <a:gdLst/>
              <a:ahLst/>
              <a:cxnLst/>
              <a:rect r="r" b="b" t="t" l="l"/>
              <a:pathLst>
                <a:path h="812553" w="883665">
                  <a:moveTo>
                    <a:pt x="441833" y="0"/>
                  </a:moveTo>
                  <a:cubicBezTo>
                    <a:pt x="197815" y="0"/>
                    <a:pt x="0" y="181896"/>
                    <a:pt x="0" y="406276"/>
                  </a:cubicBezTo>
                  <a:cubicBezTo>
                    <a:pt x="0" y="630657"/>
                    <a:pt x="197815" y="812553"/>
                    <a:pt x="441833" y="812553"/>
                  </a:cubicBezTo>
                  <a:cubicBezTo>
                    <a:pt x="685850" y="812553"/>
                    <a:pt x="883665" y="630657"/>
                    <a:pt x="883665" y="406276"/>
                  </a:cubicBezTo>
                  <a:cubicBezTo>
                    <a:pt x="883665" y="181896"/>
                    <a:pt x="685850" y="0"/>
                    <a:pt x="441833" y="0"/>
                  </a:cubicBezTo>
                  <a:close/>
                </a:path>
              </a:pathLst>
            </a:custGeom>
            <a:solidFill>
              <a:srgbClr val="3CBDBB"/>
            </a:solidFill>
          </p:spPr>
        </p:sp>
        <p:sp>
          <p:nvSpPr>
            <p:cNvPr name="TextBox 15" id="15"/>
            <p:cNvSpPr txBox="true"/>
            <p:nvPr/>
          </p:nvSpPr>
          <p:spPr>
            <a:xfrm>
              <a:off x="82844" y="85702"/>
              <a:ext cx="717978" cy="650674"/>
            </a:xfrm>
            <a:prstGeom prst="rect">
              <a:avLst/>
            </a:prstGeom>
          </p:spPr>
          <p:txBody>
            <a:bodyPr anchor="ctr" rtlCol="false" tIns="50800" lIns="50800" bIns="50800" rIns="50800"/>
            <a:lstStyle/>
            <a:p>
              <a:pPr algn="ctr">
                <a:lnSpc>
                  <a:spcPts val="2280"/>
                </a:lnSpc>
              </a:pPr>
              <a:r>
                <a:rPr lang="en-US" sz="2000">
                  <a:solidFill>
                    <a:srgbClr val="FFFFFF"/>
                  </a:solidFill>
                  <a:latin typeface="Canva Sans"/>
                  <a:ea typeface="Canva Sans"/>
                  <a:cs typeface="Canva Sans"/>
                  <a:sym typeface="Canva Sans"/>
                </a:rPr>
                <a:t>3</a:t>
              </a:r>
            </a:p>
            <a:p>
              <a:pPr algn="ctr">
                <a:lnSpc>
                  <a:spcPts val="2280"/>
                </a:lnSpc>
              </a:pPr>
              <a:r>
                <a:rPr lang="en-US" b="true" sz="2000">
                  <a:solidFill>
                    <a:srgbClr val="FFFFFF"/>
                  </a:solidFill>
                  <a:latin typeface="Canva Sans Bold"/>
                  <a:ea typeface="Canva Sans Bold"/>
                  <a:cs typeface="Canva Sans Bold"/>
                  <a:sym typeface="Canva Sans Bold"/>
                </a:rPr>
                <a:t>Find launch information table in HTML</a:t>
              </a:r>
            </a:p>
          </p:txBody>
        </p:sp>
      </p:grpSp>
      <p:sp>
        <p:nvSpPr>
          <p:cNvPr name="Freeform 16" id="16"/>
          <p:cNvSpPr/>
          <p:nvPr/>
        </p:nvSpPr>
        <p:spPr>
          <a:xfrm flipH="false" flipV="false" rot="821850">
            <a:off x="4834515" y="4653427"/>
            <a:ext cx="1139154" cy="290484"/>
          </a:xfrm>
          <a:custGeom>
            <a:avLst/>
            <a:gdLst/>
            <a:ahLst/>
            <a:cxnLst/>
            <a:rect r="r" b="b" t="t" l="l"/>
            <a:pathLst>
              <a:path h="290484" w="1139154">
                <a:moveTo>
                  <a:pt x="0" y="0"/>
                </a:moveTo>
                <a:lnTo>
                  <a:pt x="1139154" y="0"/>
                </a:lnTo>
                <a:lnTo>
                  <a:pt x="1139154" y="290484"/>
                </a:lnTo>
                <a:lnTo>
                  <a:pt x="0" y="29048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7" id="17"/>
          <p:cNvGrpSpPr/>
          <p:nvPr/>
        </p:nvGrpSpPr>
        <p:grpSpPr>
          <a:xfrm rot="0">
            <a:off x="6463015" y="3706483"/>
            <a:ext cx="2190526" cy="2184372"/>
            <a:chOff x="0" y="0"/>
            <a:chExt cx="834709" cy="832364"/>
          </a:xfrm>
        </p:grpSpPr>
        <p:sp>
          <p:nvSpPr>
            <p:cNvPr name="Freeform 18" id="18"/>
            <p:cNvSpPr/>
            <p:nvPr/>
          </p:nvSpPr>
          <p:spPr>
            <a:xfrm flipH="false" flipV="false" rot="0">
              <a:off x="0" y="0"/>
              <a:ext cx="834709" cy="832364"/>
            </a:xfrm>
            <a:custGeom>
              <a:avLst/>
              <a:gdLst/>
              <a:ahLst/>
              <a:cxnLst/>
              <a:rect r="r" b="b" t="t" l="l"/>
              <a:pathLst>
                <a:path h="832364" w="834709">
                  <a:moveTo>
                    <a:pt x="417355" y="0"/>
                  </a:moveTo>
                  <a:cubicBezTo>
                    <a:pt x="186856" y="0"/>
                    <a:pt x="0" y="186331"/>
                    <a:pt x="0" y="416182"/>
                  </a:cubicBezTo>
                  <a:cubicBezTo>
                    <a:pt x="0" y="646033"/>
                    <a:pt x="186856" y="832364"/>
                    <a:pt x="417355" y="832364"/>
                  </a:cubicBezTo>
                  <a:cubicBezTo>
                    <a:pt x="647853" y="832364"/>
                    <a:pt x="834709" y="646033"/>
                    <a:pt x="834709" y="416182"/>
                  </a:cubicBezTo>
                  <a:cubicBezTo>
                    <a:pt x="834709" y="186331"/>
                    <a:pt x="647853" y="0"/>
                    <a:pt x="417355" y="0"/>
                  </a:cubicBezTo>
                  <a:close/>
                </a:path>
              </a:pathLst>
            </a:custGeom>
            <a:solidFill>
              <a:srgbClr val="80CDCC"/>
            </a:solidFill>
          </p:spPr>
        </p:sp>
        <p:sp>
          <p:nvSpPr>
            <p:cNvPr name="TextBox 19" id="19"/>
            <p:cNvSpPr txBox="true"/>
            <p:nvPr/>
          </p:nvSpPr>
          <p:spPr>
            <a:xfrm>
              <a:off x="78254" y="87559"/>
              <a:ext cx="678201" cy="666771"/>
            </a:xfrm>
            <a:prstGeom prst="rect">
              <a:avLst/>
            </a:prstGeom>
          </p:spPr>
          <p:txBody>
            <a:bodyPr anchor="ctr" rtlCol="false" tIns="50800" lIns="50800" bIns="50800" rIns="50800"/>
            <a:lstStyle/>
            <a:p>
              <a:pPr algn="ctr">
                <a:lnSpc>
                  <a:spcPts val="2260"/>
                </a:lnSpc>
              </a:pPr>
              <a:r>
                <a:rPr lang="en-US" sz="2000">
                  <a:solidFill>
                    <a:srgbClr val="FFFFFF"/>
                  </a:solidFill>
                  <a:latin typeface="Canva Sans"/>
                  <a:ea typeface="Canva Sans"/>
                  <a:cs typeface="Canva Sans"/>
                  <a:sym typeface="Canva Sans"/>
                </a:rPr>
                <a:t>4</a:t>
              </a:r>
            </a:p>
            <a:p>
              <a:pPr algn="ctr">
                <a:lnSpc>
                  <a:spcPts val="2260"/>
                </a:lnSpc>
              </a:pPr>
              <a:r>
                <a:rPr lang="en-US" sz="2000" b="true">
                  <a:solidFill>
                    <a:srgbClr val="FFFFFF"/>
                  </a:solidFill>
                  <a:latin typeface="Canva Sans Bold"/>
                  <a:ea typeface="Canva Sans Bold"/>
                  <a:cs typeface="Canva Sans Bold"/>
                  <a:sym typeface="Canva Sans Bold"/>
                </a:rPr>
                <a:t>Create Empty Dictionary</a:t>
              </a:r>
            </a:p>
            <a:p>
              <a:pPr algn="ctr">
                <a:lnSpc>
                  <a:spcPts val="2034"/>
                </a:lnSpc>
              </a:pPr>
              <a:r>
                <a:rPr lang="en-US" sz="1800" i="true">
                  <a:solidFill>
                    <a:srgbClr val="FFFFFF"/>
                  </a:solidFill>
                  <a:latin typeface="Canva Sans Italics"/>
                  <a:ea typeface="Canva Sans Italics"/>
                  <a:cs typeface="Canva Sans Italics"/>
                  <a:sym typeface="Canva Sans Italics"/>
                </a:rPr>
                <a:t>for launch data</a:t>
              </a:r>
            </a:p>
          </p:txBody>
        </p:sp>
      </p:grpSp>
      <p:sp>
        <p:nvSpPr>
          <p:cNvPr name="Freeform 20" id="20"/>
          <p:cNvSpPr/>
          <p:nvPr/>
        </p:nvSpPr>
        <p:spPr>
          <a:xfrm flipH="false" flipV="true" rot="-2329213">
            <a:off x="6545504" y="5964100"/>
            <a:ext cx="1055807" cy="269231"/>
          </a:xfrm>
          <a:custGeom>
            <a:avLst/>
            <a:gdLst/>
            <a:ahLst/>
            <a:cxnLst/>
            <a:rect r="r" b="b" t="t" l="l"/>
            <a:pathLst>
              <a:path h="269231" w="1055807">
                <a:moveTo>
                  <a:pt x="0" y="269231"/>
                </a:moveTo>
                <a:lnTo>
                  <a:pt x="1055806" y="269231"/>
                </a:lnTo>
                <a:lnTo>
                  <a:pt x="1055806" y="0"/>
                </a:lnTo>
                <a:lnTo>
                  <a:pt x="0" y="0"/>
                </a:lnTo>
                <a:lnTo>
                  <a:pt x="0" y="269231"/>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21" id="21"/>
          <p:cNvGrpSpPr/>
          <p:nvPr/>
        </p:nvGrpSpPr>
        <p:grpSpPr>
          <a:xfrm rot="0">
            <a:off x="9412410" y="4066549"/>
            <a:ext cx="2266251" cy="2111565"/>
            <a:chOff x="0" y="0"/>
            <a:chExt cx="872078" cy="812553"/>
          </a:xfrm>
        </p:grpSpPr>
        <p:sp>
          <p:nvSpPr>
            <p:cNvPr name="Freeform 22" id="22"/>
            <p:cNvSpPr/>
            <p:nvPr/>
          </p:nvSpPr>
          <p:spPr>
            <a:xfrm flipH="false" flipV="false" rot="0">
              <a:off x="0" y="0"/>
              <a:ext cx="872077" cy="812553"/>
            </a:xfrm>
            <a:custGeom>
              <a:avLst/>
              <a:gdLst/>
              <a:ahLst/>
              <a:cxnLst/>
              <a:rect r="r" b="b" t="t" l="l"/>
              <a:pathLst>
                <a:path h="812553" w="872077">
                  <a:moveTo>
                    <a:pt x="436039" y="0"/>
                  </a:moveTo>
                  <a:cubicBezTo>
                    <a:pt x="195221" y="0"/>
                    <a:pt x="0" y="181896"/>
                    <a:pt x="0" y="406276"/>
                  </a:cubicBezTo>
                  <a:cubicBezTo>
                    <a:pt x="0" y="630657"/>
                    <a:pt x="195221" y="812553"/>
                    <a:pt x="436039" y="812553"/>
                  </a:cubicBezTo>
                  <a:cubicBezTo>
                    <a:pt x="676856" y="812553"/>
                    <a:pt x="872077" y="630657"/>
                    <a:pt x="872077" y="406276"/>
                  </a:cubicBezTo>
                  <a:cubicBezTo>
                    <a:pt x="872077" y="181896"/>
                    <a:pt x="676856" y="0"/>
                    <a:pt x="436039" y="0"/>
                  </a:cubicBezTo>
                  <a:close/>
                </a:path>
              </a:pathLst>
            </a:custGeom>
            <a:solidFill>
              <a:srgbClr val="2C8CCB"/>
            </a:solidFill>
          </p:spPr>
        </p:sp>
        <p:sp>
          <p:nvSpPr>
            <p:cNvPr name="TextBox 23" id="23"/>
            <p:cNvSpPr txBox="true"/>
            <p:nvPr/>
          </p:nvSpPr>
          <p:spPr>
            <a:xfrm>
              <a:off x="81757" y="85702"/>
              <a:ext cx="708563" cy="650674"/>
            </a:xfrm>
            <a:prstGeom prst="rect">
              <a:avLst/>
            </a:prstGeom>
          </p:spPr>
          <p:txBody>
            <a:bodyPr anchor="ctr" rtlCol="false" tIns="50800" lIns="50800" bIns="50800" rIns="50800"/>
            <a:lstStyle/>
            <a:p>
              <a:pPr algn="ctr">
                <a:lnSpc>
                  <a:spcPts val="2260"/>
                </a:lnSpc>
              </a:pPr>
              <a:r>
                <a:rPr lang="en-US" sz="2000">
                  <a:solidFill>
                    <a:srgbClr val="FFFFFF"/>
                  </a:solidFill>
                  <a:latin typeface="Canva Sans"/>
                  <a:ea typeface="Canva Sans"/>
                  <a:cs typeface="Canva Sans"/>
                  <a:sym typeface="Canva Sans"/>
                </a:rPr>
                <a:t>6</a:t>
              </a:r>
            </a:p>
            <a:p>
              <a:pPr algn="ctr">
                <a:lnSpc>
                  <a:spcPts val="2260"/>
                </a:lnSpc>
              </a:pPr>
              <a:r>
                <a:rPr lang="en-US" b="true" sz="2000">
                  <a:solidFill>
                    <a:srgbClr val="FFFFFF"/>
                  </a:solidFill>
                  <a:latin typeface="Canva Sans Bold"/>
                  <a:ea typeface="Canva Sans Bold"/>
                  <a:cs typeface="Canva Sans Bold"/>
                  <a:sym typeface="Canva Sans Bold"/>
                </a:rPr>
                <a:t>Convert Dictionary to DataFrame</a:t>
              </a:r>
            </a:p>
          </p:txBody>
        </p:sp>
      </p:grpSp>
      <p:grpSp>
        <p:nvGrpSpPr>
          <p:cNvPr name="Group 24" id="24"/>
          <p:cNvGrpSpPr/>
          <p:nvPr/>
        </p:nvGrpSpPr>
        <p:grpSpPr>
          <a:xfrm rot="0">
            <a:off x="7733571" y="5237302"/>
            <a:ext cx="2476496" cy="2478010"/>
            <a:chOff x="0" y="0"/>
            <a:chExt cx="960832" cy="961419"/>
          </a:xfrm>
        </p:grpSpPr>
        <p:sp>
          <p:nvSpPr>
            <p:cNvPr name="Freeform 25" id="25"/>
            <p:cNvSpPr/>
            <p:nvPr/>
          </p:nvSpPr>
          <p:spPr>
            <a:xfrm flipH="false" flipV="false" rot="0">
              <a:off x="0" y="0"/>
              <a:ext cx="960832" cy="961419"/>
            </a:xfrm>
            <a:custGeom>
              <a:avLst/>
              <a:gdLst/>
              <a:ahLst/>
              <a:cxnLst/>
              <a:rect r="r" b="b" t="t" l="l"/>
              <a:pathLst>
                <a:path h="961419" w="960832">
                  <a:moveTo>
                    <a:pt x="480416" y="0"/>
                  </a:moveTo>
                  <a:cubicBezTo>
                    <a:pt x="215090" y="0"/>
                    <a:pt x="0" y="215221"/>
                    <a:pt x="0" y="480709"/>
                  </a:cubicBezTo>
                  <a:cubicBezTo>
                    <a:pt x="0" y="746198"/>
                    <a:pt x="215090" y="961419"/>
                    <a:pt x="480416" y="961419"/>
                  </a:cubicBezTo>
                  <a:cubicBezTo>
                    <a:pt x="745742" y="961419"/>
                    <a:pt x="960832" y="746198"/>
                    <a:pt x="960832" y="480709"/>
                  </a:cubicBezTo>
                  <a:cubicBezTo>
                    <a:pt x="960832" y="215221"/>
                    <a:pt x="745742" y="0"/>
                    <a:pt x="480416" y="0"/>
                  </a:cubicBezTo>
                  <a:close/>
                </a:path>
              </a:pathLst>
            </a:custGeom>
            <a:solidFill>
              <a:srgbClr val="13538A"/>
            </a:solidFill>
          </p:spPr>
        </p:sp>
        <p:sp>
          <p:nvSpPr>
            <p:cNvPr name="TextBox 26" id="26"/>
            <p:cNvSpPr txBox="true"/>
            <p:nvPr/>
          </p:nvSpPr>
          <p:spPr>
            <a:xfrm>
              <a:off x="90078" y="99658"/>
              <a:ext cx="780676" cy="771628"/>
            </a:xfrm>
            <a:prstGeom prst="rect">
              <a:avLst/>
            </a:prstGeom>
          </p:spPr>
          <p:txBody>
            <a:bodyPr anchor="ctr" rtlCol="false" tIns="50800" lIns="50800" bIns="50800" rIns="50800"/>
            <a:lstStyle/>
            <a:p>
              <a:pPr algn="ctr">
                <a:lnSpc>
                  <a:spcPts val="2240"/>
                </a:lnSpc>
              </a:pPr>
              <a:r>
                <a:rPr lang="en-US" sz="2000">
                  <a:solidFill>
                    <a:srgbClr val="FFFFFF"/>
                  </a:solidFill>
                  <a:latin typeface="Canva Sans"/>
                  <a:ea typeface="Canva Sans"/>
                  <a:cs typeface="Canva Sans"/>
                  <a:sym typeface="Canva Sans"/>
                </a:rPr>
                <a:t>5</a:t>
              </a:r>
            </a:p>
            <a:p>
              <a:pPr algn="ctr">
                <a:lnSpc>
                  <a:spcPts val="2240"/>
                </a:lnSpc>
              </a:pPr>
              <a:r>
                <a:rPr lang="en-US" sz="2000" b="true">
                  <a:solidFill>
                    <a:srgbClr val="FFFFFF"/>
                  </a:solidFill>
                  <a:latin typeface="Canva Sans Bold"/>
                  <a:ea typeface="Canva Sans Bold"/>
                  <a:cs typeface="Canva Sans Bold"/>
                  <a:sym typeface="Canva Sans Bold"/>
                </a:rPr>
                <a:t>Iterate through table cells</a:t>
              </a:r>
            </a:p>
            <a:p>
              <a:pPr algn="ctr">
                <a:lnSpc>
                  <a:spcPts val="2016"/>
                </a:lnSpc>
              </a:pPr>
              <a:r>
                <a:rPr lang="en-US" sz="1800" i="true">
                  <a:solidFill>
                    <a:srgbClr val="FFFFFF"/>
                  </a:solidFill>
                  <a:latin typeface="Canva Sans Italics"/>
                  <a:ea typeface="Canva Sans Italics"/>
                  <a:cs typeface="Canva Sans Italics"/>
                  <a:sym typeface="Canva Sans Italics"/>
                </a:rPr>
                <a:t>Extract Data into dictionary</a:t>
              </a:r>
            </a:p>
          </p:txBody>
        </p:sp>
      </p:grpSp>
      <p:sp>
        <p:nvSpPr>
          <p:cNvPr name="Freeform 27" id="27"/>
          <p:cNvSpPr/>
          <p:nvPr/>
        </p:nvSpPr>
        <p:spPr>
          <a:xfrm flipH="true" flipV="false" rot="-9278151">
            <a:off x="8340235" y="4965278"/>
            <a:ext cx="876492" cy="438246"/>
          </a:xfrm>
          <a:custGeom>
            <a:avLst/>
            <a:gdLst/>
            <a:ahLst/>
            <a:cxnLst/>
            <a:rect r="r" b="b" t="t" l="l"/>
            <a:pathLst>
              <a:path h="438246" w="876492">
                <a:moveTo>
                  <a:pt x="876493" y="0"/>
                </a:moveTo>
                <a:lnTo>
                  <a:pt x="0" y="0"/>
                </a:lnTo>
                <a:lnTo>
                  <a:pt x="0" y="438246"/>
                </a:lnTo>
                <a:lnTo>
                  <a:pt x="876493" y="438246"/>
                </a:lnTo>
                <a:lnTo>
                  <a:pt x="876493"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8" id="28"/>
          <p:cNvSpPr/>
          <p:nvPr/>
        </p:nvSpPr>
        <p:spPr>
          <a:xfrm flipH="true" flipV="false" rot="7586950">
            <a:off x="9455706" y="6417492"/>
            <a:ext cx="1307892" cy="333512"/>
          </a:xfrm>
          <a:custGeom>
            <a:avLst/>
            <a:gdLst/>
            <a:ahLst/>
            <a:cxnLst/>
            <a:rect r="r" b="b" t="t" l="l"/>
            <a:pathLst>
              <a:path h="333512" w="1307892">
                <a:moveTo>
                  <a:pt x="1307892" y="0"/>
                </a:moveTo>
                <a:lnTo>
                  <a:pt x="0" y="0"/>
                </a:lnTo>
                <a:lnTo>
                  <a:pt x="0" y="333513"/>
                </a:lnTo>
                <a:lnTo>
                  <a:pt x="1307892" y="333513"/>
                </a:lnTo>
                <a:lnTo>
                  <a:pt x="1307892"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782531" y="2934268"/>
            <a:ext cx="8229600" cy="8229600"/>
          </a:xfrm>
          <a:custGeom>
            <a:avLst/>
            <a:gdLst/>
            <a:ahLst/>
            <a:cxnLst/>
            <a:rect r="r" b="b" t="t" l="l"/>
            <a:pathLst>
              <a:path h="8229600" w="8229600">
                <a:moveTo>
                  <a:pt x="0" y="0"/>
                </a:moveTo>
                <a:lnTo>
                  <a:pt x="8229600" y="0"/>
                </a:lnTo>
                <a:lnTo>
                  <a:pt x="8229600" y="8229600"/>
                </a:lnTo>
                <a:lnTo>
                  <a:pt x="0" y="8229600"/>
                </a:lnTo>
                <a:lnTo>
                  <a:pt x="0" y="0"/>
                </a:lnTo>
                <a:close/>
              </a:path>
            </a:pathLst>
          </a:custGeom>
          <a:blipFill>
            <a:blip r:embed="rId2"/>
            <a:stretch>
              <a:fillRect l="0" t="0" r="0" b="0"/>
            </a:stretch>
          </a:blipFill>
        </p:spPr>
      </p:sp>
      <p:sp>
        <p:nvSpPr>
          <p:cNvPr name="TextBox 3" id="3"/>
          <p:cNvSpPr txBox="true"/>
          <p:nvPr/>
        </p:nvSpPr>
        <p:spPr>
          <a:xfrm rot="0">
            <a:off x="1028700" y="509463"/>
            <a:ext cx="10868630" cy="1720849"/>
          </a:xfrm>
          <a:prstGeom prst="rect">
            <a:avLst/>
          </a:prstGeom>
        </p:spPr>
        <p:txBody>
          <a:bodyPr anchor="t" rtlCol="false" tIns="0" lIns="0" bIns="0" rIns="0">
            <a:spAutoFit/>
          </a:bodyPr>
          <a:lstStyle/>
          <a:p>
            <a:pPr algn="l">
              <a:lnSpc>
                <a:spcPts val="4900"/>
              </a:lnSpc>
            </a:pPr>
            <a:r>
              <a:rPr lang="en-US" sz="3500">
                <a:solidFill>
                  <a:srgbClr val="05060B"/>
                </a:solidFill>
                <a:latin typeface="Anton"/>
                <a:ea typeface="Anton"/>
                <a:cs typeface="Anton"/>
                <a:sym typeface="Anton"/>
              </a:rPr>
              <a:t>METHODOLOGY</a:t>
            </a:r>
          </a:p>
          <a:p>
            <a:pPr algn="l">
              <a:lnSpc>
                <a:spcPts val="9099"/>
              </a:lnSpc>
              <a:spcBef>
                <a:spcPct val="0"/>
              </a:spcBef>
            </a:pPr>
            <a:r>
              <a:rPr lang="en-US" sz="6499">
                <a:solidFill>
                  <a:srgbClr val="05060B"/>
                </a:solidFill>
                <a:latin typeface="Anton"/>
                <a:ea typeface="Anton"/>
                <a:cs typeface="Anton"/>
                <a:sym typeface="Anton"/>
              </a:rPr>
              <a:t>DATA WRANGLING</a:t>
            </a:r>
          </a:p>
        </p:txBody>
      </p:sp>
      <p:sp>
        <p:nvSpPr>
          <p:cNvPr name="TextBox 4" id="4"/>
          <p:cNvSpPr txBox="true"/>
          <p:nvPr/>
        </p:nvSpPr>
        <p:spPr>
          <a:xfrm rot="0">
            <a:off x="917919" y="2334964"/>
            <a:ext cx="15003559" cy="8582249"/>
          </a:xfrm>
          <a:prstGeom prst="rect">
            <a:avLst/>
          </a:prstGeom>
        </p:spPr>
        <p:txBody>
          <a:bodyPr anchor="t" rtlCol="false" tIns="0" lIns="0" bIns="0" rIns="0">
            <a:spAutoFit/>
          </a:bodyPr>
          <a:lstStyle/>
          <a:p>
            <a:pPr algn="l" marL="483868" indent="-241934" lvl="1">
              <a:lnSpc>
                <a:spcPts val="3137"/>
              </a:lnSpc>
              <a:buFont typeface="Arial"/>
              <a:buChar char="•"/>
            </a:pPr>
            <a:r>
              <a:rPr lang="en-US" b="true" sz="2241">
                <a:solidFill>
                  <a:srgbClr val="000000"/>
                </a:solidFill>
                <a:latin typeface="Canva Sans Bold"/>
                <a:ea typeface="Canva Sans Bold"/>
                <a:cs typeface="Canva Sans Bold"/>
                <a:sym typeface="Canva Sans Bold"/>
              </a:rPr>
              <a:t>Perform Exploratory Data Analysis (EDA)</a:t>
            </a:r>
            <a:r>
              <a:rPr lang="en-US" sz="2241">
                <a:solidFill>
                  <a:srgbClr val="000000"/>
                </a:solidFill>
                <a:latin typeface="Canva Sans"/>
                <a:ea typeface="Canva Sans"/>
                <a:cs typeface="Canva Sans"/>
                <a:sym typeface="Canva Sans"/>
              </a:rPr>
              <a:t> and identify key labels for training data.</a:t>
            </a:r>
          </a:p>
          <a:p>
            <a:pPr algn="l" marL="483868" indent="-241934" lvl="1">
              <a:lnSpc>
                <a:spcPts val="3137"/>
              </a:lnSpc>
              <a:buFont typeface="Arial"/>
              <a:buChar char="•"/>
            </a:pPr>
            <a:r>
              <a:rPr lang="en-US" b="true" sz="2241">
                <a:solidFill>
                  <a:srgbClr val="000000"/>
                </a:solidFill>
                <a:latin typeface="Canva Sans Bold"/>
                <a:ea typeface="Canva Sans Bold"/>
                <a:cs typeface="Canva Sans Bold"/>
                <a:sym typeface="Canva Sans Bold"/>
              </a:rPr>
              <a:t>Calculate</a:t>
            </a:r>
            <a:r>
              <a:rPr lang="en-US" sz="2241">
                <a:solidFill>
                  <a:srgbClr val="000000"/>
                </a:solidFill>
                <a:latin typeface="Canva Sans"/>
                <a:ea typeface="Canva Sans"/>
                <a:cs typeface="Canva Sans"/>
                <a:sym typeface="Canva Sans"/>
              </a:rPr>
              <a:t>:</a:t>
            </a:r>
          </a:p>
          <a:p>
            <a:pPr algn="l" marL="967735" indent="-322578" lvl="2">
              <a:lnSpc>
                <a:spcPts val="3137"/>
              </a:lnSpc>
              <a:buFont typeface="Arial"/>
              <a:buChar char="⚬"/>
            </a:pPr>
            <a:r>
              <a:rPr lang="en-US" b="true" sz="2241">
                <a:solidFill>
                  <a:srgbClr val="000000"/>
                </a:solidFill>
                <a:latin typeface="Canva Sans Bold"/>
                <a:ea typeface="Canva Sans Bold"/>
                <a:cs typeface="Canva Sans Bold"/>
                <a:sym typeface="Canva Sans Bold"/>
              </a:rPr>
              <a:t>Number of Launches per Site:</a:t>
            </a:r>
            <a:r>
              <a:rPr lang="en-US" sz="2241">
                <a:solidFill>
                  <a:srgbClr val="000000"/>
                </a:solidFill>
                <a:latin typeface="Canva Sans"/>
                <a:ea typeface="Canva Sans"/>
                <a:cs typeface="Canva Sans"/>
                <a:sym typeface="Canva Sans"/>
              </a:rPr>
              <a:t> Analyze launch frequencies by location.</a:t>
            </a:r>
          </a:p>
          <a:p>
            <a:pPr algn="l" marL="967735" indent="-322578" lvl="2">
              <a:lnSpc>
                <a:spcPts val="3137"/>
              </a:lnSpc>
              <a:buFont typeface="Arial"/>
              <a:buChar char="⚬"/>
            </a:pPr>
            <a:r>
              <a:rPr lang="en-US" b="true" sz="2241">
                <a:solidFill>
                  <a:srgbClr val="000000"/>
                </a:solidFill>
                <a:latin typeface="Canva Sans Bold"/>
                <a:ea typeface="Canva Sans Bold"/>
                <a:cs typeface="Canva Sans Bold"/>
                <a:sym typeface="Canva Sans Bold"/>
              </a:rPr>
              <a:t>Number and Occurrence of Each Orbit Type:</a:t>
            </a:r>
            <a:r>
              <a:rPr lang="en-US" sz="2241">
                <a:solidFill>
                  <a:srgbClr val="000000"/>
                </a:solidFill>
                <a:latin typeface="Canva Sans"/>
                <a:ea typeface="Canva Sans"/>
                <a:cs typeface="Canva Sans"/>
                <a:sym typeface="Canva Sans"/>
              </a:rPr>
              <a:t> Determine common orbit types and their frequency.</a:t>
            </a:r>
          </a:p>
          <a:p>
            <a:pPr algn="l" marL="967735" indent="-322578" lvl="2">
              <a:lnSpc>
                <a:spcPts val="3137"/>
              </a:lnSpc>
              <a:buFont typeface="Arial"/>
              <a:buChar char="⚬"/>
            </a:pPr>
            <a:r>
              <a:rPr lang="en-US" b="true" sz="2241">
                <a:solidFill>
                  <a:srgbClr val="000000"/>
                </a:solidFill>
                <a:latin typeface="Canva Sans Bold"/>
                <a:ea typeface="Canva Sans Bold"/>
                <a:cs typeface="Canva Sans Bold"/>
                <a:sym typeface="Canva Sans Bold"/>
              </a:rPr>
              <a:t>Number and Outcome of Each Mission by Orbit Type:</a:t>
            </a:r>
            <a:r>
              <a:rPr lang="en-US" sz="2241">
                <a:solidFill>
                  <a:srgbClr val="000000"/>
                </a:solidFill>
                <a:latin typeface="Canva Sans"/>
                <a:ea typeface="Canva Sans"/>
                <a:cs typeface="Canva Sans"/>
                <a:sym typeface="Canva Sans"/>
              </a:rPr>
              <a:t> Summarize mission outcomes per orbit.</a:t>
            </a:r>
          </a:p>
          <a:p>
            <a:pPr algn="l" marL="483868" indent="-241934" lvl="1">
              <a:lnSpc>
                <a:spcPts val="3137"/>
              </a:lnSpc>
              <a:buFont typeface="Arial"/>
              <a:buChar char="•"/>
            </a:pPr>
          </a:p>
          <a:p>
            <a:pPr algn="l" marL="483868" indent="-241934" lvl="1">
              <a:lnSpc>
                <a:spcPts val="3137"/>
              </a:lnSpc>
              <a:buFont typeface="Arial"/>
              <a:buChar char="•"/>
            </a:pPr>
            <a:r>
              <a:rPr lang="en-US" b="true" sz="2241">
                <a:solidFill>
                  <a:srgbClr val="000000"/>
                </a:solidFill>
                <a:latin typeface="Canva Sans Bold"/>
                <a:ea typeface="Canva Sans Bold"/>
                <a:cs typeface="Canva Sans Bold"/>
                <a:sym typeface="Canva Sans Bold"/>
              </a:rPr>
              <a:t>Create Binary Landing Outcome Column:</a:t>
            </a:r>
            <a:r>
              <a:rPr lang="en-US" sz="2241">
                <a:solidFill>
                  <a:srgbClr val="000000"/>
                </a:solidFill>
                <a:latin typeface="Canva Sans"/>
                <a:ea typeface="Canva Sans"/>
                <a:cs typeface="Canva Sans"/>
                <a:sym typeface="Canva Sans"/>
              </a:rPr>
              <a:t> Generate a dependent variable labeled Class to indicate landing success.</a:t>
            </a:r>
          </a:p>
          <a:p>
            <a:pPr algn="l" marL="967735" indent="-322578" lvl="2">
              <a:lnSpc>
                <a:spcPts val="3137"/>
              </a:lnSpc>
              <a:buFont typeface="Arial"/>
              <a:buChar char="⚬"/>
            </a:pPr>
            <a:r>
              <a:rPr lang="en-US" sz="2241">
                <a:solidFill>
                  <a:srgbClr val="000000"/>
                </a:solidFill>
                <a:latin typeface="Canva Sans"/>
                <a:ea typeface="Canva Sans"/>
                <a:cs typeface="Canva Sans"/>
                <a:sym typeface="Canva Sans"/>
              </a:rPr>
              <a:t>True Ocean: Successful landing in a designated ocean region.</a:t>
            </a:r>
          </a:p>
          <a:p>
            <a:pPr algn="l" marL="967735" indent="-322578" lvl="2">
              <a:lnSpc>
                <a:spcPts val="3137"/>
              </a:lnSpc>
              <a:buFont typeface="Arial"/>
              <a:buChar char="⚬"/>
            </a:pPr>
            <a:r>
              <a:rPr lang="en-US" sz="2241">
                <a:solidFill>
                  <a:srgbClr val="000000"/>
                </a:solidFill>
                <a:latin typeface="Canva Sans"/>
                <a:ea typeface="Canva Sans"/>
                <a:cs typeface="Canva Sans"/>
                <a:sym typeface="Canva Sans"/>
              </a:rPr>
              <a:t>False Ocean: Unsuccessful landing in an ocean region.</a:t>
            </a:r>
          </a:p>
          <a:p>
            <a:pPr algn="l" marL="967735" indent="-322578" lvl="2">
              <a:lnSpc>
                <a:spcPts val="3137"/>
              </a:lnSpc>
              <a:buFont typeface="Arial"/>
              <a:buChar char="⚬"/>
            </a:pPr>
            <a:r>
              <a:rPr lang="en-US" sz="2241">
                <a:solidFill>
                  <a:srgbClr val="000000"/>
                </a:solidFill>
                <a:latin typeface="Canva Sans"/>
                <a:ea typeface="Canva Sans"/>
                <a:cs typeface="Canva Sans"/>
                <a:sym typeface="Canva Sans"/>
              </a:rPr>
              <a:t>True RTLS: Successful landing on a ground pad.</a:t>
            </a:r>
          </a:p>
          <a:p>
            <a:pPr algn="l" marL="967735" indent="-322578" lvl="2">
              <a:lnSpc>
                <a:spcPts val="3137"/>
              </a:lnSpc>
              <a:buFont typeface="Arial"/>
              <a:buChar char="⚬"/>
            </a:pPr>
            <a:r>
              <a:rPr lang="en-US" sz="2241">
                <a:solidFill>
                  <a:srgbClr val="000000"/>
                </a:solidFill>
                <a:latin typeface="Canva Sans"/>
                <a:ea typeface="Canva Sans"/>
                <a:cs typeface="Canva Sans"/>
                <a:sym typeface="Canva Sans"/>
              </a:rPr>
              <a:t>False RTLS: Unsuccessful landing on a ground pad.</a:t>
            </a:r>
          </a:p>
          <a:p>
            <a:pPr algn="l" marL="967735" indent="-322578" lvl="2">
              <a:lnSpc>
                <a:spcPts val="3137"/>
              </a:lnSpc>
              <a:buFont typeface="Arial"/>
              <a:buChar char="⚬"/>
            </a:pPr>
            <a:r>
              <a:rPr lang="en-US" sz="2241">
                <a:solidFill>
                  <a:srgbClr val="000000"/>
                </a:solidFill>
                <a:latin typeface="Canva Sans"/>
                <a:ea typeface="Canva Sans"/>
                <a:cs typeface="Canva Sans"/>
                <a:sym typeface="Canva Sans"/>
              </a:rPr>
              <a:t>True ASDS: Successful landing on a drone ship.</a:t>
            </a:r>
          </a:p>
          <a:p>
            <a:pPr algn="l" marL="967735" indent="-322578" lvl="2">
              <a:lnSpc>
                <a:spcPts val="3137"/>
              </a:lnSpc>
              <a:buFont typeface="Arial"/>
              <a:buChar char="⚬"/>
            </a:pPr>
            <a:r>
              <a:rPr lang="en-US" sz="2241">
                <a:solidFill>
                  <a:srgbClr val="000000"/>
                </a:solidFill>
                <a:latin typeface="Canva Sans"/>
                <a:ea typeface="Canva Sans"/>
                <a:cs typeface="Canva Sans"/>
                <a:sym typeface="Canva Sans"/>
              </a:rPr>
              <a:t>False ASDS: Unsuccessful landing on a drone ship.</a:t>
            </a:r>
          </a:p>
          <a:p>
            <a:pPr algn="l" marL="483868" indent="-241934" lvl="1">
              <a:lnSpc>
                <a:spcPts val="3137"/>
              </a:lnSpc>
              <a:buFont typeface="Arial"/>
              <a:buChar char="•"/>
            </a:pPr>
            <a:r>
              <a:rPr lang="en-US" b="true" sz="2241">
                <a:solidFill>
                  <a:srgbClr val="000000"/>
                </a:solidFill>
                <a:latin typeface="Canva Sans Bold"/>
                <a:ea typeface="Canva Sans Bold"/>
                <a:cs typeface="Canva Sans Bold"/>
                <a:sym typeface="Canva Sans Bold"/>
              </a:rPr>
              <a:t>Convert Outcomes to Binary</a:t>
            </a:r>
            <a:r>
              <a:rPr lang="en-US" sz="2241">
                <a:solidFill>
                  <a:srgbClr val="000000"/>
                </a:solidFill>
                <a:latin typeface="Canva Sans"/>
                <a:ea typeface="Canva Sans"/>
                <a:cs typeface="Canva Sans"/>
                <a:sym typeface="Canva Sans"/>
              </a:rPr>
              <a:t>: Assign 1 for successful outcomes and 0 for unsuccessful ones in the Class column.</a:t>
            </a:r>
          </a:p>
          <a:p>
            <a:pPr algn="l" marL="483868" indent="-241934" lvl="1">
              <a:lnSpc>
                <a:spcPts val="3137"/>
              </a:lnSpc>
              <a:buFont typeface="Arial"/>
              <a:buChar char="•"/>
            </a:pPr>
            <a:r>
              <a:rPr lang="en-US" b="true" sz="2241">
                <a:solidFill>
                  <a:srgbClr val="000000"/>
                </a:solidFill>
                <a:latin typeface="Canva Sans Bold"/>
                <a:ea typeface="Canva Sans Bold"/>
                <a:cs typeface="Canva Sans Bold"/>
                <a:sym typeface="Canva Sans Bold"/>
              </a:rPr>
              <a:t>Export Data to CSV:</a:t>
            </a:r>
            <a:r>
              <a:rPr lang="en-US" sz="2241">
                <a:solidFill>
                  <a:srgbClr val="000000"/>
                </a:solidFill>
                <a:latin typeface="Canva Sans"/>
                <a:ea typeface="Canva Sans"/>
                <a:cs typeface="Canva Sans"/>
                <a:sym typeface="Canva Sans"/>
              </a:rPr>
              <a:t> Save processed data for modeling.</a:t>
            </a:r>
          </a:p>
          <a:p>
            <a:pPr algn="l">
              <a:lnSpc>
                <a:spcPts val="3137"/>
              </a:lnSpc>
            </a:pPr>
          </a:p>
          <a:p>
            <a:pPr algn="l">
              <a:lnSpc>
                <a:spcPts val="3137"/>
              </a:lnSpc>
            </a:pPr>
          </a:p>
          <a:p>
            <a:pPr algn="l">
              <a:lnSpc>
                <a:spcPts val="3137"/>
              </a:lnSpc>
            </a:pPr>
          </a:p>
          <a:p>
            <a:pPr algn="l">
              <a:lnSpc>
                <a:spcPts val="3137"/>
              </a:lnSpc>
            </a:pPr>
          </a:p>
          <a:p>
            <a:pPr algn="l">
              <a:lnSpc>
                <a:spcPts val="3137"/>
              </a:lnSpc>
            </a:pPr>
          </a:p>
        </p:txBody>
      </p:sp>
      <p:sp>
        <p:nvSpPr>
          <p:cNvPr name="TextBox 5" id="5"/>
          <p:cNvSpPr txBox="true"/>
          <p:nvPr/>
        </p:nvSpPr>
        <p:spPr>
          <a:xfrm rot="0">
            <a:off x="433707" y="9599186"/>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5060B"/>
                </a:solidFill>
                <a:latin typeface="Canva Sans"/>
                <a:ea typeface="Canva Sans"/>
                <a:cs typeface="Canva Sans"/>
                <a:sym typeface="Canva Sans"/>
              </a:rPr>
              <a:t>Page 10</a:t>
            </a:r>
          </a:p>
        </p:txBody>
      </p:sp>
      <p:sp>
        <p:nvSpPr>
          <p:cNvPr name="TextBox 6" id="6"/>
          <p:cNvSpPr txBox="true"/>
          <p:nvPr/>
        </p:nvSpPr>
        <p:spPr>
          <a:xfrm rot="0">
            <a:off x="10980427" y="8319150"/>
            <a:ext cx="4019697" cy="1406525"/>
          </a:xfrm>
          <a:prstGeom prst="rect">
            <a:avLst/>
          </a:prstGeom>
        </p:spPr>
        <p:txBody>
          <a:bodyPr anchor="t" rtlCol="false" tIns="0" lIns="0" bIns="0" rIns="0">
            <a:spAutoFit/>
          </a:bodyPr>
          <a:lstStyle/>
          <a:p>
            <a:pPr algn="ctr">
              <a:lnSpc>
                <a:spcPts val="2800"/>
              </a:lnSpc>
              <a:spcBef>
                <a:spcPct val="0"/>
              </a:spcBef>
            </a:pPr>
            <a:r>
              <a:rPr lang="en-US" sz="2000" u="sng">
                <a:solidFill>
                  <a:srgbClr val="004AAD"/>
                </a:solidFill>
                <a:latin typeface="Canva Sans"/>
                <a:ea typeface="Canva Sans"/>
                <a:cs typeface="Canva Sans"/>
                <a:sym typeface="Canva Sans"/>
              </a:rPr>
              <a:t>https://github.com/Ankedefrey/Data-Science-Capstone-Project/blob/main/labs-jupyter-spacex-Data%20wrangling.ipynb</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782531" y="2934268"/>
            <a:ext cx="8229600" cy="8229600"/>
          </a:xfrm>
          <a:custGeom>
            <a:avLst/>
            <a:gdLst/>
            <a:ahLst/>
            <a:cxnLst/>
            <a:rect r="r" b="b" t="t" l="l"/>
            <a:pathLst>
              <a:path h="8229600" w="8229600">
                <a:moveTo>
                  <a:pt x="0" y="0"/>
                </a:moveTo>
                <a:lnTo>
                  <a:pt x="8229600" y="0"/>
                </a:lnTo>
                <a:lnTo>
                  <a:pt x="8229600" y="8229600"/>
                </a:lnTo>
                <a:lnTo>
                  <a:pt x="0" y="8229600"/>
                </a:lnTo>
                <a:lnTo>
                  <a:pt x="0" y="0"/>
                </a:lnTo>
                <a:close/>
              </a:path>
            </a:pathLst>
          </a:custGeom>
          <a:blipFill>
            <a:blip r:embed="rId2"/>
            <a:stretch>
              <a:fillRect l="0" t="0" r="0" b="0"/>
            </a:stretch>
          </a:blipFill>
        </p:spPr>
      </p:sp>
      <p:sp>
        <p:nvSpPr>
          <p:cNvPr name="TextBox 3" id="3"/>
          <p:cNvSpPr txBox="true"/>
          <p:nvPr/>
        </p:nvSpPr>
        <p:spPr>
          <a:xfrm rot="0">
            <a:off x="1028700" y="610814"/>
            <a:ext cx="10868630" cy="1720849"/>
          </a:xfrm>
          <a:prstGeom prst="rect">
            <a:avLst/>
          </a:prstGeom>
        </p:spPr>
        <p:txBody>
          <a:bodyPr anchor="t" rtlCol="false" tIns="0" lIns="0" bIns="0" rIns="0">
            <a:spAutoFit/>
          </a:bodyPr>
          <a:lstStyle/>
          <a:p>
            <a:pPr algn="l">
              <a:lnSpc>
                <a:spcPts val="4900"/>
              </a:lnSpc>
            </a:pPr>
            <a:r>
              <a:rPr lang="en-US" sz="3500">
                <a:solidFill>
                  <a:srgbClr val="05060B"/>
                </a:solidFill>
                <a:latin typeface="Anton"/>
                <a:ea typeface="Anton"/>
                <a:cs typeface="Anton"/>
                <a:sym typeface="Anton"/>
              </a:rPr>
              <a:t>METHODOLOGY</a:t>
            </a:r>
          </a:p>
          <a:p>
            <a:pPr algn="l">
              <a:lnSpc>
                <a:spcPts val="9099"/>
              </a:lnSpc>
              <a:spcBef>
                <a:spcPct val="0"/>
              </a:spcBef>
            </a:pPr>
            <a:r>
              <a:rPr lang="en-US" sz="6499">
                <a:solidFill>
                  <a:srgbClr val="05060B"/>
                </a:solidFill>
                <a:latin typeface="Anton"/>
                <a:ea typeface="Anton"/>
                <a:cs typeface="Anton"/>
                <a:sym typeface="Anton"/>
              </a:rPr>
              <a:t>EDA WITH </a:t>
            </a:r>
            <a:r>
              <a:rPr lang="en-US" sz="6499">
                <a:solidFill>
                  <a:srgbClr val="B16D44"/>
                </a:solidFill>
                <a:latin typeface="Anton"/>
                <a:ea typeface="Anton"/>
                <a:cs typeface="Anton"/>
                <a:sym typeface="Anton"/>
              </a:rPr>
              <a:t>DATA VISUALIZATION</a:t>
            </a:r>
          </a:p>
        </p:txBody>
      </p:sp>
      <p:sp>
        <p:nvSpPr>
          <p:cNvPr name="TextBox 4" id="4"/>
          <p:cNvSpPr txBox="true"/>
          <p:nvPr/>
        </p:nvSpPr>
        <p:spPr>
          <a:xfrm rot="0">
            <a:off x="7812591" y="2886643"/>
            <a:ext cx="5285742" cy="6629624"/>
          </a:xfrm>
          <a:prstGeom prst="rect">
            <a:avLst/>
          </a:prstGeom>
        </p:spPr>
        <p:txBody>
          <a:bodyPr anchor="t" rtlCol="false" tIns="0" lIns="0" bIns="0" rIns="0">
            <a:spAutoFit/>
          </a:bodyPr>
          <a:lstStyle/>
          <a:p>
            <a:pPr algn="l">
              <a:lnSpc>
                <a:spcPts val="3137"/>
              </a:lnSpc>
            </a:pPr>
            <a:r>
              <a:rPr lang="en-US" sz="2241" u="sng" b="true">
                <a:solidFill>
                  <a:srgbClr val="000000"/>
                </a:solidFill>
                <a:latin typeface="Canva Sans Bold"/>
                <a:ea typeface="Canva Sans Bold"/>
                <a:cs typeface="Canva Sans Bold"/>
                <a:sym typeface="Canva Sans Bold"/>
              </a:rPr>
              <a:t>Scatter plot</a:t>
            </a:r>
          </a:p>
          <a:p>
            <a:pPr algn="l" marL="483868" indent="-241934" lvl="1">
              <a:lnSpc>
                <a:spcPts val="3137"/>
              </a:lnSpc>
              <a:buFont typeface="Arial"/>
              <a:buChar char="•"/>
            </a:pPr>
            <a:r>
              <a:rPr lang="en-US" sz="2241">
                <a:solidFill>
                  <a:srgbClr val="000000"/>
                </a:solidFill>
                <a:latin typeface="Canva Sans"/>
                <a:ea typeface="Canva Sans"/>
                <a:cs typeface="Canva Sans"/>
                <a:sym typeface="Canva Sans"/>
              </a:rPr>
              <a:t>Flight Number vs Payload Mass</a:t>
            </a:r>
          </a:p>
          <a:p>
            <a:pPr algn="l" marL="483868" indent="-241934" lvl="1">
              <a:lnSpc>
                <a:spcPts val="3137"/>
              </a:lnSpc>
              <a:buFont typeface="Arial"/>
              <a:buChar char="•"/>
            </a:pPr>
            <a:r>
              <a:rPr lang="en-US" sz="2241">
                <a:solidFill>
                  <a:srgbClr val="000000"/>
                </a:solidFill>
                <a:latin typeface="Canva Sans"/>
                <a:ea typeface="Canva Sans"/>
                <a:cs typeface="Canva Sans"/>
                <a:sym typeface="Canva Sans"/>
              </a:rPr>
              <a:t>Flight Number and Launch Site</a:t>
            </a:r>
          </a:p>
          <a:p>
            <a:pPr algn="l" marL="483868" indent="-241934" lvl="1">
              <a:lnSpc>
                <a:spcPts val="3137"/>
              </a:lnSpc>
              <a:buFont typeface="Arial"/>
              <a:buChar char="•"/>
            </a:pPr>
            <a:r>
              <a:rPr lang="en-US" sz="2241">
                <a:solidFill>
                  <a:srgbClr val="000000"/>
                </a:solidFill>
                <a:latin typeface="Canva Sans"/>
                <a:ea typeface="Canva Sans"/>
                <a:cs typeface="Canva Sans"/>
                <a:sym typeface="Canva Sans"/>
              </a:rPr>
              <a:t>Payload Mass and Orbit type</a:t>
            </a:r>
          </a:p>
          <a:p>
            <a:pPr algn="l" marL="483868" indent="-241934" lvl="1">
              <a:lnSpc>
                <a:spcPts val="3137"/>
              </a:lnSpc>
              <a:buFont typeface="Arial"/>
              <a:buChar char="•"/>
            </a:pPr>
            <a:r>
              <a:rPr lang="en-US" sz="2241">
                <a:solidFill>
                  <a:srgbClr val="000000"/>
                </a:solidFill>
                <a:latin typeface="Canva Sans"/>
                <a:ea typeface="Canva Sans"/>
                <a:cs typeface="Canva Sans"/>
                <a:sym typeface="Canva Sans"/>
              </a:rPr>
              <a:t>Flight Number and Orbit type</a:t>
            </a:r>
          </a:p>
          <a:p>
            <a:pPr algn="l">
              <a:lnSpc>
                <a:spcPts val="3137"/>
              </a:lnSpc>
            </a:pPr>
          </a:p>
          <a:p>
            <a:pPr algn="l">
              <a:lnSpc>
                <a:spcPts val="3137"/>
              </a:lnSpc>
            </a:pPr>
          </a:p>
          <a:p>
            <a:pPr algn="l">
              <a:lnSpc>
                <a:spcPts val="3137"/>
              </a:lnSpc>
            </a:pPr>
            <a:r>
              <a:rPr lang="en-US" sz="2241" u="sng" b="true">
                <a:solidFill>
                  <a:srgbClr val="000000"/>
                </a:solidFill>
                <a:latin typeface="Canva Sans Bold"/>
                <a:ea typeface="Canva Sans Bold"/>
                <a:cs typeface="Canva Sans Bold"/>
                <a:sym typeface="Canva Sans Bold"/>
              </a:rPr>
              <a:t>Bar chart</a:t>
            </a:r>
          </a:p>
          <a:p>
            <a:pPr algn="l" marL="483868" indent="-241934" lvl="1">
              <a:lnSpc>
                <a:spcPts val="3137"/>
              </a:lnSpc>
              <a:buFont typeface="Arial"/>
              <a:buChar char="•"/>
            </a:pPr>
            <a:r>
              <a:rPr lang="en-US" sz="2241">
                <a:solidFill>
                  <a:srgbClr val="000000"/>
                </a:solidFill>
                <a:latin typeface="Canva Sans"/>
                <a:ea typeface="Canva Sans"/>
                <a:cs typeface="Canva Sans"/>
                <a:sym typeface="Canva Sans"/>
              </a:rPr>
              <a:t>Success rate of each Orbit type</a:t>
            </a:r>
          </a:p>
          <a:p>
            <a:pPr algn="l">
              <a:lnSpc>
                <a:spcPts val="3137"/>
              </a:lnSpc>
            </a:pPr>
          </a:p>
          <a:p>
            <a:pPr algn="l">
              <a:lnSpc>
                <a:spcPts val="3137"/>
              </a:lnSpc>
            </a:pPr>
          </a:p>
          <a:p>
            <a:pPr algn="l">
              <a:lnSpc>
                <a:spcPts val="3137"/>
              </a:lnSpc>
            </a:pPr>
          </a:p>
          <a:p>
            <a:pPr algn="l">
              <a:lnSpc>
                <a:spcPts val="3137"/>
              </a:lnSpc>
            </a:pPr>
            <a:r>
              <a:rPr lang="en-US" sz="2241" u="sng" b="true">
                <a:solidFill>
                  <a:srgbClr val="000000"/>
                </a:solidFill>
                <a:latin typeface="Canva Sans Bold"/>
                <a:ea typeface="Canva Sans Bold"/>
                <a:cs typeface="Canva Sans Bold"/>
                <a:sym typeface="Canva Sans Bold"/>
              </a:rPr>
              <a:t>Line chart</a:t>
            </a:r>
          </a:p>
          <a:p>
            <a:pPr algn="l" marL="483868" indent="-241934" lvl="1">
              <a:lnSpc>
                <a:spcPts val="3137"/>
              </a:lnSpc>
              <a:buFont typeface="Arial"/>
              <a:buChar char="•"/>
            </a:pPr>
            <a:r>
              <a:rPr lang="en-US" sz="2241">
                <a:solidFill>
                  <a:srgbClr val="000000"/>
                </a:solidFill>
                <a:latin typeface="Canva Sans"/>
                <a:ea typeface="Canva Sans"/>
                <a:cs typeface="Canva Sans"/>
                <a:sym typeface="Canva Sans"/>
              </a:rPr>
              <a:t>Launch success yearly trend</a:t>
            </a:r>
          </a:p>
          <a:p>
            <a:pPr algn="l">
              <a:lnSpc>
                <a:spcPts val="3137"/>
              </a:lnSpc>
            </a:pPr>
          </a:p>
          <a:p>
            <a:pPr algn="l">
              <a:lnSpc>
                <a:spcPts val="3137"/>
              </a:lnSpc>
            </a:pPr>
          </a:p>
          <a:p>
            <a:pPr algn="l">
              <a:lnSpc>
                <a:spcPts val="3137"/>
              </a:lnSpc>
            </a:pPr>
          </a:p>
        </p:txBody>
      </p:sp>
      <p:sp>
        <p:nvSpPr>
          <p:cNvPr name="TextBox 5" id="5"/>
          <p:cNvSpPr txBox="true"/>
          <p:nvPr/>
        </p:nvSpPr>
        <p:spPr>
          <a:xfrm rot="0">
            <a:off x="433707" y="9599186"/>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5060B"/>
                </a:solidFill>
                <a:latin typeface="Canva Sans"/>
                <a:ea typeface="Canva Sans"/>
                <a:cs typeface="Canva Sans"/>
                <a:sym typeface="Canva Sans"/>
              </a:rPr>
              <a:t>Page 11</a:t>
            </a:r>
          </a:p>
        </p:txBody>
      </p:sp>
      <p:sp>
        <p:nvSpPr>
          <p:cNvPr name="TextBox 6" id="6"/>
          <p:cNvSpPr txBox="true"/>
          <p:nvPr/>
        </p:nvSpPr>
        <p:spPr>
          <a:xfrm rot="0">
            <a:off x="13696661" y="1604588"/>
            <a:ext cx="4019697" cy="1406525"/>
          </a:xfrm>
          <a:prstGeom prst="rect">
            <a:avLst/>
          </a:prstGeom>
        </p:spPr>
        <p:txBody>
          <a:bodyPr anchor="t" rtlCol="false" tIns="0" lIns="0" bIns="0" rIns="0">
            <a:spAutoFit/>
          </a:bodyPr>
          <a:lstStyle/>
          <a:p>
            <a:pPr algn="ctr">
              <a:lnSpc>
                <a:spcPts val="2800"/>
              </a:lnSpc>
              <a:spcBef>
                <a:spcPct val="0"/>
              </a:spcBef>
            </a:pPr>
            <a:r>
              <a:rPr lang="en-US" sz="2000" u="sng">
                <a:solidFill>
                  <a:srgbClr val="004AAD"/>
                </a:solidFill>
                <a:latin typeface="Canva Sans"/>
                <a:ea typeface="Canva Sans"/>
                <a:cs typeface="Canva Sans"/>
                <a:sym typeface="Canva Sans"/>
              </a:rPr>
              <a:t>https://github.com/Ankedefrey/Data-Science-Capstone-Project/blob/main/edadataviz.ipynb</a:t>
            </a:r>
          </a:p>
        </p:txBody>
      </p:sp>
      <p:sp>
        <p:nvSpPr>
          <p:cNvPr name="TextBox 7" id="7"/>
          <p:cNvSpPr txBox="true"/>
          <p:nvPr/>
        </p:nvSpPr>
        <p:spPr>
          <a:xfrm rot="0">
            <a:off x="1028700" y="2886643"/>
            <a:ext cx="4396428" cy="6239099"/>
          </a:xfrm>
          <a:prstGeom prst="rect">
            <a:avLst/>
          </a:prstGeom>
        </p:spPr>
        <p:txBody>
          <a:bodyPr anchor="t" rtlCol="false" tIns="0" lIns="0" bIns="0" rIns="0">
            <a:spAutoFit/>
          </a:bodyPr>
          <a:lstStyle/>
          <a:p>
            <a:pPr algn="l">
              <a:lnSpc>
                <a:spcPts val="3137"/>
              </a:lnSpc>
            </a:pPr>
            <a:r>
              <a:rPr lang="en-US" sz="2241" u="sng" b="true">
                <a:solidFill>
                  <a:srgbClr val="000000"/>
                </a:solidFill>
                <a:latin typeface="Canva Sans Bold"/>
                <a:ea typeface="Canva Sans Bold"/>
                <a:cs typeface="Canva Sans Bold"/>
                <a:sym typeface="Canva Sans Bold"/>
              </a:rPr>
              <a:t>Scatter plot</a:t>
            </a:r>
          </a:p>
          <a:p>
            <a:pPr algn="l">
              <a:lnSpc>
                <a:spcPts val="3137"/>
              </a:lnSpc>
            </a:pPr>
            <a:r>
              <a:rPr lang="en-US" sz="2241">
                <a:solidFill>
                  <a:srgbClr val="000000"/>
                </a:solidFill>
                <a:latin typeface="Canva Sans"/>
                <a:ea typeface="Canva Sans"/>
                <a:cs typeface="Canva Sans"/>
                <a:sym typeface="Canva Sans"/>
              </a:rPr>
              <a:t>Shows relationships and trends between twee variables (eg. flight number vs payload mass, launch site, orbit type or payload mass vs orbit type.</a:t>
            </a:r>
          </a:p>
          <a:p>
            <a:pPr algn="l">
              <a:lnSpc>
                <a:spcPts val="3137"/>
              </a:lnSpc>
            </a:pPr>
          </a:p>
          <a:p>
            <a:pPr algn="l">
              <a:lnSpc>
                <a:spcPts val="3137"/>
              </a:lnSpc>
            </a:pPr>
            <a:r>
              <a:rPr lang="en-US" sz="2241" u="sng" b="true">
                <a:solidFill>
                  <a:srgbClr val="000000"/>
                </a:solidFill>
                <a:latin typeface="Canva Sans Bold"/>
                <a:ea typeface="Canva Sans Bold"/>
                <a:cs typeface="Canva Sans Bold"/>
                <a:sym typeface="Canva Sans Bold"/>
              </a:rPr>
              <a:t>Bar chart</a:t>
            </a:r>
          </a:p>
          <a:p>
            <a:pPr algn="l">
              <a:lnSpc>
                <a:spcPts val="3137"/>
              </a:lnSpc>
            </a:pPr>
            <a:r>
              <a:rPr lang="en-US" sz="2241">
                <a:solidFill>
                  <a:srgbClr val="000000"/>
                </a:solidFill>
                <a:latin typeface="Canva Sans"/>
                <a:ea typeface="Canva Sans"/>
                <a:cs typeface="Canva Sans"/>
                <a:sym typeface="Canva Sans"/>
              </a:rPr>
              <a:t>Compares categorical data, such as success rates for each orbit type.</a:t>
            </a:r>
          </a:p>
          <a:p>
            <a:pPr algn="l">
              <a:lnSpc>
                <a:spcPts val="3137"/>
              </a:lnSpc>
            </a:pPr>
          </a:p>
          <a:p>
            <a:pPr algn="l">
              <a:lnSpc>
                <a:spcPts val="3137"/>
              </a:lnSpc>
            </a:pPr>
            <a:r>
              <a:rPr lang="en-US" sz="2241" u="sng" b="true">
                <a:solidFill>
                  <a:srgbClr val="000000"/>
                </a:solidFill>
                <a:latin typeface="Canva Sans Bold"/>
                <a:ea typeface="Canva Sans Bold"/>
                <a:cs typeface="Canva Sans Bold"/>
                <a:sym typeface="Canva Sans Bold"/>
              </a:rPr>
              <a:t>Line chart</a:t>
            </a:r>
          </a:p>
          <a:p>
            <a:pPr algn="l">
              <a:lnSpc>
                <a:spcPts val="3137"/>
              </a:lnSpc>
            </a:pPr>
            <a:r>
              <a:rPr lang="en-US" sz="2241">
                <a:solidFill>
                  <a:srgbClr val="000000"/>
                </a:solidFill>
                <a:latin typeface="Canva Sans"/>
                <a:ea typeface="Canva Sans"/>
                <a:cs typeface="Canva Sans"/>
                <a:sym typeface="Canva Sans"/>
              </a:rPr>
              <a:t>Tracks changes over time, like the yearly trend of launch success.</a:t>
            </a:r>
          </a:p>
        </p:txBody>
      </p:sp>
      <p:sp>
        <p:nvSpPr>
          <p:cNvPr name="AutoShape 8" id="8"/>
          <p:cNvSpPr/>
          <p:nvPr/>
        </p:nvSpPr>
        <p:spPr>
          <a:xfrm>
            <a:off x="5425128" y="4060119"/>
            <a:ext cx="2044675" cy="0"/>
          </a:xfrm>
          <a:prstGeom prst="line">
            <a:avLst/>
          </a:prstGeom>
          <a:ln cap="flat" w="57150">
            <a:solidFill>
              <a:srgbClr val="B16D44"/>
            </a:solidFill>
            <a:prstDash val="solid"/>
            <a:headEnd type="none" len="sm" w="sm"/>
            <a:tailEnd type="arrow" len="sm" w="med"/>
          </a:ln>
        </p:spPr>
      </p:sp>
      <p:sp>
        <p:nvSpPr>
          <p:cNvPr name="AutoShape 9" id="9"/>
          <p:cNvSpPr/>
          <p:nvPr/>
        </p:nvSpPr>
        <p:spPr>
          <a:xfrm>
            <a:off x="5425128" y="6253843"/>
            <a:ext cx="2044675" cy="0"/>
          </a:xfrm>
          <a:prstGeom prst="line">
            <a:avLst/>
          </a:prstGeom>
          <a:ln cap="flat" w="57150">
            <a:solidFill>
              <a:srgbClr val="B16D44"/>
            </a:solidFill>
            <a:prstDash val="solid"/>
            <a:headEnd type="none" len="sm" w="sm"/>
            <a:tailEnd type="arrow" len="sm" w="med"/>
          </a:ln>
        </p:spPr>
      </p:sp>
      <p:sp>
        <p:nvSpPr>
          <p:cNvPr name="AutoShape 10" id="10"/>
          <p:cNvSpPr/>
          <p:nvPr/>
        </p:nvSpPr>
        <p:spPr>
          <a:xfrm>
            <a:off x="5425128" y="8185263"/>
            <a:ext cx="2044675" cy="0"/>
          </a:xfrm>
          <a:prstGeom prst="line">
            <a:avLst/>
          </a:prstGeom>
          <a:ln cap="flat" w="57150">
            <a:solidFill>
              <a:srgbClr val="B16D44"/>
            </a:solidFill>
            <a:prstDash val="solid"/>
            <a:headEnd type="none" len="sm" w="sm"/>
            <a:tailEnd type="arrow" len="sm" w="med"/>
          </a:ln>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782531" y="2934268"/>
            <a:ext cx="8229600" cy="8229600"/>
          </a:xfrm>
          <a:custGeom>
            <a:avLst/>
            <a:gdLst/>
            <a:ahLst/>
            <a:cxnLst/>
            <a:rect r="r" b="b" t="t" l="l"/>
            <a:pathLst>
              <a:path h="8229600" w="8229600">
                <a:moveTo>
                  <a:pt x="0" y="0"/>
                </a:moveTo>
                <a:lnTo>
                  <a:pt x="8229600" y="0"/>
                </a:lnTo>
                <a:lnTo>
                  <a:pt x="8229600" y="8229600"/>
                </a:lnTo>
                <a:lnTo>
                  <a:pt x="0" y="8229600"/>
                </a:lnTo>
                <a:lnTo>
                  <a:pt x="0" y="0"/>
                </a:lnTo>
                <a:close/>
              </a:path>
            </a:pathLst>
          </a:custGeom>
          <a:blipFill>
            <a:blip r:embed="rId2"/>
            <a:stretch>
              <a:fillRect l="0" t="0" r="0" b="0"/>
            </a:stretch>
          </a:blipFill>
        </p:spPr>
      </p:sp>
      <p:sp>
        <p:nvSpPr>
          <p:cNvPr name="TextBox 3" id="3"/>
          <p:cNvSpPr txBox="true"/>
          <p:nvPr/>
        </p:nvSpPr>
        <p:spPr>
          <a:xfrm rot="0">
            <a:off x="1028700" y="509463"/>
            <a:ext cx="10868630" cy="1720849"/>
          </a:xfrm>
          <a:prstGeom prst="rect">
            <a:avLst/>
          </a:prstGeom>
        </p:spPr>
        <p:txBody>
          <a:bodyPr anchor="t" rtlCol="false" tIns="0" lIns="0" bIns="0" rIns="0">
            <a:spAutoFit/>
          </a:bodyPr>
          <a:lstStyle/>
          <a:p>
            <a:pPr algn="l">
              <a:lnSpc>
                <a:spcPts val="4900"/>
              </a:lnSpc>
            </a:pPr>
            <a:r>
              <a:rPr lang="en-US" sz="3500">
                <a:solidFill>
                  <a:srgbClr val="05060B"/>
                </a:solidFill>
                <a:latin typeface="Anton"/>
                <a:ea typeface="Anton"/>
                <a:cs typeface="Anton"/>
                <a:sym typeface="Anton"/>
              </a:rPr>
              <a:t>METHODOLOGY</a:t>
            </a:r>
          </a:p>
          <a:p>
            <a:pPr algn="l">
              <a:lnSpc>
                <a:spcPts val="9099"/>
              </a:lnSpc>
              <a:spcBef>
                <a:spcPct val="0"/>
              </a:spcBef>
            </a:pPr>
            <a:r>
              <a:rPr lang="en-US" sz="6499">
                <a:solidFill>
                  <a:srgbClr val="05060B"/>
                </a:solidFill>
                <a:latin typeface="Anton"/>
                <a:ea typeface="Anton"/>
                <a:cs typeface="Anton"/>
                <a:sym typeface="Anton"/>
              </a:rPr>
              <a:t>EDA WITH </a:t>
            </a:r>
            <a:r>
              <a:rPr lang="en-US" sz="6499">
                <a:solidFill>
                  <a:srgbClr val="B16D44"/>
                </a:solidFill>
                <a:latin typeface="Anton"/>
                <a:ea typeface="Anton"/>
                <a:cs typeface="Anton"/>
                <a:sym typeface="Anton"/>
              </a:rPr>
              <a:t>SQL</a:t>
            </a:r>
          </a:p>
        </p:txBody>
      </p:sp>
      <p:sp>
        <p:nvSpPr>
          <p:cNvPr name="TextBox 4" id="4"/>
          <p:cNvSpPr txBox="true"/>
          <p:nvPr/>
        </p:nvSpPr>
        <p:spPr>
          <a:xfrm rot="0">
            <a:off x="878373" y="2630913"/>
            <a:ext cx="11904158" cy="6239099"/>
          </a:xfrm>
          <a:prstGeom prst="rect">
            <a:avLst/>
          </a:prstGeom>
        </p:spPr>
        <p:txBody>
          <a:bodyPr anchor="t" rtlCol="false" tIns="0" lIns="0" bIns="0" rIns="0">
            <a:spAutoFit/>
          </a:bodyPr>
          <a:lstStyle/>
          <a:p>
            <a:pPr algn="l">
              <a:lnSpc>
                <a:spcPts val="3137"/>
              </a:lnSpc>
            </a:pPr>
            <a:r>
              <a:rPr lang="en-US" sz="2241" u="sng" b="true">
                <a:solidFill>
                  <a:srgbClr val="000000"/>
                </a:solidFill>
                <a:latin typeface="Canva Sans Bold"/>
                <a:ea typeface="Canva Sans Bold"/>
                <a:cs typeface="Canva Sans Bold"/>
                <a:sym typeface="Canva Sans Bold"/>
              </a:rPr>
              <a:t>Queries</a:t>
            </a:r>
          </a:p>
          <a:p>
            <a:pPr algn="l" marL="483868" indent="-241934" lvl="1">
              <a:lnSpc>
                <a:spcPts val="3137"/>
              </a:lnSpc>
              <a:buFont typeface="Arial"/>
              <a:buChar char="•"/>
            </a:pPr>
            <a:r>
              <a:rPr lang="en-US" sz="2241">
                <a:solidFill>
                  <a:srgbClr val="000000"/>
                </a:solidFill>
                <a:latin typeface="Canva Sans"/>
                <a:ea typeface="Canva Sans"/>
                <a:cs typeface="Canva Sans"/>
                <a:sym typeface="Canva Sans"/>
              </a:rPr>
              <a:t>Display unique launch sites in the space mission</a:t>
            </a:r>
          </a:p>
          <a:p>
            <a:pPr algn="l" marL="483868" indent="-241934" lvl="1">
              <a:lnSpc>
                <a:spcPts val="3137"/>
              </a:lnSpc>
              <a:buFont typeface="Arial"/>
              <a:buChar char="•"/>
            </a:pPr>
            <a:r>
              <a:rPr lang="en-US" sz="2241">
                <a:solidFill>
                  <a:srgbClr val="000000"/>
                </a:solidFill>
                <a:latin typeface="Canva Sans"/>
                <a:ea typeface="Canva Sans"/>
                <a:cs typeface="Canva Sans"/>
                <a:sym typeface="Canva Sans"/>
              </a:rPr>
              <a:t>Display 5 records where launch sites begin with ‘CCA’</a:t>
            </a:r>
          </a:p>
          <a:p>
            <a:pPr algn="l" marL="483868" indent="-241934" lvl="1">
              <a:lnSpc>
                <a:spcPts val="3137"/>
              </a:lnSpc>
              <a:buFont typeface="Arial"/>
              <a:buChar char="•"/>
            </a:pPr>
            <a:r>
              <a:rPr lang="en-US" sz="2241">
                <a:solidFill>
                  <a:srgbClr val="000000"/>
                </a:solidFill>
                <a:latin typeface="Canva Sans"/>
                <a:ea typeface="Canva Sans"/>
                <a:cs typeface="Canva Sans"/>
                <a:sym typeface="Canva Sans"/>
              </a:rPr>
              <a:t>Calculate the total payload mass carries by boosters launched by NASA (CRS)</a:t>
            </a:r>
          </a:p>
          <a:p>
            <a:pPr algn="l" marL="483868" indent="-241934" lvl="1">
              <a:lnSpc>
                <a:spcPts val="3137"/>
              </a:lnSpc>
              <a:buFont typeface="Arial"/>
              <a:buChar char="•"/>
            </a:pPr>
            <a:r>
              <a:rPr lang="en-US" sz="2241">
                <a:solidFill>
                  <a:srgbClr val="000000"/>
                </a:solidFill>
                <a:latin typeface="Canva Sans"/>
                <a:ea typeface="Canva Sans"/>
                <a:cs typeface="Canva Sans"/>
                <a:sym typeface="Canva Sans"/>
              </a:rPr>
              <a:t>Calculate the averge payload mass carried by booster version F9 v1.1</a:t>
            </a:r>
          </a:p>
          <a:p>
            <a:pPr algn="l" marL="483868" indent="-241934" lvl="1">
              <a:lnSpc>
                <a:spcPts val="3137"/>
              </a:lnSpc>
              <a:buFont typeface="Arial"/>
              <a:buChar char="•"/>
            </a:pPr>
            <a:r>
              <a:rPr lang="en-US" sz="2241">
                <a:solidFill>
                  <a:srgbClr val="000000"/>
                </a:solidFill>
                <a:latin typeface="Canva Sans"/>
                <a:ea typeface="Canva Sans"/>
                <a:cs typeface="Canva Sans"/>
                <a:sym typeface="Canva Sans"/>
              </a:rPr>
              <a:t>List the date of the first successful landing outcome in ground pad</a:t>
            </a:r>
          </a:p>
          <a:p>
            <a:pPr algn="l" marL="483868" indent="-241934" lvl="1">
              <a:lnSpc>
                <a:spcPts val="3137"/>
              </a:lnSpc>
              <a:buFont typeface="Arial"/>
              <a:buChar char="•"/>
            </a:pPr>
            <a:r>
              <a:rPr lang="en-US" sz="2241">
                <a:solidFill>
                  <a:srgbClr val="000000"/>
                </a:solidFill>
                <a:latin typeface="Canva Sans"/>
                <a:ea typeface="Canva Sans"/>
                <a:cs typeface="Canva Sans"/>
                <a:sym typeface="Canva Sans"/>
              </a:rPr>
              <a:t>List boosters with successful drone ship landing and payload mass between 4000 and 6000</a:t>
            </a:r>
          </a:p>
          <a:p>
            <a:pPr algn="l" marL="483868" indent="-241934" lvl="1">
              <a:lnSpc>
                <a:spcPts val="3137"/>
              </a:lnSpc>
              <a:buFont typeface="Arial"/>
              <a:buChar char="•"/>
            </a:pPr>
            <a:r>
              <a:rPr lang="en-US" sz="2241">
                <a:solidFill>
                  <a:srgbClr val="000000"/>
                </a:solidFill>
                <a:latin typeface="Canva Sans"/>
                <a:ea typeface="Canva Sans"/>
                <a:cs typeface="Canva Sans"/>
                <a:sym typeface="Canva Sans"/>
              </a:rPr>
              <a:t>List the total number of successful and failed mission outcomes</a:t>
            </a:r>
          </a:p>
          <a:p>
            <a:pPr algn="l" marL="483868" indent="-241934" lvl="1">
              <a:lnSpc>
                <a:spcPts val="3137"/>
              </a:lnSpc>
              <a:buFont typeface="Arial"/>
              <a:buChar char="•"/>
            </a:pPr>
            <a:r>
              <a:rPr lang="en-US" sz="2241">
                <a:solidFill>
                  <a:srgbClr val="000000"/>
                </a:solidFill>
                <a:latin typeface="Canva Sans"/>
                <a:ea typeface="Canva Sans"/>
                <a:cs typeface="Canva Sans"/>
                <a:sym typeface="Canva Sans"/>
              </a:rPr>
              <a:t>List boosters carrying the maximum payload mass using a subquery</a:t>
            </a:r>
          </a:p>
          <a:p>
            <a:pPr algn="l" marL="483868" indent="-241934" lvl="1">
              <a:lnSpc>
                <a:spcPts val="3137"/>
              </a:lnSpc>
              <a:buFont typeface="Arial"/>
              <a:buChar char="•"/>
            </a:pPr>
            <a:r>
              <a:rPr lang="en-US" sz="2241">
                <a:solidFill>
                  <a:srgbClr val="000000"/>
                </a:solidFill>
                <a:latin typeface="Canva Sans"/>
                <a:ea typeface="Canva Sans"/>
                <a:cs typeface="Canva Sans"/>
                <a:sym typeface="Canva Sans"/>
              </a:rPr>
              <a:t>Display failure landing outcomes in drone ship for the ear 2015, with month names</a:t>
            </a:r>
          </a:p>
          <a:p>
            <a:pPr algn="l" marL="483868" indent="-241934" lvl="1">
              <a:lnSpc>
                <a:spcPts val="3137"/>
              </a:lnSpc>
              <a:buFont typeface="Arial"/>
              <a:buChar char="•"/>
            </a:pPr>
            <a:r>
              <a:rPr lang="en-US" sz="2241">
                <a:solidFill>
                  <a:srgbClr val="000000"/>
                </a:solidFill>
                <a:latin typeface="Canva Sans"/>
                <a:ea typeface="Canva Sans"/>
                <a:cs typeface="Canva Sans"/>
                <a:sym typeface="Canva Sans"/>
              </a:rPr>
              <a:t>Ranked landing outcomes by count between June4, 2010, and March 20, 2017, in descending order</a:t>
            </a:r>
          </a:p>
          <a:p>
            <a:pPr algn="l">
              <a:lnSpc>
                <a:spcPts val="3137"/>
              </a:lnSpc>
            </a:pPr>
          </a:p>
          <a:p>
            <a:pPr algn="l">
              <a:lnSpc>
                <a:spcPts val="3137"/>
              </a:lnSpc>
            </a:pPr>
          </a:p>
          <a:p>
            <a:pPr algn="l">
              <a:lnSpc>
                <a:spcPts val="3137"/>
              </a:lnSpc>
            </a:pPr>
          </a:p>
        </p:txBody>
      </p:sp>
      <p:sp>
        <p:nvSpPr>
          <p:cNvPr name="TextBox 5" id="5"/>
          <p:cNvSpPr txBox="true"/>
          <p:nvPr/>
        </p:nvSpPr>
        <p:spPr>
          <a:xfrm rot="0">
            <a:off x="433707" y="9599186"/>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5060B"/>
                </a:solidFill>
                <a:latin typeface="Canva Sans"/>
                <a:ea typeface="Canva Sans"/>
                <a:cs typeface="Canva Sans"/>
                <a:sym typeface="Canva Sans"/>
              </a:rPr>
              <a:t>Page 12</a:t>
            </a:r>
          </a:p>
        </p:txBody>
      </p:sp>
      <p:sp>
        <p:nvSpPr>
          <p:cNvPr name="TextBox 6" id="6"/>
          <p:cNvSpPr txBox="true"/>
          <p:nvPr/>
        </p:nvSpPr>
        <p:spPr>
          <a:xfrm rot="0">
            <a:off x="11130758" y="7966725"/>
            <a:ext cx="4019697" cy="1758950"/>
          </a:xfrm>
          <a:prstGeom prst="rect">
            <a:avLst/>
          </a:prstGeom>
        </p:spPr>
        <p:txBody>
          <a:bodyPr anchor="t" rtlCol="false" tIns="0" lIns="0" bIns="0" rIns="0">
            <a:spAutoFit/>
          </a:bodyPr>
          <a:lstStyle/>
          <a:p>
            <a:pPr algn="ctr">
              <a:lnSpc>
                <a:spcPts val="2800"/>
              </a:lnSpc>
              <a:spcBef>
                <a:spcPct val="0"/>
              </a:spcBef>
            </a:pPr>
            <a:r>
              <a:rPr lang="en-US" sz="2000" u="sng">
                <a:solidFill>
                  <a:srgbClr val="004AAD"/>
                </a:solidFill>
                <a:latin typeface="Canva Sans"/>
                <a:ea typeface="Canva Sans"/>
                <a:cs typeface="Canva Sans"/>
                <a:sym typeface="Canva Sans"/>
              </a:rPr>
              <a:t>https://github.com/Ankedefrey/Data-Science-Capstone-Project/blob/main/jupyter-labs-eda-sql-coursera_sqllite%20(1).ipynb</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782531" y="2934268"/>
            <a:ext cx="8229600" cy="8229600"/>
          </a:xfrm>
          <a:custGeom>
            <a:avLst/>
            <a:gdLst/>
            <a:ahLst/>
            <a:cxnLst/>
            <a:rect r="r" b="b" t="t" l="l"/>
            <a:pathLst>
              <a:path h="8229600" w="8229600">
                <a:moveTo>
                  <a:pt x="0" y="0"/>
                </a:moveTo>
                <a:lnTo>
                  <a:pt x="8229600" y="0"/>
                </a:lnTo>
                <a:lnTo>
                  <a:pt x="8229600" y="8229600"/>
                </a:lnTo>
                <a:lnTo>
                  <a:pt x="0" y="8229600"/>
                </a:lnTo>
                <a:lnTo>
                  <a:pt x="0" y="0"/>
                </a:lnTo>
                <a:close/>
              </a:path>
            </a:pathLst>
          </a:custGeom>
          <a:blipFill>
            <a:blip r:embed="rId2"/>
            <a:stretch>
              <a:fillRect l="0" t="0" r="0" b="0"/>
            </a:stretch>
          </a:blipFill>
        </p:spPr>
      </p:sp>
      <p:sp>
        <p:nvSpPr>
          <p:cNvPr name="TextBox 3" id="3"/>
          <p:cNvSpPr txBox="true"/>
          <p:nvPr/>
        </p:nvSpPr>
        <p:spPr>
          <a:xfrm rot="0">
            <a:off x="646658" y="389793"/>
            <a:ext cx="10868630" cy="1720849"/>
          </a:xfrm>
          <a:prstGeom prst="rect">
            <a:avLst/>
          </a:prstGeom>
        </p:spPr>
        <p:txBody>
          <a:bodyPr anchor="t" rtlCol="false" tIns="0" lIns="0" bIns="0" rIns="0">
            <a:spAutoFit/>
          </a:bodyPr>
          <a:lstStyle/>
          <a:p>
            <a:pPr algn="l">
              <a:lnSpc>
                <a:spcPts val="4900"/>
              </a:lnSpc>
            </a:pPr>
            <a:r>
              <a:rPr lang="en-US" sz="3500">
                <a:solidFill>
                  <a:srgbClr val="05060B"/>
                </a:solidFill>
                <a:latin typeface="Anton"/>
                <a:ea typeface="Anton"/>
                <a:cs typeface="Anton"/>
                <a:sym typeface="Anton"/>
              </a:rPr>
              <a:t>METHODOLOGY</a:t>
            </a:r>
          </a:p>
          <a:p>
            <a:pPr algn="l">
              <a:lnSpc>
                <a:spcPts val="9099"/>
              </a:lnSpc>
              <a:spcBef>
                <a:spcPct val="0"/>
              </a:spcBef>
            </a:pPr>
            <a:r>
              <a:rPr lang="en-US" sz="6499">
                <a:solidFill>
                  <a:srgbClr val="05060B"/>
                </a:solidFill>
                <a:latin typeface="Anton"/>
                <a:ea typeface="Anton"/>
                <a:cs typeface="Anton"/>
                <a:sym typeface="Anton"/>
              </a:rPr>
              <a:t>MAP WITH FOLIUM</a:t>
            </a:r>
          </a:p>
        </p:txBody>
      </p:sp>
      <p:sp>
        <p:nvSpPr>
          <p:cNvPr name="TextBox 4" id="4"/>
          <p:cNvSpPr txBox="true"/>
          <p:nvPr/>
        </p:nvSpPr>
        <p:spPr>
          <a:xfrm rot="0">
            <a:off x="646658" y="2063017"/>
            <a:ext cx="14362318" cy="7583794"/>
          </a:xfrm>
          <a:prstGeom prst="rect">
            <a:avLst/>
          </a:prstGeom>
        </p:spPr>
        <p:txBody>
          <a:bodyPr anchor="t" rtlCol="false" tIns="0" lIns="0" bIns="0" rIns="0">
            <a:spAutoFit/>
          </a:bodyPr>
          <a:lstStyle/>
          <a:p>
            <a:pPr algn="l">
              <a:lnSpc>
                <a:spcPts val="2736"/>
              </a:lnSpc>
            </a:pPr>
            <a:r>
              <a:rPr lang="en-US" sz="1954" b="true">
                <a:solidFill>
                  <a:srgbClr val="000000"/>
                </a:solidFill>
                <a:latin typeface="Canva Sans Bold"/>
                <a:ea typeface="Canva Sans Bold"/>
                <a:cs typeface="Canva Sans Bold"/>
                <a:sym typeface="Canva Sans Bold"/>
              </a:rPr>
              <a:t>Markers for launch sites</a:t>
            </a:r>
          </a:p>
          <a:p>
            <a:pPr algn="l" marL="422048" indent="-211024" lvl="1">
              <a:lnSpc>
                <a:spcPts val="2736"/>
              </a:lnSpc>
              <a:buFont typeface="Arial"/>
              <a:buChar char="•"/>
            </a:pPr>
            <a:r>
              <a:rPr lang="en-US" sz="1954">
                <a:solidFill>
                  <a:srgbClr val="000000"/>
                </a:solidFill>
                <a:latin typeface="Canva Sans"/>
                <a:ea typeface="Canva Sans"/>
                <a:cs typeface="Canva Sans"/>
                <a:sym typeface="Canva Sans"/>
              </a:rPr>
              <a:t>Added </a:t>
            </a:r>
            <a:r>
              <a:rPr lang="en-US" b="true" sz="1954">
                <a:solidFill>
                  <a:srgbClr val="000000"/>
                </a:solidFill>
                <a:latin typeface="Canva Sans Bold"/>
                <a:ea typeface="Canva Sans Bold"/>
                <a:cs typeface="Canva Sans Bold"/>
                <a:sym typeface="Canva Sans Bold"/>
              </a:rPr>
              <a:t>folium.Circle</a:t>
            </a:r>
            <a:r>
              <a:rPr lang="en-US" sz="1954">
                <a:solidFill>
                  <a:srgbClr val="000000"/>
                </a:solidFill>
                <a:latin typeface="Canva Sans"/>
                <a:ea typeface="Canva Sans"/>
                <a:cs typeface="Canva Sans"/>
                <a:sym typeface="Canva Sans"/>
              </a:rPr>
              <a:t> and </a:t>
            </a:r>
            <a:r>
              <a:rPr lang="en-US" b="true" sz="1954">
                <a:solidFill>
                  <a:srgbClr val="000000"/>
                </a:solidFill>
                <a:latin typeface="Canva Sans Bold"/>
                <a:ea typeface="Canva Sans Bold"/>
                <a:cs typeface="Canva Sans Bold"/>
                <a:sym typeface="Canva Sans Bold"/>
              </a:rPr>
              <a:t>folium.Marker</a:t>
            </a:r>
            <a:r>
              <a:rPr lang="en-US" sz="1954">
                <a:solidFill>
                  <a:srgbClr val="000000"/>
                </a:solidFill>
                <a:latin typeface="Canva Sans"/>
                <a:ea typeface="Canva Sans"/>
                <a:cs typeface="Canva Sans"/>
                <a:sym typeface="Canva Sans"/>
              </a:rPr>
              <a:t>.</a:t>
            </a:r>
          </a:p>
          <a:p>
            <a:pPr algn="l" marL="422048" indent="-211024" lvl="1">
              <a:lnSpc>
                <a:spcPts val="2736"/>
              </a:lnSpc>
              <a:buFont typeface="Arial"/>
              <a:buChar char="•"/>
            </a:pPr>
            <a:r>
              <a:rPr lang="en-US" sz="1954">
                <a:solidFill>
                  <a:srgbClr val="000000"/>
                </a:solidFill>
                <a:latin typeface="Canva Sans"/>
                <a:ea typeface="Canva Sans"/>
                <a:cs typeface="Canva Sans"/>
                <a:sym typeface="Canva Sans"/>
              </a:rPr>
              <a:t>These objects provide a visual representation of where each SpaceX launch site is located, making it easier for users to identify launch site locations on the map. A popup label on each circle displays the site’s name for context.</a:t>
            </a:r>
          </a:p>
          <a:p>
            <a:pPr algn="l">
              <a:lnSpc>
                <a:spcPts val="2736"/>
              </a:lnSpc>
            </a:pPr>
            <a:r>
              <a:rPr lang="en-US" sz="1954" b="true">
                <a:solidFill>
                  <a:srgbClr val="000000"/>
                </a:solidFill>
                <a:latin typeface="Canva Sans Bold"/>
                <a:ea typeface="Canva Sans Bold"/>
                <a:cs typeface="Canva Sans Bold"/>
                <a:sym typeface="Canva Sans Bold"/>
              </a:rPr>
              <a:t>Markers for Launch Success/Failure</a:t>
            </a:r>
          </a:p>
          <a:p>
            <a:pPr algn="l" marL="422048" indent="-211024" lvl="1">
              <a:lnSpc>
                <a:spcPts val="2736"/>
              </a:lnSpc>
              <a:buFont typeface="Arial"/>
              <a:buChar char="•"/>
            </a:pPr>
            <a:r>
              <a:rPr lang="en-US" sz="1954">
                <a:solidFill>
                  <a:srgbClr val="000000"/>
                </a:solidFill>
                <a:latin typeface="Canva Sans"/>
                <a:ea typeface="Canva Sans"/>
                <a:cs typeface="Canva Sans"/>
                <a:sym typeface="Canva Sans"/>
              </a:rPr>
              <a:t>Added </a:t>
            </a:r>
            <a:r>
              <a:rPr lang="en-US" b="true" sz="1954">
                <a:solidFill>
                  <a:srgbClr val="000000"/>
                </a:solidFill>
                <a:latin typeface="Canva Sans Bold"/>
                <a:ea typeface="Canva Sans Bold"/>
                <a:cs typeface="Canva Sans Bold"/>
                <a:sym typeface="Canva Sans Bold"/>
              </a:rPr>
              <a:t>folium.Marker </a:t>
            </a:r>
            <a:r>
              <a:rPr lang="en-US" sz="1954">
                <a:solidFill>
                  <a:srgbClr val="000000"/>
                </a:solidFill>
                <a:latin typeface="Canva Sans"/>
                <a:ea typeface="Canva Sans"/>
                <a:cs typeface="Canva Sans"/>
                <a:sym typeface="Canva Sans"/>
              </a:rPr>
              <a:t> with custom color icons, grouped using </a:t>
            </a:r>
            <a:r>
              <a:rPr lang="en-US" b="true" sz="1954">
                <a:solidFill>
                  <a:srgbClr val="000000"/>
                </a:solidFill>
                <a:latin typeface="Canva Sans Bold"/>
                <a:ea typeface="Canva Sans Bold"/>
                <a:cs typeface="Canva Sans Bold"/>
                <a:sym typeface="Canva Sans Bold"/>
              </a:rPr>
              <a:t>MarkerCluster</a:t>
            </a:r>
            <a:r>
              <a:rPr lang="en-US" sz="1954">
                <a:solidFill>
                  <a:srgbClr val="000000"/>
                </a:solidFill>
                <a:latin typeface="Canva Sans"/>
                <a:ea typeface="Canva Sans"/>
                <a:cs typeface="Canva Sans"/>
                <a:sym typeface="Canva Sans"/>
              </a:rPr>
              <a:t>.</a:t>
            </a:r>
          </a:p>
          <a:p>
            <a:pPr algn="l" marL="422048" indent="-211024" lvl="1">
              <a:lnSpc>
                <a:spcPts val="2736"/>
              </a:lnSpc>
              <a:buFont typeface="Arial"/>
              <a:buChar char="•"/>
            </a:pPr>
            <a:r>
              <a:rPr lang="en-US" sz="1954">
                <a:solidFill>
                  <a:srgbClr val="000000"/>
                </a:solidFill>
                <a:latin typeface="Canva Sans"/>
                <a:ea typeface="Canva Sans"/>
                <a:cs typeface="Canva Sans"/>
                <a:sym typeface="Canva Sans"/>
              </a:rPr>
              <a:t>These markers show the success (green) or failure (red) of each launch. Cluster grouping is used to manage overlapping markers when there are many launches at the same location, enhancing the map’s readability.</a:t>
            </a:r>
          </a:p>
          <a:p>
            <a:pPr algn="l">
              <a:lnSpc>
                <a:spcPts val="2736"/>
              </a:lnSpc>
            </a:pPr>
            <a:r>
              <a:rPr lang="en-US" sz="1954" b="true">
                <a:solidFill>
                  <a:srgbClr val="000000"/>
                </a:solidFill>
                <a:latin typeface="Canva Sans Bold"/>
                <a:ea typeface="Canva Sans Bold"/>
                <a:cs typeface="Canva Sans Bold"/>
                <a:sym typeface="Canva Sans Bold"/>
              </a:rPr>
              <a:t>Proximity analysis object (Lines and Distance calculations)</a:t>
            </a:r>
          </a:p>
          <a:p>
            <a:pPr algn="l" marL="422048" indent="-211024" lvl="1">
              <a:lnSpc>
                <a:spcPts val="2736"/>
              </a:lnSpc>
              <a:buFont typeface="Arial"/>
              <a:buChar char="•"/>
            </a:pPr>
            <a:r>
              <a:rPr lang="en-US" sz="1954">
                <a:solidFill>
                  <a:srgbClr val="000000"/>
                </a:solidFill>
                <a:latin typeface="Canva Sans"/>
                <a:ea typeface="Canva Sans"/>
                <a:cs typeface="Canva Sans"/>
                <a:sym typeface="Canva Sans"/>
              </a:rPr>
              <a:t>Added </a:t>
            </a:r>
            <a:r>
              <a:rPr lang="en-US" b="true" sz="1954">
                <a:solidFill>
                  <a:srgbClr val="000000"/>
                </a:solidFill>
                <a:latin typeface="Canva Sans Bold"/>
                <a:ea typeface="Canva Sans Bold"/>
                <a:cs typeface="Canva Sans Bold"/>
                <a:sym typeface="Canva Sans Bold"/>
              </a:rPr>
              <a:t>folium.PolyLine </a:t>
            </a:r>
            <a:r>
              <a:rPr lang="en-US" sz="1954">
                <a:solidFill>
                  <a:srgbClr val="000000"/>
                </a:solidFill>
                <a:latin typeface="Canva Sans"/>
                <a:ea typeface="Canva Sans"/>
                <a:cs typeface="Canva Sans"/>
                <a:sym typeface="Canva Sans"/>
              </a:rPr>
              <a:t>and </a:t>
            </a:r>
            <a:r>
              <a:rPr lang="en-US" b="true" sz="1954">
                <a:solidFill>
                  <a:srgbClr val="000000"/>
                </a:solidFill>
                <a:latin typeface="Canva Sans Bold"/>
                <a:ea typeface="Canva Sans Bold"/>
                <a:cs typeface="Canva Sans Bold"/>
                <a:sym typeface="Canva Sans Bold"/>
              </a:rPr>
              <a:t>folium.Marker</a:t>
            </a:r>
            <a:r>
              <a:rPr lang="en-US" sz="1954">
                <a:solidFill>
                  <a:srgbClr val="000000"/>
                </a:solidFill>
                <a:latin typeface="Canva Sans"/>
                <a:ea typeface="Canva Sans"/>
                <a:cs typeface="Canva Sans"/>
                <a:sym typeface="Canva Sans"/>
              </a:rPr>
              <a:t> for displaying the distance from launch sites to nearby features like coastlines, cities, railways and highways.</a:t>
            </a:r>
          </a:p>
          <a:p>
            <a:pPr algn="l" marL="422048" indent="-211024" lvl="1">
              <a:lnSpc>
                <a:spcPts val="2736"/>
              </a:lnSpc>
              <a:buFont typeface="Arial"/>
              <a:buChar char="•"/>
            </a:pPr>
            <a:r>
              <a:rPr lang="en-US" sz="1954">
                <a:solidFill>
                  <a:srgbClr val="000000"/>
                </a:solidFill>
                <a:latin typeface="Canva Sans"/>
                <a:ea typeface="Canva Sans"/>
                <a:cs typeface="Canva Sans"/>
                <a:sym typeface="Canva Sans"/>
              </a:rPr>
              <a:t>The line connections between the launch site and these features are drawn to illustrate potential impact on the site on the selection and operations.</a:t>
            </a:r>
          </a:p>
          <a:p>
            <a:pPr algn="l">
              <a:lnSpc>
                <a:spcPts val="2736"/>
              </a:lnSpc>
            </a:pPr>
            <a:r>
              <a:rPr lang="en-US" sz="1954" b="true">
                <a:solidFill>
                  <a:srgbClr val="000000"/>
                </a:solidFill>
                <a:latin typeface="Canva Sans Bold"/>
                <a:ea typeface="Canva Sans Bold"/>
                <a:cs typeface="Canva Sans Bold"/>
                <a:sym typeface="Canva Sans Bold"/>
              </a:rPr>
              <a:t>Distance Calculation Function</a:t>
            </a:r>
          </a:p>
          <a:p>
            <a:pPr algn="l" marL="422048" indent="-211024" lvl="1">
              <a:lnSpc>
                <a:spcPts val="2736"/>
              </a:lnSpc>
              <a:buFont typeface="Arial"/>
              <a:buChar char="•"/>
            </a:pPr>
            <a:r>
              <a:rPr lang="en-US" sz="1954">
                <a:solidFill>
                  <a:srgbClr val="000000"/>
                </a:solidFill>
                <a:latin typeface="Canva Sans"/>
                <a:ea typeface="Canva Sans"/>
                <a:cs typeface="Canva Sans"/>
                <a:sym typeface="Canva Sans"/>
              </a:rPr>
              <a:t>Used </a:t>
            </a:r>
            <a:r>
              <a:rPr lang="en-US" b="true" sz="1954">
                <a:solidFill>
                  <a:srgbClr val="000000"/>
                </a:solidFill>
                <a:latin typeface="Canva Sans Bold"/>
                <a:ea typeface="Canva Sans Bold"/>
                <a:cs typeface="Canva Sans Bold"/>
                <a:sym typeface="Canva Sans Bold"/>
              </a:rPr>
              <a:t>calculate_distance </a:t>
            </a:r>
            <a:r>
              <a:rPr lang="en-US" sz="1954">
                <a:solidFill>
                  <a:srgbClr val="000000"/>
                </a:solidFill>
                <a:latin typeface="Canva Sans"/>
                <a:ea typeface="Canva Sans"/>
                <a:cs typeface="Canva Sans"/>
                <a:sym typeface="Canva Sans"/>
              </a:rPr>
              <a:t>to compute the distances between two geographical points using the Haversine formula. </a:t>
            </a:r>
          </a:p>
          <a:p>
            <a:pPr algn="l" marL="422048" indent="-211024" lvl="1">
              <a:lnSpc>
                <a:spcPts val="2736"/>
              </a:lnSpc>
              <a:buFont typeface="Arial"/>
              <a:buChar char="•"/>
            </a:pPr>
            <a:r>
              <a:rPr lang="en-US" sz="1954">
                <a:solidFill>
                  <a:srgbClr val="000000"/>
                </a:solidFill>
                <a:latin typeface="Canva Sans"/>
                <a:ea typeface="Canva Sans"/>
                <a:cs typeface="Canva Sans"/>
                <a:sym typeface="Canva Sans"/>
              </a:rPr>
              <a:t>This calculation informs the proximity analysis and helps quantify the relationship between launch sites and nearby features</a:t>
            </a:r>
          </a:p>
          <a:p>
            <a:pPr algn="l">
              <a:lnSpc>
                <a:spcPts val="2736"/>
              </a:lnSpc>
            </a:pPr>
            <a:r>
              <a:rPr lang="en-US" sz="1954" b="true">
                <a:solidFill>
                  <a:srgbClr val="000000"/>
                </a:solidFill>
                <a:latin typeface="Canva Sans Bold"/>
                <a:ea typeface="Canva Sans Bold"/>
                <a:cs typeface="Canva Sans Bold"/>
                <a:sym typeface="Canva Sans Bold"/>
              </a:rPr>
              <a:t>Mouse Position</a:t>
            </a:r>
          </a:p>
          <a:p>
            <a:pPr algn="l" marL="422048" indent="-211024" lvl="1">
              <a:lnSpc>
                <a:spcPts val="2736"/>
              </a:lnSpc>
              <a:buFont typeface="Arial"/>
              <a:buChar char="•"/>
            </a:pPr>
            <a:r>
              <a:rPr lang="en-US" sz="1954">
                <a:solidFill>
                  <a:srgbClr val="000000"/>
                </a:solidFill>
                <a:latin typeface="Canva Sans"/>
                <a:ea typeface="Canva Sans"/>
                <a:cs typeface="Canva Sans"/>
                <a:sym typeface="Canva Sans"/>
              </a:rPr>
              <a:t>Added </a:t>
            </a:r>
            <a:r>
              <a:rPr lang="en-US" b="true" sz="1954">
                <a:solidFill>
                  <a:srgbClr val="000000"/>
                </a:solidFill>
                <a:latin typeface="Canva Sans Bold"/>
                <a:ea typeface="Canva Sans Bold"/>
                <a:cs typeface="Canva Sans Bold"/>
                <a:sym typeface="Canva Sans Bold"/>
              </a:rPr>
              <a:t>MousePosition </a:t>
            </a:r>
            <a:r>
              <a:rPr lang="en-US" sz="1954">
                <a:solidFill>
                  <a:srgbClr val="000000"/>
                </a:solidFill>
                <a:latin typeface="Canva Sans"/>
                <a:ea typeface="Canva Sans"/>
                <a:cs typeface="Canva Sans"/>
                <a:sym typeface="Canva Sans"/>
              </a:rPr>
              <a:t>widget.</a:t>
            </a:r>
          </a:p>
          <a:p>
            <a:pPr algn="l" marL="422048" indent="-211024" lvl="1">
              <a:lnSpc>
                <a:spcPts val="2736"/>
              </a:lnSpc>
              <a:buFont typeface="Arial"/>
              <a:buChar char="•"/>
            </a:pPr>
            <a:r>
              <a:rPr lang="en-US" sz="1954">
                <a:solidFill>
                  <a:srgbClr val="000000"/>
                </a:solidFill>
                <a:latin typeface="Canva Sans"/>
                <a:ea typeface="Canva Sans"/>
                <a:cs typeface="Canva Sans"/>
                <a:sym typeface="Canva Sans"/>
              </a:rPr>
              <a:t>Provides real-time coordinates as you hover the mouse over the map, aiding in precise measurement and location identification during exploratory analysis</a:t>
            </a:r>
          </a:p>
          <a:p>
            <a:pPr algn="l">
              <a:lnSpc>
                <a:spcPts val="2736"/>
              </a:lnSpc>
            </a:pPr>
          </a:p>
        </p:txBody>
      </p:sp>
      <p:sp>
        <p:nvSpPr>
          <p:cNvPr name="TextBox 5" id="5"/>
          <p:cNvSpPr txBox="true"/>
          <p:nvPr/>
        </p:nvSpPr>
        <p:spPr>
          <a:xfrm rot="0">
            <a:off x="433707" y="9599186"/>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5060B"/>
                </a:solidFill>
                <a:latin typeface="Canva Sans"/>
                <a:ea typeface="Canva Sans"/>
                <a:cs typeface="Canva Sans"/>
                <a:sym typeface="Canva Sans"/>
              </a:rPr>
              <a:t>Page 13</a:t>
            </a:r>
          </a:p>
        </p:txBody>
      </p:sp>
      <p:sp>
        <p:nvSpPr>
          <p:cNvPr name="TextBox 6" id="6"/>
          <p:cNvSpPr txBox="true"/>
          <p:nvPr/>
        </p:nvSpPr>
        <p:spPr>
          <a:xfrm rot="0">
            <a:off x="13769150" y="704117"/>
            <a:ext cx="4019697" cy="1406525"/>
          </a:xfrm>
          <a:prstGeom prst="rect">
            <a:avLst/>
          </a:prstGeom>
        </p:spPr>
        <p:txBody>
          <a:bodyPr anchor="t" rtlCol="false" tIns="0" lIns="0" bIns="0" rIns="0">
            <a:spAutoFit/>
          </a:bodyPr>
          <a:lstStyle/>
          <a:p>
            <a:pPr algn="ctr">
              <a:lnSpc>
                <a:spcPts val="2800"/>
              </a:lnSpc>
              <a:spcBef>
                <a:spcPct val="0"/>
              </a:spcBef>
            </a:pPr>
            <a:r>
              <a:rPr lang="en-US" sz="2000" u="sng">
                <a:solidFill>
                  <a:srgbClr val="004AAD"/>
                </a:solidFill>
                <a:latin typeface="Canva Sans"/>
                <a:ea typeface="Canva Sans"/>
                <a:cs typeface="Canva Sans"/>
                <a:sym typeface="Canva Sans"/>
              </a:rPr>
              <a:t>https://github.com/Ankedefrey/Data-Science-Capstone-Project/blob/main/lab_jupyter_launch_site_location.ipynb</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782531" y="2934268"/>
            <a:ext cx="8229600" cy="8229600"/>
          </a:xfrm>
          <a:custGeom>
            <a:avLst/>
            <a:gdLst/>
            <a:ahLst/>
            <a:cxnLst/>
            <a:rect r="r" b="b" t="t" l="l"/>
            <a:pathLst>
              <a:path h="8229600" w="8229600">
                <a:moveTo>
                  <a:pt x="0" y="0"/>
                </a:moveTo>
                <a:lnTo>
                  <a:pt x="8229600" y="0"/>
                </a:lnTo>
                <a:lnTo>
                  <a:pt x="8229600" y="8229600"/>
                </a:lnTo>
                <a:lnTo>
                  <a:pt x="0" y="8229600"/>
                </a:lnTo>
                <a:lnTo>
                  <a:pt x="0" y="0"/>
                </a:lnTo>
                <a:close/>
              </a:path>
            </a:pathLst>
          </a:custGeom>
          <a:blipFill>
            <a:blip r:embed="rId2"/>
            <a:stretch>
              <a:fillRect l="0" t="0" r="0" b="0"/>
            </a:stretch>
          </a:blipFill>
        </p:spPr>
      </p:sp>
      <p:sp>
        <p:nvSpPr>
          <p:cNvPr name="TextBox 3" id="3"/>
          <p:cNvSpPr txBox="true"/>
          <p:nvPr/>
        </p:nvSpPr>
        <p:spPr>
          <a:xfrm rot="0">
            <a:off x="1028700" y="509463"/>
            <a:ext cx="10868630" cy="1720849"/>
          </a:xfrm>
          <a:prstGeom prst="rect">
            <a:avLst/>
          </a:prstGeom>
        </p:spPr>
        <p:txBody>
          <a:bodyPr anchor="t" rtlCol="false" tIns="0" lIns="0" bIns="0" rIns="0">
            <a:spAutoFit/>
          </a:bodyPr>
          <a:lstStyle/>
          <a:p>
            <a:pPr algn="l">
              <a:lnSpc>
                <a:spcPts val="4900"/>
              </a:lnSpc>
            </a:pPr>
            <a:r>
              <a:rPr lang="en-US" sz="3500">
                <a:solidFill>
                  <a:srgbClr val="05060B"/>
                </a:solidFill>
                <a:latin typeface="Anton"/>
                <a:ea typeface="Anton"/>
                <a:cs typeface="Anton"/>
                <a:sym typeface="Anton"/>
              </a:rPr>
              <a:t>METHODOLOGY</a:t>
            </a:r>
          </a:p>
          <a:p>
            <a:pPr algn="l">
              <a:lnSpc>
                <a:spcPts val="9099"/>
              </a:lnSpc>
              <a:spcBef>
                <a:spcPct val="0"/>
              </a:spcBef>
            </a:pPr>
            <a:r>
              <a:rPr lang="en-US" sz="6499">
                <a:solidFill>
                  <a:srgbClr val="05060B"/>
                </a:solidFill>
                <a:latin typeface="Anton"/>
                <a:ea typeface="Anton"/>
                <a:cs typeface="Anton"/>
                <a:sym typeface="Anton"/>
              </a:rPr>
              <a:t>DASHBOARD WITH PLOTLY DASH</a:t>
            </a:r>
          </a:p>
        </p:txBody>
      </p:sp>
      <p:sp>
        <p:nvSpPr>
          <p:cNvPr name="TextBox 4" id="4"/>
          <p:cNvSpPr txBox="true"/>
          <p:nvPr/>
        </p:nvSpPr>
        <p:spPr>
          <a:xfrm rot="0">
            <a:off x="1028700" y="2581681"/>
            <a:ext cx="14487637" cy="5458049"/>
          </a:xfrm>
          <a:prstGeom prst="rect">
            <a:avLst/>
          </a:prstGeom>
        </p:spPr>
        <p:txBody>
          <a:bodyPr anchor="t" rtlCol="false" tIns="0" lIns="0" bIns="0" rIns="0">
            <a:spAutoFit/>
          </a:bodyPr>
          <a:lstStyle/>
          <a:p>
            <a:pPr algn="l">
              <a:lnSpc>
                <a:spcPts val="3137"/>
              </a:lnSpc>
            </a:pPr>
            <a:r>
              <a:rPr lang="en-US" sz="2241" b="true">
                <a:solidFill>
                  <a:srgbClr val="000000"/>
                </a:solidFill>
                <a:latin typeface="Canva Sans Bold"/>
                <a:ea typeface="Canva Sans Bold"/>
                <a:cs typeface="Canva Sans Bold"/>
                <a:sym typeface="Canva Sans Bold"/>
              </a:rPr>
              <a:t>Dropdown for Launch Site Selection</a:t>
            </a:r>
          </a:p>
          <a:p>
            <a:pPr algn="l" marL="483868" indent="-241934" lvl="1">
              <a:lnSpc>
                <a:spcPts val="3137"/>
              </a:lnSpc>
              <a:buFont typeface="Arial"/>
              <a:buChar char="•"/>
            </a:pPr>
            <a:r>
              <a:rPr lang="en-US" sz="2241">
                <a:solidFill>
                  <a:srgbClr val="000000"/>
                </a:solidFill>
                <a:latin typeface="Canva Sans"/>
                <a:ea typeface="Canva Sans"/>
                <a:cs typeface="Canva Sans"/>
                <a:sym typeface="Canva Sans"/>
              </a:rPr>
              <a:t>Allows user to select a specific launch site or view data for all sites</a:t>
            </a:r>
          </a:p>
          <a:p>
            <a:pPr algn="l" marL="483868" indent="-241934" lvl="1">
              <a:lnSpc>
                <a:spcPts val="3137"/>
              </a:lnSpc>
              <a:buFont typeface="Arial"/>
              <a:buChar char="•"/>
            </a:pPr>
            <a:r>
              <a:rPr lang="en-US" sz="2241">
                <a:solidFill>
                  <a:srgbClr val="000000"/>
                </a:solidFill>
                <a:latin typeface="Canva Sans"/>
                <a:ea typeface="Canva Sans"/>
                <a:cs typeface="Canva Sans"/>
                <a:sym typeface="Canva Sans"/>
              </a:rPr>
              <a:t>Provides a flexible way to filter data based on site, helping users focus on particular locations</a:t>
            </a:r>
          </a:p>
          <a:p>
            <a:pPr algn="l">
              <a:lnSpc>
                <a:spcPts val="3137"/>
              </a:lnSpc>
            </a:pPr>
            <a:r>
              <a:rPr lang="en-US" sz="2241" b="true">
                <a:solidFill>
                  <a:srgbClr val="000000"/>
                </a:solidFill>
                <a:latin typeface="Canva Sans Bold"/>
                <a:ea typeface="Canva Sans Bold"/>
                <a:cs typeface="Canva Sans Bold"/>
                <a:sym typeface="Canva Sans Bold"/>
              </a:rPr>
              <a:t>Pie chart for launch success</a:t>
            </a:r>
          </a:p>
          <a:p>
            <a:pPr algn="l" marL="483868" indent="-241934" lvl="1">
              <a:lnSpc>
                <a:spcPts val="3137"/>
              </a:lnSpc>
              <a:buFont typeface="Arial"/>
              <a:buChar char="•"/>
            </a:pPr>
            <a:r>
              <a:rPr lang="en-US" sz="2241">
                <a:solidFill>
                  <a:srgbClr val="000000"/>
                </a:solidFill>
                <a:latin typeface="Canva Sans"/>
                <a:ea typeface="Canva Sans"/>
                <a:cs typeface="Canva Sans"/>
                <a:sym typeface="Canva Sans"/>
              </a:rPr>
              <a:t>Displays the total number of successful launches, either across all sites or for a specific site.</a:t>
            </a:r>
          </a:p>
          <a:p>
            <a:pPr algn="l" marL="483868" indent="-241934" lvl="1">
              <a:lnSpc>
                <a:spcPts val="3137"/>
              </a:lnSpc>
              <a:buFont typeface="Arial"/>
              <a:buChar char="•"/>
            </a:pPr>
            <a:r>
              <a:rPr lang="en-US" sz="2241">
                <a:solidFill>
                  <a:srgbClr val="000000"/>
                </a:solidFill>
                <a:latin typeface="Canva Sans"/>
                <a:ea typeface="Canva Sans"/>
                <a:cs typeface="Canva Sans"/>
                <a:sym typeface="Canva Sans"/>
              </a:rPr>
              <a:t>It visualizes launch success vs failure, helping users assess performance by site.</a:t>
            </a:r>
          </a:p>
          <a:p>
            <a:pPr algn="l">
              <a:lnSpc>
                <a:spcPts val="3137"/>
              </a:lnSpc>
            </a:pPr>
            <a:r>
              <a:rPr lang="en-US" sz="2241" b="true">
                <a:solidFill>
                  <a:srgbClr val="000000"/>
                </a:solidFill>
                <a:latin typeface="Canva Sans Bold"/>
                <a:ea typeface="Canva Sans Bold"/>
                <a:cs typeface="Canva Sans Bold"/>
                <a:sym typeface="Canva Sans Bold"/>
              </a:rPr>
              <a:t>Slider for Payload Range</a:t>
            </a:r>
          </a:p>
          <a:p>
            <a:pPr algn="l" marL="483868" indent="-241934" lvl="1">
              <a:lnSpc>
                <a:spcPts val="3137"/>
              </a:lnSpc>
              <a:buFont typeface="Arial"/>
              <a:buChar char="•"/>
            </a:pPr>
            <a:r>
              <a:rPr lang="en-US" sz="2241">
                <a:solidFill>
                  <a:srgbClr val="000000"/>
                </a:solidFill>
                <a:latin typeface="Canva Sans"/>
                <a:ea typeface="Canva Sans"/>
                <a:cs typeface="Canva Sans"/>
                <a:sym typeface="Canva Sans"/>
              </a:rPr>
              <a:t>Allows users to select a range of payloads.</a:t>
            </a:r>
          </a:p>
          <a:p>
            <a:pPr algn="l" marL="483868" indent="-241934" lvl="1">
              <a:lnSpc>
                <a:spcPts val="3137"/>
              </a:lnSpc>
              <a:buFont typeface="Arial"/>
              <a:buChar char="•"/>
            </a:pPr>
            <a:r>
              <a:rPr lang="en-US" sz="2241">
                <a:solidFill>
                  <a:srgbClr val="000000"/>
                </a:solidFill>
                <a:latin typeface="Canva Sans"/>
                <a:ea typeface="Canva Sans"/>
                <a:cs typeface="Canva Sans"/>
                <a:sym typeface="Canva Sans"/>
              </a:rPr>
              <a:t>Provides interactivity to filter data by payload mass, enabling users to explore how payload affects launch success.</a:t>
            </a:r>
          </a:p>
          <a:p>
            <a:pPr algn="l">
              <a:lnSpc>
                <a:spcPts val="3137"/>
              </a:lnSpc>
            </a:pPr>
            <a:r>
              <a:rPr lang="en-US" sz="2241" b="true">
                <a:solidFill>
                  <a:srgbClr val="000000"/>
                </a:solidFill>
                <a:latin typeface="Canva Sans Bold"/>
                <a:ea typeface="Canva Sans Bold"/>
                <a:cs typeface="Canva Sans Bold"/>
                <a:sym typeface="Canva Sans Bold"/>
              </a:rPr>
              <a:t>Scatter plot for Payload vs Success</a:t>
            </a:r>
          </a:p>
          <a:p>
            <a:pPr algn="l" marL="483868" indent="-241934" lvl="1">
              <a:lnSpc>
                <a:spcPts val="3137"/>
              </a:lnSpc>
              <a:buFont typeface="Arial"/>
              <a:buChar char="•"/>
            </a:pPr>
            <a:r>
              <a:rPr lang="en-US" sz="2241">
                <a:solidFill>
                  <a:srgbClr val="000000"/>
                </a:solidFill>
                <a:latin typeface="Canva Sans"/>
                <a:ea typeface="Canva Sans"/>
                <a:cs typeface="Canva Sans"/>
                <a:sym typeface="Canva Sans"/>
              </a:rPr>
              <a:t>Shows the correlation between payload mass and launch success, with different booster versions.</a:t>
            </a:r>
          </a:p>
          <a:p>
            <a:pPr algn="l" marL="483868" indent="-241934" lvl="1">
              <a:lnSpc>
                <a:spcPts val="3137"/>
              </a:lnSpc>
              <a:buFont typeface="Arial"/>
              <a:buChar char="•"/>
            </a:pPr>
            <a:r>
              <a:rPr lang="en-US" sz="2241">
                <a:solidFill>
                  <a:srgbClr val="000000"/>
                </a:solidFill>
                <a:latin typeface="Canva Sans"/>
                <a:ea typeface="Canva Sans"/>
                <a:cs typeface="Canva Sans"/>
                <a:sym typeface="Canva Sans"/>
              </a:rPr>
              <a:t>Helps users analyze how payload size influences the likelihood of a successful launch, providing insights into the impact of payloads on success rates.</a:t>
            </a:r>
          </a:p>
        </p:txBody>
      </p:sp>
      <p:sp>
        <p:nvSpPr>
          <p:cNvPr name="TextBox 5" id="5"/>
          <p:cNvSpPr txBox="true"/>
          <p:nvPr/>
        </p:nvSpPr>
        <p:spPr>
          <a:xfrm rot="0">
            <a:off x="433707" y="9599186"/>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5060B"/>
                </a:solidFill>
                <a:latin typeface="Canva Sans"/>
                <a:ea typeface="Canva Sans"/>
                <a:cs typeface="Canva Sans"/>
                <a:sym typeface="Canva Sans"/>
              </a:rPr>
              <a:t>Page 14</a:t>
            </a:r>
          </a:p>
        </p:txBody>
      </p:sp>
      <p:sp>
        <p:nvSpPr>
          <p:cNvPr name="TextBox 6" id="6"/>
          <p:cNvSpPr txBox="true"/>
          <p:nvPr/>
        </p:nvSpPr>
        <p:spPr>
          <a:xfrm rot="0">
            <a:off x="10578980" y="8240286"/>
            <a:ext cx="4019697" cy="1406525"/>
          </a:xfrm>
          <a:prstGeom prst="rect">
            <a:avLst/>
          </a:prstGeom>
        </p:spPr>
        <p:txBody>
          <a:bodyPr anchor="t" rtlCol="false" tIns="0" lIns="0" bIns="0" rIns="0">
            <a:spAutoFit/>
          </a:bodyPr>
          <a:lstStyle/>
          <a:p>
            <a:pPr algn="ctr">
              <a:lnSpc>
                <a:spcPts val="2800"/>
              </a:lnSpc>
              <a:spcBef>
                <a:spcPct val="0"/>
              </a:spcBef>
            </a:pPr>
            <a:r>
              <a:rPr lang="en-US" sz="2000" u="sng">
                <a:solidFill>
                  <a:srgbClr val="004AAD"/>
                </a:solidFill>
                <a:latin typeface="Canva Sans"/>
                <a:ea typeface="Canva Sans"/>
                <a:cs typeface="Canva Sans"/>
                <a:sym typeface="Canva Sans"/>
              </a:rPr>
              <a:t>https://github.com/Ankedefrey/Data-Science-Capstone-Project/blob/main/spacex_dash_app%20(1).py</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782531" y="2934268"/>
            <a:ext cx="8229600" cy="8229600"/>
          </a:xfrm>
          <a:custGeom>
            <a:avLst/>
            <a:gdLst/>
            <a:ahLst/>
            <a:cxnLst/>
            <a:rect r="r" b="b" t="t" l="l"/>
            <a:pathLst>
              <a:path h="8229600" w="8229600">
                <a:moveTo>
                  <a:pt x="0" y="0"/>
                </a:moveTo>
                <a:lnTo>
                  <a:pt x="8229600" y="0"/>
                </a:lnTo>
                <a:lnTo>
                  <a:pt x="8229600" y="8229600"/>
                </a:lnTo>
                <a:lnTo>
                  <a:pt x="0" y="8229600"/>
                </a:lnTo>
                <a:lnTo>
                  <a:pt x="0" y="0"/>
                </a:lnTo>
                <a:close/>
              </a:path>
            </a:pathLst>
          </a:custGeom>
          <a:blipFill>
            <a:blip r:embed="rId2"/>
            <a:stretch>
              <a:fillRect l="0" t="0" r="0" b="0"/>
            </a:stretch>
          </a:blipFill>
        </p:spPr>
      </p:sp>
      <p:sp>
        <p:nvSpPr>
          <p:cNvPr name="TextBox 3" id="3"/>
          <p:cNvSpPr txBox="true"/>
          <p:nvPr/>
        </p:nvSpPr>
        <p:spPr>
          <a:xfrm rot="0">
            <a:off x="1028700" y="509463"/>
            <a:ext cx="10868630" cy="1720849"/>
          </a:xfrm>
          <a:prstGeom prst="rect">
            <a:avLst/>
          </a:prstGeom>
        </p:spPr>
        <p:txBody>
          <a:bodyPr anchor="t" rtlCol="false" tIns="0" lIns="0" bIns="0" rIns="0">
            <a:spAutoFit/>
          </a:bodyPr>
          <a:lstStyle/>
          <a:p>
            <a:pPr algn="l">
              <a:lnSpc>
                <a:spcPts val="4900"/>
              </a:lnSpc>
            </a:pPr>
            <a:r>
              <a:rPr lang="en-US" sz="3500">
                <a:solidFill>
                  <a:srgbClr val="05060B"/>
                </a:solidFill>
                <a:latin typeface="Anton"/>
                <a:ea typeface="Anton"/>
                <a:cs typeface="Anton"/>
                <a:sym typeface="Anton"/>
              </a:rPr>
              <a:t>METHODOLOGY</a:t>
            </a:r>
          </a:p>
          <a:p>
            <a:pPr algn="l">
              <a:lnSpc>
                <a:spcPts val="9099"/>
              </a:lnSpc>
              <a:spcBef>
                <a:spcPct val="0"/>
              </a:spcBef>
            </a:pPr>
            <a:r>
              <a:rPr lang="en-US" sz="6499">
                <a:solidFill>
                  <a:srgbClr val="05060B"/>
                </a:solidFill>
                <a:latin typeface="Anton"/>
                <a:ea typeface="Anton"/>
                <a:cs typeface="Anton"/>
                <a:sym typeface="Anton"/>
              </a:rPr>
              <a:t>PREDICTIVE ANALYTICS</a:t>
            </a:r>
          </a:p>
        </p:txBody>
      </p:sp>
      <p:sp>
        <p:nvSpPr>
          <p:cNvPr name="TextBox 4" id="4"/>
          <p:cNvSpPr txBox="true"/>
          <p:nvPr/>
        </p:nvSpPr>
        <p:spPr>
          <a:xfrm rot="0">
            <a:off x="433707" y="9599186"/>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5060B"/>
                </a:solidFill>
                <a:latin typeface="Canva Sans"/>
                <a:ea typeface="Canva Sans"/>
                <a:cs typeface="Canva Sans"/>
                <a:sym typeface="Canva Sans"/>
              </a:rPr>
              <a:t>Page 15</a:t>
            </a:r>
          </a:p>
        </p:txBody>
      </p:sp>
      <p:sp>
        <p:nvSpPr>
          <p:cNvPr name="TextBox 5" id="5"/>
          <p:cNvSpPr txBox="true"/>
          <p:nvPr/>
        </p:nvSpPr>
        <p:spPr>
          <a:xfrm rot="0">
            <a:off x="11200527" y="8038674"/>
            <a:ext cx="4019697" cy="1758950"/>
          </a:xfrm>
          <a:prstGeom prst="rect">
            <a:avLst/>
          </a:prstGeom>
        </p:spPr>
        <p:txBody>
          <a:bodyPr anchor="t" rtlCol="false" tIns="0" lIns="0" bIns="0" rIns="0">
            <a:spAutoFit/>
          </a:bodyPr>
          <a:lstStyle/>
          <a:p>
            <a:pPr algn="ctr">
              <a:lnSpc>
                <a:spcPts val="2800"/>
              </a:lnSpc>
              <a:spcBef>
                <a:spcPct val="0"/>
              </a:spcBef>
            </a:pPr>
            <a:r>
              <a:rPr lang="en-US" sz="2000" u="sng">
                <a:solidFill>
                  <a:srgbClr val="004AAD"/>
                </a:solidFill>
                <a:latin typeface="Canva Sans"/>
                <a:ea typeface="Canva Sans"/>
                <a:cs typeface="Canva Sans"/>
                <a:sym typeface="Canva Sans"/>
              </a:rPr>
              <a:t>https://github.com/Ankedefrey/Data-Science-Capstone-Project/blob/main/SpaceX_Machine%20Learning%20Prediction_Part_5.ipynb</a:t>
            </a:r>
          </a:p>
        </p:txBody>
      </p:sp>
      <p:grpSp>
        <p:nvGrpSpPr>
          <p:cNvPr name="Group 6" id="6"/>
          <p:cNvGrpSpPr/>
          <p:nvPr/>
        </p:nvGrpSpPr>
        <p:grpSpPr>
          <a:xfrm rot="0">
            <a:off x="2811132" y="4443063"/>
            <a:ext cx="2895933" cy="2794592"/>
            <a:chOff x="0" y="0"/>
            <a:chExt cx="993289" cy="958530"/>
          </a:xfrm>
        </p:grpSpPr>
        <p:sp>
          <p:nvSpPr>
            <p:cNvPr name="Freeform 7" id="7"/>
            <p:cNvSpPr/>
            <p:nvPr/>
          </p:nvSpPr>
          <p:spPr>
            <a:xfrm flipH="false" flipV="false" rot="0">
              <a:off x="0" y="0"/>
              <a:ext cx="993289" cy="958529"/>
            </a:xfrm>
            <a:custGeom>
              <a:avLst/>
              <a:gdLst/>
              <a:ahLst/>
              <a:cxnLst/>
              <a:rect r="r" b="b" t="t" l="l"/>
              <a:pathLst>
                <a:path h="958529" w="993289">
                  <a:moveTo>
                    <a:pt x="496645" y="0"/>
                  </a:moveTo>
                  <a:cubicBezTo>
                    <a:pt x="222355" y="0"/>
                    <a:pt x="0" y="214574"/>
                    <a:pt x="0" y="479265"/>
                  </a:cubicBezTo>
                  <a:cubicBezTo>
                    <a:pt x="0" y="743955"/>
                    <a:pt x="222355" y="958529"/>
                    <a:pt x="496645" y="958529"/>
                  </a:cubicBezTo>
                  <a:cubicBezTo>
                    <a:pt x="770934" y="958529"/>
                    <a:pt x="993289" y="743955"/>
                    <a:pt x="993289" y="479265"/>
                  </a:cubicBezTo>
                  <a:cubicBezTo>
                    <a:pt x="993289" y="214574"/>
                    <a:pt x="770934" y="0"/>
                    <a:pt x="496645" y="0"/>
                  </a:cubicBezTo>
                  <a:close/>
                </a:path>
              </a:pathLst>
            </a:custGeom>
            <a:solidFill>
              <a:srgbClr val="36B7DA"/>
            </a:solidFill>
          </p:spPr>
        </p:sp>
        <p:sp>
          <p:nvSpPr>
            <p:cNvPr name="TextBox 8" id="8"/>
            <p:cNvSpPr txBox="true"/>
            <p:nvPr/>
          </p:nvSpPr>
          <p:spPr>
            <a:xfrm>
              <a:off x="93121" y="99387"/>
              <a:ext cx="807047" cy="769280"/>
            </a:xfrm>
            <a:prstGeom prst="rect">
              <a:avLst/>
            </a:prstGeom>
          </p:spPr>
          <p:txBody>
            <a:bodyPr anchor="ctr" rtlCol="false" tIns="50800" lIns="50800" bIns="50800" rIns="50800"/>
            <a:lstStyle/>
            <a:p>
              <a:pPr algn="ctr">
                <a:lnSpc>
                  <a:spcPts val="2260"/>
                </a:lnSpc>
              </a:pPr>
              <a:r>
                <a:rPr lang="en-US" sz="2000" b="true">
                  <a:solidFill>
                    <a:srgbClr val="FFFFFF"/>
                  </a:solidFill>
                  <a:latin typeface="Canva Sans Bold"/>
                  <a:ea typeface="Canva Sans Bold"/>
                  <a:cs typeface="Canva Sans Bold"/>
                  <a:sym typeface="Canva Sans Bold"/>
                </a:rPr>
                <a:t>2</a:t>
              </a:r>
            </a:p>
            <a:p>
              <a:pPr algn="ctr">
                <a:lnSpc>
                  <a:spcPts val="2260"/>
                </a:lnSpc>
              </a:pPr>
              <a:r>
                <a:rPr lang="en-US" sz="2000" b="true">
                  <a:solidFill>
                    <a:srgbClr val="FFFFFF"/>
                  </a:solidFill>
                  <a:latin typeface="Canva Sans Bold"/>
                  <a:ea typeface="Canva Sans Bold"/>
                  <a:cs typeface="Canva Sans Bold"/>
                  <a:sym typeface="Canva Sans Bold"/>
                </a:rPr>
                <a:t>Data Preprocessing</a:t>
              </a:r>
              <a:r>
                <a:rPr lang="en-US" sz="2000">
                  <a:solidFill>
                    <a:srgbClr val="FFFFFF"/>
                  </a:solidFill>
                  <a:latin typeface="Canva Sans"/>
                  <a:ea typeface="Canva Sans"/>
                  <a:cs typeface="Canva Sans"/>
                  <a:sym typeface="Canva Sans"/>
                </a:rPr>
                <a:t> </a:t>
              </a:r>
            </a:p>
            <a:p>
              <a:pPr algn="ctr">
                <a:lnSpc>
                  <a:spcPts val="2034"/>
                </a:lnSpc>
              </a:pPr>
              <a:r>
                <a:rPr lang="en-US" sz="1800" i="true">
                  <a:solidFill>
                    <a:srgbClr val="FFFFFF"/>
                  </a:solidFill>
                  <a:latin typeface="Canva Sans Italics"/>
                  <a:ea typeface="Canva Sans Italics"/>
                  <a:cs typeface="Canva Sans Italics"/>
                  <a:sym typeface="Canva Sans Italics"/>
                </a:rPr>
                <a:t>Standardize the data and split data in training and test sets</a:t>
              </a:r>
            </a:p>
          </p:txBody>
        </p:sp>
      </p:grpSp>
      <p:grpSp>
        <p:nvGrpSpPr>
          <p:cNvPr name="Group 9" id="9"/>
          <p:cNvGrpSpPr/>
          <p:nvPr/>
        </p:nvGrpSpPr>
        <p:grpSpPr>
          <a:xfrm rot="0">
            <a:off x="1354457" y="2695149"/>
            <a:ext cx="2753841" cy="2673834"/>
            <a:chOff x="0" y="0"/>
            <a:chExt cx="908334" cy="881944"/>
          </a:xfrm>
        </p:grpSpPr>
        <p:sp>
          <p:nvSpPr>
            <p:cNvPr name="Freeform 10" id="10"/>
            <p:cNvSpPr/>
            <p:nvPr/>
          </p:nvSpPr>
          <p:spPr>
            <a:xfrm flipH="false" flipV="false" rot="0">
              <a:off x="0" y="0"/>
              <a:ext cx="908334" cy="881944"/>
            </a:xfrm>
            <a:custGeom>
              <a:avLst/>
              <a:gdLst/>
              <a:ahLst/>
              <a:cxnLst/>
              <a:rect r="r" b="b" t="t" l="l"/>
              <a:pathLst>
                <a:path h="881944" w="908334">
                  <a:moveTo>
                    <a:pt x="454167" y="0"/>
                  </a:moveTo>
                  <a:cubicBezTo>
                    <a:pt x="203337" y="0"/>
                    <a:pt x="0" y="197430"/>
                    <a:pt x="0" y="440972"/>
                  </a:cubicBezTo>
                  <a:cubicBezTo>
                    <a:pt x="0" y="684514"/>
                    <a:pt x="203337" y="881944"/>
                    <a:pt x="454167" y="881944"/>
                  </a:cubicBezTo>
                  <a:cubicBezTo>
                    <a:pt x="704996" y="881944"/>
                    <a:pt x="908334" y="684514"/>
                    <a:pt x="908334" y="440972"/>
                  </a:cubicBezTo>
                  <a:cubicBezTo>
                    <a:pt x="908334" y="197430"/>
                    <a:pt x="704996" y="0"/>
                    <a:pt x="454167" y="0"/>
                  </a:cubicBezTo>
                  <a:close/>
                </a:path>
              </a:pathLst>
            </a:custGeom>
            <a:solidFill>
              <a:srgbClr val="2C8CCB"/>
            </a:solidFill>
          </p:spPr>
        </p:sp>
        <p:sp>
          <p:nvSpPr>
            <p:cNvPr name="TextBox 11" id="11"/>
            <p:cNvSpPr txBox="true"/>
            <p:nvPr/>
          </p:nvSpPr>
          <p:spPr>
            <a:xfrm>
              <a:off x="85156" y="92207"/>
              <a:ext cx="738021" cy="707055"/>
            </a:xfrm>
            <a:prstGeom prst="rect">
              <a:avLst/>
            </a:prstGeom>
          </p:spPr>
          <p:txBody>
            <a:bodyPr anchor="ctr" rtlCol="false" tIns="50800" lIns="50800" bIns="50800" rIns="50800"/>
            <a:lstStyle/>
            <a:p>
              <a:pPr algn="ctr">
                <a:lnSpc>
                  <a:spcPts val="2240"/>
                </a:lnSpc>
              </a:pPr>
              <a:r>
                <a:rPr lang="en-US" sz="2000">
                  <a:solidFill>
                    <a:srgbClr val="FFFFFF"/>
                  </a:solidFill>
                  <a:latin typeface="Canva Sans"/>
                  <a:ea typeface="Canva Sans"/>
                  <a:cs typeface="Canva Sans"/>
                  <a:sym typeface="Canva Sans"/>
                </a:rPr>
                <a:t>1</a:t>
              </a:r>
            </a:p>
            <a:p>
              <a:pPr algn="ctr">
                <a:lnSpc>
                  <a:spcPts val="2240"/>
                </a:lnSpc>
              </a:pPr>
              <a:r>
                <a:rPr lang="en-US" sz="2000" b="true">
                  <a:solidFill>
                    <a:srgbClr val="FFFFFF"/>
                  </a:solidFill>
                  <a:latin typeface="Canva Sans Bold"/>
                  <a:ea typeface="Canva Sans Bold"/>
                  <a:cs typeface="Canva Sans Bold"/>
                  <a:sym typeface="Canva Sans Bold"/>
                </a:rPr>
                <a:t>Data Collection and Exploration</a:t>
              </a:r>
            </a:p>
            <a:p>
              <a:pPr algn="ctr">
                <a:lnSpc>
                  <a:spcPts val="2016"/>
                </a:lnSpc>
              </a:pPr>
              <a:r>
                <a:rPr lang="en-US" sz="1800" i="true">
                  <a:solidFill>
                    <a:srgbClr val="FFFFFF"/>
                  </a:solidFill>
                  <a:latin typeface="Canva Sans Italics"/>
                  <a:ea typeface="Canva Sans Italics"/>
                  <a:cs typeface="Canva Sans Italics"/>
                  <a:sym typeface="Canva Sans Italics"/>
                </a:rPr>
                <a:t>Load the dataset and extract features and target variable</a:t>
              </a:r>
            </a:p>
          </p:txBody>
        </p:sp>
      </p:grpSp>
      <p:sp>
        <p:nvSpPr>
          <p:cNvPr name="Freeform 12" id="12"/>
          <p:cNvSpPr/>
          <p:nvPr/>
        </p:nvSpPr>
        <p:spPr>
          <a:xfrm flipH="false" flipV="false" rot="1778376">
            <a:off x="2126829" y="5331560"/>
            <a:ext cx="876492" cy="438246"/>
          </a:xfrm>
          <a:custGeom>
            <a:avLst/>
            <a:gdLst/>
            <a:ahLst/>
            <a:cxnLst/>
            <a:rect r="r" b="b" t="t" l="l"/>
            <a:pathLst>
              <a:path h="438246" w="876492">
                <a:moveTo>
                  <a:pt x="0" y="0"/>
                </a:moveTo>
                <a:lnTo>
                  <a:pt x="876492" y="0"/>
                </a:lnTo>
                <a:lnTo>
                  <a:pt x="876492" y="438246"/>
                </a:lnTo>
                <a:lnTo>
                  <a:pt x="0" y="43824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3" id="13"/>
          <p:cNvGrpSpPr/>
          <p:nvPr/>
        </p:nvGrpSpPr>
        <p:grpSpPr>
          <a:xfrm rot="0">
            <a:off x="7021542" y="4666379"/>
            <a:ext cx="2929333" cy="2921103"/>
            <a:chOff x="0" y="0"/>
            <a:chExt cx="834709" cy="832364"/>
          </a:xfrm>
        </p:grpSpPr>
        <p:sp>
          <p:nvSpPr>
            <p:cNvPr name="Freeform 14" id="14"/>
            <p:cNvSpPr/>
            <p:nvPr/>
          </p:nvSpPr>
          <p:spPr>
            <a:xfrm flipH="false" flipV="false" rot="0">
              <a:off x="0" y="0"/>
              <a:ext cx="834709" cy="832364"/>
            </a:xfrm>
            <a:custGeom>
              <a:avLst/>
              <a:gdLst/>
              <a:ahLst/>
              <a:cxnLst/>
              <a:rect r="r" b="b" t="t" l="l"/>
              <a:pathLst>
                <a:path h="832364" w="834709">
                  <a:moveTo>
                    <a:pt x="417355" y="0"/>
                  </a:moveTo>
                  <a:cubicBezTo>
                    <a:pt x="186856" y="0"/>
                    <a:pt x="0" y="186331"/>
                    <a:pt x="0" y="416182"/>
                  </a:cubicBezTo>
                  <a:cubicBezTo>
                    <a:pt x="0" y="646033"/>
                    <a:pt x="186856" y="832364"/>
                    <a:pt x="417355" y="832364"/>
                  </a:cubicBezTo>
                  <a:cubicBezTo>
                    <a:pt x="647853" y="832364"/>
                    <a:pt x="834709" y="646033"/>
                    <a:pt x="834709" y="416182"/>
                  </a:cubicBezTo>
                  <a:cubicBezTo>
                    <a:pt x="834709" y="186331"/>
                    <a:pt x="647853" y="0"/>
                    <a:pt x="417355" y="0"/>
                  </a:cubicBezTo>
                  <a:close/>
                </a:path>
              </a:pathLst>
            </a:custGeom>
            <a:solidFill>
              <a:srgbClr val="80CDCC"/>
            </a:solidFill>
          </p:spPr>
        </p:sp>
        <p:sp>
          <p:nvSpPr>
            <p:cNvPr name="TextBox 15" id="15"/>
            <p:cNvSpPr txBox="true"/>
            <p:nvPr/>
          </p:nvSpPr>
          <p:spPr>
            <a:xfrm>
              <a:off x="78254" y="87559"/>
              <a:ext cx="678201" cy="666771"/>
            </a:xfrm>
            <a:prstGeom prst="rect">
              <a:avLst/>
            </a:prstGeom>
          </p:spPr>
          <p:txBody>
            <a:bodyPr anchor="ctr" rtlCol="false" tIns="50800" lIns="50800" bIns="50800" rIns="50800"/>
            <a:lstStyle/>
            <a:p>
              <a:pPr algn="ctr">
                <a:lnSpc>
                  <a:spcPts val="2260"/>
                </a:lnSpc>
              </a:pPr>
              <a:r>
                <a:rPr lang="en-US" sz="2000">
                  <a:solidFill>
                    <a:srgbClr val="FFFFFF"/>
                  </a:solidFill>
                  <a:latin typeface="Canva Sans"/>
                  <a:ea typeface="Canva Sans"/>
                  <a:cs typeface="Canva Sans"/>
                  <a:sym typeface="Canva Sans"/>
                </a:rPr>
                <a:t>4</a:t>
              </a:r>
            </a:p>
            <a:p>
              <a:pPr algn="ctr">
                <a:lnSpc>
                  <a:spcPts val="2260"/>
                </a:lnSpc>
              </a:pPr>
              <a:r>
                <a:rPr lang="en-US" sz="2000" b="true">
                  <a:solidFill>
                    <a:srgbClr val="FFFFFF"/>
                  </a:solidFill>
                  <a:latin typeface="Canva Sans Bold"/>
                  <a:ea typeface="Canva Sans Bold"/>
                  <a:cs typeface="Canva Sans Bold"/>
                  <a:sym typeface="Canva Sans Bold"/>
                </a:rPr>
                <a:t>Hyperparameter Tuning</a:t>
              </a:r>
            </a:p>
            <a:p>
              <a:pPr algn="ctr">
                <a:lnSpc>
                  <a:spcPts val="2034"/>
                </a:lnSpc>
              </a:pPr>
              <a:r>
                <a:rPr lang="en-US" sz="1800" i="true">
                  <a:solidFill>
                    <a:srgbClr val="FFFFFF"/>
                  </a:solidFill>
                  <a:latin typeface="Canva Sans Italics"/>
                  <a:ea typeface="Canva Sans Italics"/>
                  <a:cs typeface="Canva Sans Italics"/>
                  <a:sym typeface="Canva Sans Italics"/>
                </a:rPr>
                <a:t>Use GridSearch for each model to find the best hyperparameter</a:t>
              </a:r>
            </a:p>
          </p:txBody>
        </p:sp>
      </p:grpSp>
      <p:grpSp>
        <p:nvGrpSpPr>
          <p:cNvPr name="Group 16" id="16"/>
          <p:cNvGrpSpPr/>
          <p:nvPr/>
        </p:nvGrpSpPr>
        <p:grpSpPr>
          <a:xfrm rot="0">
            <a:off x="4916812" y="3154662"/>
            <a:ext cx="2920741" cy="2685697"/>
            <a:chOff x="0" y="0"/>
            <a:chExt cx="883665" cy="812553"/>
          </a:xfrm>
        </p:grpSpPr>
        <p:sp>
          <p:nvSpPr>
            <p:cNvPr name="Freeform 17" id="17"/>
            <p:cNvSpPr/>
            <p:nvPr/>
          </p:nvSpPr>
          <p:spPr>
            <a:xfrm flipH="false" flipV="false" rot="0">
              <a:off x="0" y="0"/>
              <a:ext cx="883665" cy="812553"/>
            </a:xfrm>
            <a:custGeom>
              <a:avLst/>
              <a:gdLst/>
              <a:ahLst/>
              <a:cxnLst/>
              <a:rect r="r" b="b" t="t" l="l"/>
              <a:pathLst>
                <a:path h="812553" w="883665">
                  <a:moveTo>
                    <a:pt x="441833" y="0"/>
                  </a:moveTo>
                  <a:cubicBezTo>
                    <a:pt x="197815" y="0"/>
                    <a:pt x="0" y="181896"/>
                    <a:pt x="0" y="406276"/>
                  </a:cubicBezTo>
                  <a:cubicBezTo>
                    <a:pt x="0" y="630657"/>
                    <a:pt x="197815" y="812553"/>
                    <a:pt x="441833" y="812553"/>
                  </a:cubicBezTo>
                  <a:cubicBezTo>
                    <a:pt x="685850" y="812553"/>
                    <a:pt x="883665" y="630657"/>
                    <a:pt x="883665" y="406276"/>
                  </a:cubicBezTo>
                  <a:cubicBezTo>
                    <a:pt x="883665" y="181896"/>
                    <a:pt x="685850" y="0"/>
                    <a:pt x="441833" y="0"/>
                  </a:cubicBezTo>
                  <a:close/>
                </a:path>
              </a:pathLst>
            </a:custGeom>
            <a:solidFill>
              <a:srgbClr val="3CBDBB"/>
            </a:solidFill>
          </p:spPr>
        </p:sp>
        <p:sp>
          <p:nvSpPr>
            <p:cNvPr name="TextBox 18" id="18"/>
            <p:cNvSpPr txBox="true"/>
            <p:nvPr/>
          </p:nvSpPr>
          <p:spPr>
            <a:xfrm>
              <a:off x="82844" y="85702"/>
              <a:ext cx="717978" cy="650674"/>
            </a:xfrm>
            <a:prstGeom prst="rect">
              <a:avLst/>
            </a:prstGeom>
          </p:spPr>
          <p:txBody>
            <a:bodyPr anchor="ctr" rtlCol="false" tIns="50800" lIns="50800" bIns="50800" rIns="50800"/>
            <a:lstStyle/>
            <a:p>
              <a:pPr algn="ctr">
                <a:lnSpc>
                  <a:spcPts val="2280"/>
                </a:lnSpc>
              </a:pPr>
              <a:r>
                <a:rPr lang="en-US" sz="2000">
                  <a:solidFill>
                    <a:srgbClr val="FFFFFF"/>
                  </a:solidFill>
                  <a:latin typeface="Canva Sans"/>
                  <a:ea typeface="Canva Sans"/>
                  <a:cs typeface="Canva Sans"/>
                  <a:sym typeface="Canva Sans"/>
                </a:rPr>
                <a:t>3</a:t>
              </a:r>
            </a:p>
            <a:p>
              <a:pPr algn="ctr">
                <a:lnSpc>
                  <a:spcPts val="2280"/>
                </a:lnSpc>
              </a:pPr>
              <a:r>
                <a:rPr lang="en-US" sz="2000" b="true">
                  <a:solidFill>
                    <a:srgbClr val="FFFFFF"/>
                  </a:solidFill>
                  <a:latin typeface="Canva Sans Bold"/>
                  <a:ea typeface="Canva Sans Bold"/>
                  <a:cs typeface="Canva Sans Bold"/>
                  <a:sym typeface="Canva Sans Bold"/>
                </a:rPr>
                <a:t>Model Selection</a:t>
              </a:r>
            </a:p>
            <a:p>
              <a:pPr algn="ctr">
                <a:lnSpc>
                  <a:spcPts val="2052"/>
                </a:lnSpc>
              </a:pPr>
              <a:r>
                <a:rPr lang="en-US" sz="1800" i="true">
                  <a:solidFill>
                    <a:srgbClr val="FFFFFF"/>
                  </a:solidFill>
                  <a:latin typeface="Canva Sans Italics"/>
                  <a:ea typeface="Canva Sans Italics"/>
                  <a:cs typeface="Canva Sans Italics"/>
                  <a:sym typeface="Canva Sans Italics"/>
                </a:rPr>
                <a:t>Choose candidate models: Logistic Regression, SVM, Decision Tree, KNN</a:t>
              </a:r>
            </a:p>
          </p:txBody>
        </p:sp>
      </p:grpSp>
      <p:sp>
        <p:nvSpPr>
          <p:cNvPr name="Freeform 19" id="19"/>
          <p:cNvSpPr/>
          <p:nvPr/>
        </p:nvSpPr>
        <p:spPr>
          <a:xfrm flipH="false" flipV="true" rot="-2700000">
            <a:off x="5302153" y="5695116"/>
            <a:ext cx="1139154" cy="290484"/>
          </a:xfrm>
          <a:custGeom>
            <a:avLst/>
            <a:gdLst/>
            <a:ahLst/>
            <a:cxnLst/>
            <a:rect r="r" b="b" t="t" l="l"/>
            <a:pathLst>
              <a:path h="290484" w="1139154">
                <a:moveTo>
                  <a:pt x="0" y="290484"/>
                </a:moveTo>
                <a:lnTo>
                  <a:pt x="1139153" y="290484"/>
                </a:lnTo>
                <a:lnTo>
                  <a:pt x="1139153" y="0"/>
                </a:lnTo>
                <a:lnTo>
                  <a:pt x="0" y="0"/>
                </a:lnTo>
                <a:lnTo>
                  <a:pt x="0" y="290484"/>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0" id="20"/>
          <p:cNvSpPr/>
          <p:nvPr/>
        </p:nvSpPr>
        <p:spPr>
          <a:xfrm flipH="false" flipV="false" rot="1731580">
            <a:off x="7564870" y="4511313"/>
            <a:ext cx="1055807" cy="269231"/>
          </a:xfrm>
          <a:custGeom>
            <a:avLst/>
            <a:gdLst/>
            <a:ahLst/>
            <a:cxnLst/>
            <a:rect r="r" b="b" t="t" l="l"/>
            <a:pathLst>
              <a:path h="269231" w="1055807">
                <a:moveTo>
                  <a:pt x="0" y="0"/>
                </a:moveTo>
                <a:lnTo>
                  <a:pt x="1055807" y="0"/>
                </a:lnTo>
                <a:lnTo>
                  <a:pt x="1055807" y="269231"/>
                </a:lnTo>
                <a:lnTo>
                  <a:pt x="0" y="26923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21" id="21"/>
          <p:cNvGrpSpPr/>
          <p:nvPr/>
        </p:nvGrpSpPr>
        <p:grpSpPr>
          <a:xfrm rot="0">
            <a:off x="12432145" y="5250059"/>
            <a:ext cx="2266251" cy="2191505"/>
            <a:chOff x="0" y="0"/>
            <a:chExt cx="872078" cy="843314"/>
          </a:xfrm>
        </p:grpSpPr>
        <p:sp>
          <p:nvSpPr>
            <p:cNvPr name="Freeform 22" id="22"/>
            <p:cNvSpPr/>
            <p:nvPr/>
          </p:nvSpPr>
          <p:spPr>
            <a:xfrm flipH="false" flipV="false" rot="0">
              <a:off x="0" y="0"/>
              <a:ext cx="872077" cy="843314"/>
            </a:xfrm>
            <a:custGeom>
              <a:avLst/>
              <a:gdLst/>
              <a:ahLst/>
              <a:cxnLst/>
              <a:rect r="r" b="b" t="t" l="l"/>
              <a:pathLst>
                <a:path h="843314" w="872077">
                  <a:moveTo>
                    <a:pt x="436039" y="0"/>
                  </a:moveTo>
                  <a:cubicBezTo>
                    <a:pt x="195221" y="0"/>
                    <a:pt x="0" y="188782"/>
                    <a:pt x="0" y="421657"/>
                  </a:cubicBezTo>
                  <a:cubicBezTo>
                    <a:pt x="0" y="654532"/>
                    <a:pt x="195221" y="843314"/>
                    <a:pt x="436039" y="843314"/>
                  </a:cubicBezTo>
                  <a:cubicBezTo>
                    <a:pt x="676856" y="843314"/>
                    <a:pt x="872077" y="654532"/>
                    <a:pt x="872077" y="421657"/>
                  </a:cubicBezTo>
                  <a:cubicBezTo>
                    <a:pt x="872077" y="188782"/>
                    <a:pt x="676856" y="0"/>
                    <a:pt x="436039" y="0"/>
                  </a:cubicBezTo>
                  <a:close/>
                </a:path>
              </a:pathLst>
            </a:custGeom>
            <a:solidFill>
              <a:srgbClr val="2C8CCB"/>
            </a:solidFill>
          </p:spPr>
        </p:sp>
        <p:sp>
          <p:nvSpPr>
            <p:cNvPr name="TextBox 23" id="23"/>
            <p:cNvSpPr txBox="true"/>
            <p:nvPr/>
          </p:nvSpPr>
          <p:spPr>
            <a:xfrm>
              <a:off x="81757" y="88586"/>
              <a:ext cx="708563" cy="675668"/>
            </a:xfrm>
            <a:prstGeom prst="rect">
              <a:avLst/>
            </a:prstGeom>
          </p:spPr>
          <p:txBody>
            <a:bodyPr anchor="ctr" rtlCol="false" tIns="50800" lIns="50800" bIns="50800" rIns="50800"/>
            <a:lstStyle/>
            <a:p>
              <a:pPr algn="ctr">
                <a:lnSpc>
                  <a:spcPts val="2260"/>
                </a:lnSpc>
              </a:pPr>
              <a:r>
                <a:rPr lang="en-US" sz="2000">
                  <a:solidFill>
                    <a:srgbClr val="FFFFFF"/>
                  </a:solidFill>
                  <a:latin typeface="Canva Sans"/>
                  <a:ea typeface="Canva Sans"/>
                  <a:cs typeface="Canva Sans"/>
                  <a:sym typeface="Canva Sans"/>
                </a:rPr>
                <a:t>6</a:t>
              </a:r>
            </a:p>
            <a:p>
              <a:pPr algn="ctr">
                <a:lnSpc>
                  <a:spcPts val="2260"/>
                </a:lnSpc>
              </a:pPr>
              <a:r>
                <a:rPr lang="en-US" sz="2000" b="true">
                  <a:solidFill>
                    <a:srgbClr val="FFFFFF"/>
                  </a:solidFill>
                  <a:latin typeface="Canva Sans Bold"/>
                  <a:ea typeface="Canva Sans Bold"/>
                  <a:cs typeface="Canva Sans Bold"/>
                  <a:sym typeface="Canva Sans Bold"/>
                </a:rPr>
                <a:t>Final Model</a:t>
              </a:r>
            </a:p>
            <a:p>
              <a:pPr algn="ctr">
                <a:lnSpc>
                  <a:spcPts val="2034"/>
                </a:lnSpc>
              </a:pPr>
              <a:r>
                <a:rPr lang="en-US" sz="1800" i="true">
                  <a:solidFill>
                    <a:srgbClr val="FFFFFF"/>
                  </a:solidFill>
                  <a:latin typeface="Canva Sans Italics"/>
                  <a:ea typeface="Canva Sans Italics"/>
                  <a:cs typeface="Canva Sans Italics"/>
                  <a:sym typeface="Canva Sans Italics"/>
                </a:rPr>
                <a:t>Select the model with the highest accuracy</a:t>
              </a:r>
            </a:p>
          </p:txBody>
        </p:sp>
      </p:grpSp>
      <p:grpSp>
        <p:nvGrpSpPr>
          <p:cNvPr name="Group 24" id="24"/>
          <p:cNvGrpSpPr/>
          <p:nvPr/>
        </p:nvGrpSpPr>
        <p:grpSpPr>
          <a:xfrm rot="0">
            <a:off x="9659490" y="3806508"/>
            <a:ext cx="3123041" cy="3124949"/>
            <a:chOff x="0" y="0"/>
            <a:chExt cx="960832" cy="961419"/>
          </a:xfrm>
        </p:grpSpPr>
        <p:sp>
          <p:nvSpPr>
            <p:cNvPr name="Freeform 25" id="25"/>
            <p:cNvSpPr/>
            <p:nvPr/>
          </p:nvSpPr>
          <p:spPr>
            <a:xfrm flipH="false" flipV="false" rot="0">
              <a:off x="0" y="0"/>
              <a:ext cx="960832" cy="961419"/>
            </a:xfrm>
            <a:custGeom>
              <a:avLst/>
              <a:gdLst/>
              <a:ahLst/>
              <a:cxnLst/>
              <a:rect r="r" b="b" t="t" l="l"/>
              <a:pathLst>
                <a:path h="961419" w="960832">
                  <a:moveTo>
                    <a:pt x="480416" y="0"/>
                  </a:moveTo>
                  <a:cubicBezTo>
                    <a:pt x="215090" y="0"/>
                    <a:pt x="0" y="215221"/>
                    <a:pt x="0" y="480709"/>
                  </a:cubicBezTo>
                  <a:cubicBezTo>
                    <a:pt x="0" y="746198"/>
                    <a:pt x="215090" y="961419"/>
                    <a:pt x="480416" y="961419"/>
                  </a:cubicBezTo>
                  <a:cubicBezTo>
                    <a:pt x="745742" y="961419"/>
                    <a:pt x="960832" y="746198"/>
                    <a:pt x="960832" y="480709"/>
                  </a:cubicBezTo>
                  <a:cubicBezTo>
                    <a:pt x="960832" y="215221"/>
                    <a:pt x="745742" y="0"/>
                    <a:pt x="480416" y="0"/>
                  </a:cubicBezTo>
                  <a:close/>
                </a:path>
              </a:pathLst>
            </a:custGeom>
            <a:solidFill>
              <a:srgbClr val="13538A"/>
            </a:solidFill>
          </p:spPr>
        </p:sp>
        <p:sp>
          <p:nvSpPr>
            <p:cNvPr name="TextBox 26" id="26"/>
            <p:cNvSpPr txBox="true"/>
            <p:nvPr/>
          </p:nvSpPr>
          <p:spPr>
            <a:xfrm>
              <a:off x="90078" y="99658"/>
              <a:ext cx="780676" cy="771628"/>
            </a:xfrm>
            <a:prstGeom prst="rect">
              <a:avLst/>
            </a:prstGeom>
          </p:spPr>
          <p:txBody>
            <a:bodyPr anchor="ctr" rtlCol="false" tIns="50800" lIns="50800" bIns="50800" rIns="50800"/>
            <a:lstStyle/>
            <a:p>
              <a:pPr algn="ctr">
                <a:lnSpc>
                  <a:spcPts val="2240"/>
                </a:lnSpc>
              </a:pPr>
              <a:r>
                <a:rPr lang="en-US" sz="2000">
                  <a:solidFill>
                    <a:srgbClr val="FFFFFF"/>
                  </a:solidFill>
                  <a:latin typeface="Canva Sans"/>
                  <a:ea typeface="Canva Sans"/>
                  <a:cs typeface="Canva Sans"/>
                  <a:sym typeface="Canva Sans"/>
                </a:rPr>
                <a:t>5</a:t>
              </a:r>
            </a:p>
            <a:p>
              <a:pPr algn="ctr">
                <a:lnSpc>
                  <a:spcPts val="2240"/>
                </a:lnSpc>
              </a:pPr>
              <a:r>
                <a:rPr lang="en-US" sz="2000" b="true">
                  <a:solidFill>
                    <a:srgbClr val="FFFFFF"/>
                  </a:solidFill>
                  <a:latin typeface="Canva Sans Bold"/>
                  <a:ea typeface="Canva Sans Bold"/>
                  <a:cs typeface="Canva Sans Bold"/>
                  <a:sym typeface="Canva Sans Bold"/>
                </a:rPr>
                <a:t>Model Evaluation</a:t>
              </a:r>
            </a:p>
            <a:p>
              <a:pPr algn="ctr">
                <a:lnSpc>
                  <a:spcPts val="2016"/>
                </a:lnSpc>
              </a:pPr>
              <a:r>
                <a:rPr lang="en-US" sz="1800" i="true">
                  <a:solidFill>
                    <a:srgbClr val="FFFFFF"/>
                  </a:solidFill>
                  <a:latin typeface="Canva Sans Italics"/>
                  <a:ea typeface="Canva Sans Italics"/>
                  <a:cs typeface="Canva Sans Italics"/>
                  <a:sym typeface="Canva Sans Italics"/>
                </a:rPr>
                <a:t>Evaluate models using accuracy and confusion matrix to compare results to determine the best model</a:t>
              </a:r>
            </a:p>
          </p:txBody>
        </p:sp>
      </p:grpSp>
      <p:sp>
        <p:nvSpPr>
          <p:cNvPr name="Freeform 27" id="27"/>
          <p:cNvSpPr/>
          <p:nvPr/>
        </p:nvSpPr>
        <p:spPr>
          <a:xfrm flipH="true" flipV="true" rot="9392422">
            <a:off x="9710498" y="6393436"/>
            <a:ext cx="876492" cy="438246"/>
          </a:xfrm>
          <a:custGeom>
            <a:avLst/>
            <a:gdLst/>
            <a:ahLst/>
            <a:cxnLst/>
            <a:rect r="r" b="b" t="t" l="l"/>
            <a:pathLst>
              <a:path h="438246" w="876492">
                <a:moveTo>
                  <a:pt x="876492" y="438246"/>
                </a:moveTo>
                <a:lnTo>
                  <a:pt x="0" y="438246"/>
                </a:lnTo>
                <a:lnTo>
                  <a:pt x="0" y="0"/>
                </a:lnTo>
                <a:lnTo>
                  <a:pt x="876492" y="0"/>
                </a:lnTo>
                <a:lnTo>
                  <a:pt x="876492" y="438246"/>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8" id="28"/>
          <p:cNvSpPr/>
          <p:nvPr/>
        </p:nvSpPr>
        <p:spPr>
          <a:xfrm flipH="false" flipV="false" rot="1013089">
            <a:off x="12285693" y="5034422"/>
            <a:ext cx="1307892" cy="333512"/>
          </a:xfrm>
          <a:custGeom>
            <a:avLst/>
            <a:gdLst/>
            <a:ahLst/>
            <a:cxnLst/>
            <a:rect r="r" b="b" t="t" l="l"/>
            <a:pathLst>
              <a:path h="333512" w="1307892">
                <a:moveTo>
                  <a:pt x="0" y="0"/>
                </a:moveTo>
                <a:lnTo>
                  <a:pt x="1307892" y="0"/>
                </a:lnTo>
                <a:lnTo>
                  <a:pt x="1307892" y="333512"/>
                </a:lnTo>
                <a:lnTo>
                  <a:pt x="0" y="33351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33707" y="1272925"/>
            <a:ext cx="17492467" cy="8177728"/>
          </a:xfrm>
          <a:custGeom>
            <a:avLst/>
            <a:gdLst/>
            <a:ahLst/>
            <a:cxnLst/>
            <a:rect r="r" b="b" t="t" l="l"/>
            <a:pathLst>
              <a:path h="8177728" w="17492467">
                <a:moveTo>
                  <a:pt x="0" y="0"/>
                </a:moveTo>
                <a:lnTo>
                  <a:pt x="17492467" y="0"/>
                </a:lnTo>
                <a:lnTo>
                  <a:pt x="17492467" y="8177728"/>
                </a:lnTo>
                <a:lnTo>
                  <a:pt x="0" y="8177728"/>
                </a:lnTo>
                <a:lnTo>
                  <a:pt x="0" y="0"/>
                </a:lnTo>
                <a:close/>
              </a:path>
            </a:pathLst>
          </a:custGeom>
          <a:blipFill>
            <a:blip r:embed="rId2"/>
            <a:stretch>
              <a:fillRect l="0" t="0" r="0" b="0"/>
            </a:stretch>
          </a:blipFill>
        </p:spPr>
      </p:sp>
      <p:sp>
        <p:nvSpPr>
          <p:cNvPr name="TextBox 3" id="3"/>
          <p:cNvSpPr txBox="true"/>
          <p:nvPr/>
        </p:nvSpPr>
        <p:spPr>
          <a:xfrm rot="0">
            <a:off x="433707" y="381135"/>
            <a:ext cx="10868630" cy="745489"/>
          </a:xfrm>
          <a:prstGeom prst="rect">
            <a:avLst/>
          </a:prstGeom>
        </p:spPr>
        <p:txBody>
          <a:bodyPr anchor="t" rtlCol="false" tIns="0" lIns="0" bIns="0" rIns="0">
            <a:spAutoFit/>
          </a:bodyPr>
          <a:lstStyle/>
          <a:p>
            <a:pPr algn="l">
              <a:lnSpc>
                <a:spcPts val="6160"/>
              </a:lnSpc>
              <a:spcBef>
                <a:spcPct val="0"/>
              </a:spcBef>
            </a:pPr>
            <a:r>
              <a:rPr lang="en-US" sz="4400">
                <a:solidFill>
                  <a:srgbClr val="05060B"/>
                </a:solidFill>
                <a:latin typeface="Anton"/>
                <a:ea typeface="Anton"/>
                <a:cs typeface="Anton"/>
                <a:sym typeface="Anton"/>
              </a:rPr>
              <a:t>RESULTS</a:t>
            </a:r>
          </a:p>
        </p:txBody>
      </p:sp>
      <p:sp>
        <p:nvSpPr>
          <p:cNvPr name="TextBox 4" id="4"/>
          <p:cNvSpPr txBox="true"/>
          <p:nvPr/>
        </p:nvSpPr>
        <p:spPr>
          <a:xfrm rot="0">
            <a:off x="433707" y="9599186"/>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5060B"/>
                </a:solidFill>
                <a:latin typeface="Canva Sans"/>
                <a:ea typeface="Canva Sans"/>
                <a:cs typeface="Canva Sans"/>
                <a:sym typeface="Canva Sans"/>
              </a:rPr>
              <a:t>Page 16</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693115" y="0"/>
            <a:ext cx="7831370" cy="10287000"/>
            <a:chOff x="0" y="0"/>
            <a:chExt cx="1168151" cy="1534440"/>
          </a:xfrm>
        </p:grpSpPr>
        <p:sp>
          <p:nvSpPr>
            <p:cNvPr name="Freeform 3" id="3"/>
            <p:cNvSpPr/>
            <p:nvPr/>
          </p:nvSpPr>
          <p:spPr>
            <a:xfrm flipH="false" flipV="false" rot="0">
              <a:off x="0" y="0"/>
              <a:ext cx="1168150" cy="1534440"/>
            </a:xfrm>
            <a:custGeom>
              <a:avLst/>
              <a:gdLst/>
              <a:ahLst/>
              <a:cxnLst/>
              <a:rect r="r" b="b" t="t" l="l"/>
              <a:pathLst>
                <a:path h="1534440" w="1168150">
                  <a:moveTo>
                    <a:pt x="0" y="0"/>
                  </a:moveTo>
                  <a:lnTo>
                    <a:pt x="1168150" y="0"/>
                  </a:lnTo>
                  <a:lnTo>
                    <a:pt x="1168150" y="1534440"/>
                  </a:lnTo>
                  <a:lnTo>
                    <a:pt x="0" y="1534440"/>
                  </a:lnTo>
                  <a:close/>
                </a:path>
              </a:pathLst>
            </a:custGeom>
            <a:blipFill>
              <a:blip r:embed="rId2">
                <a:alphaModFix amt="82000"/>
              </a:blip>
              <a:stretch>
                <a:fillRect l="-39510" t="0" r="-39510" b="0"/>
              </a:stretch>
            </a:blipFill>
            <a:ln cap="sq">
              <a:noFill/>
              <a:prstDash val="solid"/>
              <a:miter/>
            </a:ln>
          </p:spPr>
        </p:sp>
      </p:grpSp>
      <p:sp>
        <p:nvSpPr>
          <p:cNvPr name="TextBox 4" id="4"/>
          <p:cNvSpPr txBox="true"/>
          <p:nvPr/>
        </p:nvSpPr>
        <p:spPr>
          <a:xfrm rot="0">
            <a:off x="1213499" y="3735787"/>
            <a:ext cx="8223639" cy="2701126"/>
          </a:xfrm>
          <a:prstGeom prst="rect">
            <a:avLst/>
          </a:prstGeom>
        </p:spPr>
        <p:txBody>
          <a:bodyPr anchor="t" rtlCol="false" tIns="0" lIns="0" bIns="0" rIns="0">
            <a:spAutoFit/>
          </a:bodyPr>
          <a:lstStyle/>
          <a:p>
            <a:pPr algn="l">
              <a:lnSpc>
                <a:spcPts val="8619"/>
              </a:lnSpc>
            </a:pPr>
            <a:r>
              <a:rPr lang="en-US" sz="6156">
                <a:solidFill>
                  <a:srgbClr val="05060B"/>
                </a:solidFill>
                <a:latin typeface="Anton"/>
                <a:ea typeface="Anton"/>
                <a:cs typeface="Anton"/>
                <a:sym typeface="Anton"/>
              </a:rPr>
              <a:t>INSIGHTS DRAWN FROM EDA</a:t>
            </a:r>
          </a:p>
          <a:p>
            <a:pPr algn="l" marL="1005337" indent="-502669" lvl="1">
              <a:lnSpc>
                <a:spcPts val="6519"/>
              </a:lnSpc>
              <a:buFont typeface="Arial"/>
              <a:buChar char="•"/>
            </a:pPr>
            <a:r>
              <a:rPr lang="en-US" sz="4656">
                <a:solidFill>
                  <a:srgbClr val="05060B"/>
                </a:solidFill>
                <a:latin typeface="Anton"/>
                <a:ea typeface="Anton"/>
                <a:cs typeface="Anton"/>
                <a:sym typeface="Anton"/>
              </a:rPr>
              <a:t>VISUALISATION</a:t>
            </a:r>
          </a:p>
          <a:p>
            <a:pPr algn="l" marL="1005337" indent="-502669" lvl="1">
              <a:lnSpc>
                <a:spcPts val="6519"/>
              </a:lnSpc>
              <a:spcBef>
                <a:spcPct val="0"/>
              </a:spcBef>
              <a:buFont typeface="Arial"/>
              <a:buChar char="•"/>
            </a:pPr>
            <a:r>
              <a:rPr lang="en-US" sz="4656">
                <a:solidFill>
                  <a:srgbClr val="05060B"/>
                </a:solidFill>
                <a:latin typeface="Anton"/>
                <a:ea typeface="Anton"/>
                <a:cs typeface="Anton"/>
                <a:sym typeface="Anton"/>
              </a:rPr>
              <a:t>SQL</a:t>
            </a:r>
          </a:p>
        </p:txBody>
      </p:sp>
      <p:sp>
        <p:nvSpPr>
          <p:cNvPr name="TextBox 5" id="5"/>
          <p:cNvSpPr txBox="true"/>
          <p:nvPr/>
        </p:nvSpPr>
        <p:spPr>
          <a:xfrm rot="0">
            <a:off x="433707" y="9599186"/>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5060B"/>
                </a:solidFill>
                <a:latin typeface="Canva Sans"/>
                <a:ea typeface="Canva Sans"/>
                <a:cs typeface="Canva Sans"/>
                <a:sym typeface="Canva Sans"/>
              </a:rPr>
              <a:t>Page 17</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65835" y="2032822"/>
            <a:ext cx="16593465" cy="5807713"/>
          </a:xfrm>
          <a:custGeom>
            <a:avLst/>
            <a:gdLst/>
            <a:ahLst/>
            <a:cxnLst/>
            <a:rect r="r" b="b" t="t" l="l"/>
            <a:pathLst>
              <a:path h="5807713" w="16593465">
                <a:moveTo>
                  <a:pt x="0" y="0"/>
                </a:moveTo>
                <a:lnTo>
                  <a:pt x="16593465" y="0"/>
                </a:lnTo>
                <a:lnTo>
                  <a:pt x="16593465" y="5807713"/>
                </a:lnTo>
                <a:lnTo>
                  <a:pt x="0" y="5807713"/>
                </a:lnTo>
                <a:lnTo>
                  <a:pt x="0" y="0"/>
                </a:lnTo>
                <a:close/>
              </a:path>
            </a:pathLst>
          </a:custGeom>
          <a:blipFill>
            <a:blip r:embed="rId2"/>
            <a:stretch>
              <a:fillRect l="0" t="0" r="0" b="0"/>
            </a:stretch>
          </a:blipFill>
        </p:spPr>
      </p:sp>
      <p:sp>
        <p:nvSpPr>
          <p:cNvPr name="TextBox 3" id="3"/>
          <p:cNvSpPr txBox="true"/>
          <p:nvPr/>
        </p:nvSpPr>
        <p:spPr>
          <a:xfrm rot="0">
            <a:off x="433707" y="9599186"/>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5060B"/>
                </a:solidFill>
                <a:latin typeface="Canva Sans"/>
                <a:ea typeface="Canva Sans"/>
                <a:cs typeface="Canva Sans"/>
                <a:sym typeface="Canva Sans"/>
              </a:rPr>
              <a:t>Page 18</a:t>
            </a:r>
          </a:p>
        </p:txBody>
      </p:sp>
      <p:sp>
        <p:nvSpPr>
          <p:cNvPr name="TextBox 4" id="4"/>
          <p:cNvSpPr txBox="true"/>
          <p:nvPr/>
        </p:nvSpPr>
        <p:spPr>
          <a:xfrm rot="0">
            <a:off x="547291" y="895860"/>
            <a:ext cx="10868630" cy="877569"/>
          </a:xfrm>
          <a:prstGeom prst="rect">
            <a:avLst/>
          </a:prstGeom>
        </p:spPr>
        <p:txBody>
          <a:bodyPr anchor="t" rtlCol="false" tIns="0" lIns="0" bIns="0" rIns="0">
            <a:spAutoFit/>
          </a:bodyPr>
          <a:lstStyle/>
          <a:p>
            <a:pPr algn="l">
              <a:lnSpc>
                <a:spcPts val="7280"/>
              </a:lnSpc>
              <a:spcBef>
                <a:spcPct val="0"/>
              </a:spcBef>
            </a:pPr>
            <a:r>
              <a:rPr lang="en-US" sz="5200">
                <a:solidFill>
                  <a:srgbClr val="05060B"/>
                </a:solidFill>
                <a:latin typeface="Anton"/>
                <a:ea typeface="Anton"/>
                <a:cs typeface="Anton"/>
                <a:sym typeface="Anton"/>
              </a:rPr>
              <a:t>FLIGHT NUMBER VS LAUNCH SITE</a:t>
            </a:r>
          </a:p>
        </p:txBody>
      </p:sp>
      <p:sp>
        <p:nvSpPr>
          <p:cNvPr name="TextBox 5" id="5"/>
          <p:cNvSpPr txBox="true"/>
          <p:nvPr/>
        </p:nvSpPr>
        <p:spPr>
          <a:xfrm rot="0">
            <a:off x="547291" y="401197"/>
            <a:ext cx="2717135" cy="580388"/>
          </a:xfrm>
          <a:prstGeom prst="rect">
            <a:avLst/>
          </a:prstGeom>
        </p:spPr>
        <p:txBody>
          <a:bodyPr anchor="t" rtlCol="false" tIns="0" lIns="0" bIns="0" rIns="0">
            <a:spAutoFit/>
          </a:bodyPr>
          <a:lstStyle/>
          <a:p>
            <a:pPr algn="l">
              <a:lnSpc>
                <a:spcPts val="4760"/>
              </a:lnSpc>
              <a:spcBef>
                <a:spcPct val="0"/>
              </a:spcBef>
            </a:pPr>
            <a:r>
              <a:rPr lang="en-US" sz="3400">
                <a:solidFill>
                  <a:srgbClr val="05060B"/>
                </a:solidFill>
                <a:latin typeface="Anton"/>
                <a:ea typeface="Anton"/>
                <a:cs typeface="Anton"/>
                <a:sym typeface="Anton"/>
              </a:rPr>
              <a:t>VISUALIZATION</a:t>
            </a:r>
          </a:p>
        </p:txBody>
      </p:sp>
      <p:sp>
        <p:nvSpPr>
          <p:cNvPr name="TextBox 6" id="6"/>
          <p:cNvSpPr txBox="true"/>
          <p:nvPr/>
        </p:nvSpPr>
        <p:spPr>
          <a:xfrm rot="0">
            <a:off x="433707" y="7958287"/>
            <a:ext cx="18315513" cy="1300013"/>
          </a:xfrm>
          <a:prstGeom prst="rect">
            <a:avLst/>
          </a:prstGeom>
        </p:spPr>
        <p:txBody>
          <a:bodyPr anchor="t" rtlCol="false" tIns="0" lIns="0" bIns="0" rIns="0">
            <a:spAutoFit/>
          </a:bodyPr>
          <a:lstStyle/>
          <a:p>
            <a:pPr algn="l" marL="475688" indent="-237844" lvl="1">
              <a:lnSpc>
                <a:spcPts val="2577"/>
              </a:lnSpc>
              <a:buFont typeface="Arial"/>
              <a:buChar char="•"/>
            </a:pPr>
            <a:r>
              <a:rPr lang="en-US" sz="2203">
                <a:solidFill>
                  <a:srgbClr val="333AFD"/>
                </a:solidFill>
                <a:latin typeface="Canva Sans"/>
                <a:ea typeface="Canva Sans"/>
                <a:cs typeface="Canva Sans"/>
                <a:sym typeface="Canva Sans"/>
              </a:rPr>
              <a:t>Blue indicates failed launches</a:t>
            </a:r>
            <a:r>
              <a:rPr lang="en-US" sz="2203">
                <a:solidFill>
                  <a:srgbClr val="05060B"/>
                </a:solidFill>
                <a:latin typeface="Canva Sans"/>
                <a:ea typeface="Canva Sans"/>
                <a:cs typeface="Canva Sans"/>
                <a:sym typeface="Canva Sans"/>
              </a:rPr>
              <a:t> and </a:t>
            </a:r>
            <a:r>
              <a:rPr lang="en-US" sz="2203">
                <a:solidFill>
                  <a:srgbClr val="FF8A2C"/>
                </a:solidFill>
                <a:latin typeface="Canva Sans"/>
                <a:ea typeface="Canva Sans"/>
                <a:cs typeface="Canva Sans"/>
                <a:sym typeface="Canva Sans"/>
              </a:rPr>
              <a:t>orange indicates successful launches.</a:t>
            </a:r>
          </a:p>
          <a:p>
            <a:pPr algn="l" marL="475688" indent="-237844" lvl="1">
              <a:lnSpc>
                <a:spcPts val="2577"/>
              </a:lnSpc>
              <a:buFont typeface="Arial"/>
              <a:buChar char="•"/>
            </a:pPr>
            <a:r>
              <a:rPr lang="en-US" b="true" sz="2203">
                <a:solidFill>
                  <a:srgbClr val="05060B"/>
                </a:solidFill>
                <a:latin typeface="Canva Sans Bold"/>
                <a:ea typeface="Canva Sans Bold"/>
                <a:cs typeface="Canva Sans Bold"/>
                <a:sym typeface="Canva Sans Bold"/>
              </a:rPr>
              <a:t>CCAFS SLC 40</a:t>
            </a:r>
            <a:r>
              <a:rPr lang="en-US" sz="2203">
                <a:solidFill>
                  <a:srgbClr val="05060B"/>
                </a:solidFill>
                <a:latin typeface="Canva Sans"/>
                <a:ea typeface="Canva Sans"/>
                <a:cs typeface="Canva Sans"/>
                <a:sym typeface="Canva Sans"/>
              </a:rPr>
              <a:t> contains </a:t>
            </a:r>
            <a:r>
              <a:rPr lang="en-US" b="true" sz="2203">
                <a:solidFill>
                  <a:srgbClr val="05060B"/>
                </a:solidFill>
                <a:latin typeface="Canva Sans Bold"/>
                <a:ea typeface="Canva Sans Bold"/>
                <a:cs typeface="Canva Sans Bold"/>
                <a:sym typeface="Canva Sans Bold"/>
              </a:rPr>
              <a:t>highest volume of launches</a:t>
            </a:r>
            <a:r>
              <a:rPr lang="en-US" sz="2203">
                <a:solidFill>
                  <a:srgbClr val="05060B"/>
                </a:solidFill>
                <a:latin typeface="Canva Sans"/>
                <a:ea typeface="Canva Sans"/>
                <a:cs typeface="Canva Sans"/>
                <a:sym typeface="Canva Sans"/>
              </a:rPr>
              <a:t> although </a:t>
            </a:r>
            <a:r>
              <a:rPr lang="en-US" b="true" sz="2203">
                <a:solidFill>
                  <a:srgbClr val="05060B"/>
                </a:solidFill>
                <a:latin typeface="Canva Sans Bold"/>
                <a:ea typeface="Canva Sans Bold"/>
                <a:cs typeface="Canva Sans Bold"/>
                <a:sym typeface="Canva Sans Bold"/>
              </a:rPr>
              <a:t>not the most successful</a:t>
            </a:r>
            <a:r>
              <a:rPr lang="en-US" sz="2203">
                <a:solidFill>
                  <a:srgbClr val="05060B"/>
                </a:solidFill>
                <a:latin typeface="Canva Sans"/>
                <a:ea typeface="Canva Sans"/>
                <a:cs typeface="Canva Sans"/>
                <a:sym typeface="Canva Sans"/>
              </a:rPr>
              <a:t> launches compared to volume.</a:t>
            </a:r>
          </a:p>
          <a:p>
            <a:pPr algn="l" marL="475688" indent="-237844" lvl="1">
              <a:lnSpc>
                <a:spcPts val="2577"/>
              </a:lnSpc>
              <a:buFont typeface="Arial"/>
              <a:buChar char="•"/>
            </a:pPr>
            <a:r>
              <a:rPr lang="en-US" b="true" sz="2203">
                <a:solidFill>
                  <a:srgbClr val="05060B"/>
                </a:solidFill>
                <a:latin typeface="Canva Sans Bold"/>
                <a:ea typeface="Canva Sans Bold"/>
                <a:cs typeface="Canva Sans Bold"/>
                <a:sym typeface="Canva Sans Bold"/>
              </a:rPr>
              <a:t>KSC LC 39A</a:t>
            </a:r>
            <a:r>
              <a:rPr lang="en-US" sz="2203">
                <a:solidFill>
                  <a:srgbClr val="05060B"/>
                </a:solidFill>
                <a:latin typeface="Canva Sans"/>
                <a:ea typeface="Canva Sans"/>
                <a:cs typeface="Canva Sans"/>
                <a:sym typeface="Canva Sans"/>
              </a:rPr>
              <a:t> is by far the </a:t>
            </a:r>
            <a:r>
              <a:rPr lang="en-US" b="true" sz="2203">
                <a:solidFill>
                  <a:srgbClr val="05060B"/>
                </a:solidFill>
                <a:latin typeface="Canva Sans Bold"/>
                <a:ea typeface="Canva Sans Bold"/>
                <a:cs typeface="Canva Sans Bold"/>
                <a:sym typeface="Canva Sans Bold"/>
              </a:rPr>
              <a:t>most successful</a:t>
            </a:r>
            <a:r>
              <a:rPr lang="en-US" sz="2203">
                <a:solidFill>
                  <a:srgbClr val="05060B"/>
                </a:solidFill>
                <a:latin typeface="Canva Sans"/>
                <a:ea typeface="Canva Sans"/>
                <a:cs typeface="Canva Sans"/>
                <a:sym typeface="Canva Sans"/>
              </a:rPr>
              <a:t> where only 5/22 launches being unsuccessful. </a:t>
            </a:r>
          </a:p>
          <a:p>
            <a:pPr algn="l" marL="475688" indent="-237844" lvl="1">
              <a:lnSpc>
                <a:spcPts val="2577"/>
              </a:lnSpc>
              <a:buFont typeface="Arial"/>
              <a:buChar char="•"/>
            </a:pPr>
            <a:r>
              <a:rPr lang="en-US" sz="2203">
                <a:solidFill>
                  <a:srgbClr val="05060B"/>
                </a:solidFill>
                <a:latin typeface="Canva Sans"/>
                <a:ea typeface="Canva Sans"/>
                <a:cs typeface="Canva Sans"/>
                <a:sym typeface="Canva Sans"/>
              </a:rPr>
              <a:t>Visualization suggests an </a:t>
            </a:r>
            <a:r>
              <a:rPr lang="en-US" b="true" sz="2203">
                <a:solidFill>
                  <a:srgbClr val="05060B"/>
                </a:solidFill>
                <a:latin typeface="Canva Sans Bold"/>
                <a:ea typeface="Canva Sans Bold"/>
                <a:cs typeface="Canva Sans Bold"/>
                <a:sym typeface="Canva Sans Bold"/>
              </a:rPr>
              <a:t>increase in success rate as number of flights increases</a:t>
            </a:r>
            <a:r>
              <a:rPr lang="en-US" sz="2203">
                <a:solidFill>
                  <a:srgbClr val="05060B"/>
                </a:solidFill>
                <a:latin typeface="Canva Sans"/>
                <a:ea typeface="Canva Sans"/>
                <a:cs typeface="Canva Sans"/>
                <a:sym typeface="Canva Sans"/>
              </a:rPr>
              <a:t>.</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99898" y="1649325"/>
            <a:ext cx="16888203" cy="6206415"/>
          </a:xfrm>
          <a:custGeom>
            <a:avLst/>
            <a:gdLst/>
            <a:ahLst/>
            <a:cxnLst/>
            <a:rect r="r" b="b" t="t" l="l"/>
            <a:pathLst>
              <a:path h="6206415" w="16888203">
                <a:moveTo>
                  <a:pt x="0" y="0"/>
                </a:moveTo>
                <a:lnTo>
                  <a:pt x="16888204" y="0"/>
                </a:lnTo>
                <a:lnTo>
                  <a:pt x="16888204" y="6206415"/>
                </a:lnTo>
                <a:lnTo>
                  <a:pt x="0" y="6206415"/>
                </a:lnTo>
                <a:lnTo>
                  <a:pt x="0" y="0"/>
                </a:lnTo>
                <a:close/>
              </a:path>
            </a:pathLst>
          </a:custGeom>
          <a:blipFill>
            <a:blip r:embed="rId2"/>
            <a:stretch>
              <a:fillRect l="0" t="0" r="0" b="0"/>
            </a:stretch>
          </a:blipFill>
        </p:spPr>
      </p:sp>
      <p:sp>
        <p:nvSpPr>
          <p:cNvPr name="TextBox 3" id="3"/>
          <p:cNvSpPr txBox="true"/>
          <p:nvPr/>
        </p:nvSpPr>
        <p:spPr>
          <a:xfrm rot="0">
            <a:off x="433707" y="9599186"/>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5060B"/>
                </a:solidFill>
                <a:latin typeface="Canva Sans"/>
                <a:ea typeface="Canva Sans"/>
                <a:cs typeface="Canva Sans"/>
                <a:sym typeface="Canva Sans"/>
              </a:rPr>
              <a:t>Page 19</a:t>
            </a:r>
          </a:p>
        </p:txBody>
      </p:sp>
      <p:sp>
        <p:nvSpPr>
          <p:cNvPr name="TextBox 4" id="4"/>
          <p:cNvSpPr txBox="true"/>
          <p:nvPr/>
        </p:nvSpPr>
        <p:spPr>
          <a:xfrm rot="0">
            <a:off x="552004" y="895860"/>
            <a:ext cx="10868630" cy="877569"/>
          </a:xfrm>
          <a:prstGeom prst="rect">
            <a:avLst/>
          </a:prstGeom>
        </p:spPr>
        <p:txBody>
          <a:bodyPr anchor="t" rtlCol="false" tIns="0" lIns="0" bIns="0" rIns="0">
            <a:spAutoFit/>
          </a:bodyPr>
          <a:lstStyle/>
          <a:p>
            <a:pPr algn="l">
              <a:lnSpc>
                <a:spcPts val="7280"/>
              </a:lnSpc>
              <a:spcBef>
                <a:spcPct val="0"/>
              </a:spcBef>
            </a:pPr>
            <a:r>
              <a:rPr lang="en-US" sz="5200">
                <a:solidFill>
                  <a:srgbClr val="05060B"/>
                </a:solidFill>
                <a:latin typeface="Anton"/>
                <a:ea typeface="Anton"/>
                <a:cs typeface="Anton"/>
                <a:sym typeface="Anton"/>
              </a:rPr>
              <a:t>PAYLOAD VS LAUNCH SITE</a:t>
            </a:r>
          </a:p>
        </p:txBody>
      </p:sp>
      <p:sp>
        <p:nvSpPr>
          <p:cNvPr name="TextBox 5" id="5"/>
          <p:cNvSpPr txBox="true"/>
          <p:nvPr/>
        </p:nvSpPr>
        <p:spPr>
          <a:xfrm rot="0">
            <a:off x="547291" y="401197"/>
            <a:ext cx="2717135" cy="580388"/>
          </a:xfrm>
          <a:prstGeom prst="rect">
            <a:avLst/>
          </a:prstGeom>
        </p:spPr>
        <p:txBody>
          <a:bodyPr anchor="t" rtlCol="false" tIns="0" lIns="0" bIns="0" rIns="0">
            <a:spAutoFit/>
          </a:bodyPr>
          <a:lstStyle/>
          <a:p>
            <a:pPr algn="l">
              <a:lnSpc>
                <a:spcPts val="4760"/>
              </a:lnSpc>
              <a:spcBef>
                <a:spcPct val="0"/>
              </a:spcBef>
            </a:pPr>
            <a:r>
              <a:rPr lang="en-US" sz="3400">
                <a:solidFill>
                  <a:srgbClr val="05060B"/>
                </a:solidFill>
                <a:latin typeface="Anton"/>
                <a:ea typeface="Anton"/>
                <a:cs typeface="Anton"/>
                <a:sym typeface="Anton"/>
              </a:rPr>
              <a:t>VISUALIZATION</a:t>
            </a:r>
          </a:p>
        </p:txBody>
      </p:sp>
      <p:sp>
        <p:nvSpPr>
          <p:cNvPr name="TextBox 6" id="6"/>
          <p:cNvSpPr txBox="true"/>
          <p:nvPr/>
        </p:nvSpPr>
        <p:spPr>
          <a:xfrm rot="0">
            <a:off x="433707" y="7598696"/>
            <a:ext cx="17711291" cy="1941969"/>
          </a:xfrm>
          <a:prstGeom prst="rect">
            <a:avLst/>
          </a:prstGeom>
        </p:spPr>
        <p:txBody>
          <a:bodyPr anchor="t" rtlCol="false" tIns="0" lIns="0" bIns="0" rIns="0">
            <a:spAutoFit/>
          </a:bodyPr>
          <a:lstStyle/>
          <a:p>
            <a:pPr algn="l" marL="475687" indent="-237844" lvl="1">
              <a:lnSpc>
                <a:spcPts val="2577"/>
              </a:lnSpc>
              <a:buFont typeface="Arial"/>
              <a:buChar char="•"/>
            </a:pPr>
            <a:r>
              <a:rPr lang="en-US" sz="2203">
                <a:solidFill>
                  <a:srgbClr val="000000"/>
                </a:solidFill>
                <a:latin typeface="Canva Sans"/>
                <a:ea typeface="Canva Sans"/>
                <a:cs typeface="Canva Sans"/>
                <a:sym typeface="Canva Sans"/>
              </a:rPr>
              <a:t>Most launches </a:t>
            </a:r>
            <a:r>
              <a:rPr lang="en-US" b="true" sz="2203">
                <a:solidFill>
                  <a:srgbClr val="000000"/>
                </a:solidFill>
                <a:latin typeface="Canva Sans Bold"/>
                <a:ea typeface="Canva Sans Bold"/>
                <a:cs typeface="Canva Sans Bold"/>
                <a:sym typeface="Canva Sans Bold"/>
              </a:rPr>
              <a:t>above ~8000kg where successful</a:t>
            </a:r>
            <a:r>
              <a:rPr lang="en-US" sz="2203">
                <a:solidFill>
                  <a:srgbClr val="000000"/>
                </a:solidFill>
                <a:latin typeface="Canva Sans"/>
                <a:ea typeface="Canva Sans"/>
                <a:cs typeface="Canva Sans"/>
                <a:sym typeface="Canva Sans"/>
              </a:rPr>
              <a:t> </a:t>
            </a:r>
          </a:p>
          <a:p>
            <a:pPr algn="l" marL="475687" indent="-237844" lvl="1">
              <a:lnSpc>
                <a:spcPts val="2577"/>
              </a:lnSpc>
              <a:buFont typeface="Arial"/>
              <a:buChar char="•"/>
            </a:pPr>
            <a:r>
              <a:rPr lang="en-US" b="true" sz="2203">
                <a:solidFill>
                  <a:srgbClr val="000000"/>
                </a:solidFill>
                <a:latin typeface="Canva Sans Bold"/>
                <a:ea typeface="Canva Sans Bold"/>
                <a:cs typeface="Canva Sans Bold"/>
                <a:sym typeface="Canva Sans Bold"/>
              </a:rPr>
              <a:t>KSC LC 39A</a:t>
            </a:r>
            <a:r>
              <a:rPr lang="en-US" sz="2203">
                <a:solidFill>
                  <a:srgbClr val="000000"/>
                </a:solidFill>
                <a:latin typeface="Canva Sans"/>
                <a:ea typeface="Canva Sans"/>
                <a:cs typeface="Canva Sans"/>
                <a:sym typeface="Canva Sans"/>
              </a:rPr>
              <a:t> has a </a:t>
            </a:r>
            <a:r>
              <a:rPr lang="en-US" b="true" sz="2203">
                <a:solidFill>
                  <a:srgbClr val="000000"/>
                </a:solidFill>
                <a:latin typeface="Canva Sans Bold"/>
                <a:ea typeface="Canva Sans Bold"/>
                <a:cs typeface="Canva Sans Bold"/>
                <a:sym typeface="Canva Sans Bold"/>
              </a:rPr>
              <a:t>perfect success rate</a:t>
            </a:r>
            <a:r>
              <a:rPr lang="en-US" sz="2203">
                <a:solidFill>
                  <a:srgbClr val="000000"/>
                </a:solidFill>
                <a:latin typeface="Canva Sans"/>
                <a:ea typeface="Canva Sans"/>
                <a:cs typeface="Canva Sans"/>
                <a:sym typeface="Canva Sans"/>
              </a:rPr>
              <a:t> for launches</a:t>
            </a:r>
            <a:r>
              <a:rPr lang="en-US" b="true" sz="2203">
                <a:solidFill>
                  <a:srgbClr val="000000"/>
                </a:solidFill>
                <a:latin typeface="Canva Sans Bold"/>
                <a:ea typeface="Canva Sans Bold"/>
                <a:cs typeface="Canva Sans Bold"/>
                <a:sym typeface="Canva Sans Bold"/>
              </a:rPr>
              <a:t> under ~5000kg</a:t>
            </a:r>
            <a:r>
              <a:rPr lang="en-US" sz="2203">
                <a:solidFill>
                  <a:srgbClr val="000000"/>
                </a:solidFill>
                <a:latin typeface="Canva Sans"/>
                <a:ea typeface="Canva Sans"/>
                <a:cs typeface="Canva Sans"/>
                <a:sym typeface="Canva Sans"/>
              </a:rPr>
              <a:t>. Between </a:t>
            </a:r>
            <a:r>
              <a:rPr lang="en-US" b="true" sz="2203">
                <a:solidFill>
                  <a:srgbClr val="000000"/>
                </a:solidFill>
                <a:latin typeface="Canva Sans Bold"/>
                <a:ea typeface="Canva Sans Bold"/>
                <a:cs typeface="Canva Sans Bold"/>
                <a:sym typeface="Canva Sans Bold"/>
              </a:rPr>
              <a:t>~5500kg - ~8000kg</a:t>
            </a:r>
            <a:r>
              <a:rPr lang="en-US" sz="2203">
                <a:solidFill>
                  <a:srgbClr val="000000"/>
                </a:solidFill>
                <a:latin typeface="Canva Sans"/>
                <a:ea typeface="Canva Sans"/>
                <a:cs typeface="Canva Sans"/>
                <a:sym typeface="Canva Sans"/>
              </a:rPr>
              <a:t> most of the launches are </a:t>
            </a:r>
            <a:r>
              <a:rPr lang="en-US" b="true" sz="2203">
                <a:solidFill>
                  <a:srgbClr val="000000"/>
                </a:solidFill>
                <a:latin typeface="Canva Sans Bold"/>
                <a:ea typeface="Canva Sans Bold"/>
                <a:cs typeface="Canva Sans Bold"/>
                <a:sym typeface="Canva Sans Bold"/>
              </a:rPr>
              <a:t>unsuccessful</a:t>
            </a:r>
            <a:r>
              <a:rPr lang="en-US" sz="2203">
                <a:solidFill>
                  <a:srgbClr val="000000"/>
                </a:solidFill>
                <a:latin typeface="Canva Sans"/>
                <a:ea typeface="Canva Sans"/>
                <a:cs typeface="Canva Sans"/>
                <a:sym typeface="Canva Sans"/>
              </a:rPr>
              <a:t>.</a:t>
            </a:r>
          </a:p>
          <a:p>
            <a:pPr algn="l" marL="475687" indent="-237844" lvl="1">
              <a:lnSpc>
                <a:spcPts val="2577"/>
              </a:lnSpc>
              <a:buFont typeface="Arial"/>
              <a:buChar char="•"/>
            </a:pPr>
            <a:r>
              <a:rPr lang="en-US" b="true" sz="2203">
                <a:solidFill>
                  <a:srgbClr val="05060B"/>
                </a:solidFill>
                <a:latin typeface="Canva Sans Bold"/>
                <a:ea typeface="Canva Sans Bold"/>
                <a:cs typeface="Canva Sans Bold"/>
                <a:sym typeface="Canva Sans Bold"/>
              </a:rPr>
              <a:t>VAFB SKC 4E</a:t>
            </a:r>
            <a:r>
              <a:rPr lang="en-US" sz="2203">
                <a:solidFill>
                  <a:srgbClr val="05060B"/>
                </a:solidFill>
                <a:latin typeface="Canva Sans"/>
                <a:ea typeface="Canva Sans"/>
                <a:cs typeface="Canva Sans"/>
                <a:sym typeface="Canva Sans"/>
              </a:rPr>
              <a:t> did not launch anything </a:t>
            </a:r>
            <a:r>
              <a:rPr lang="en-US" b="true" sz="2203">
                <a:solidFill>
                  <a:srgbClr val="05060B"/>
                </a:solidFill>
                <a:latin typeface="Canva Sans Bold"/>
                <a:ea typeface="Canva Sans Bold"/>
                <a:cs typeface="Canva Sans Bold"/>
                <a:sym typeface="Canva Sans Bold"/>
              </a:rPr>
              <a:t>above 10 000kg</a:t>
            </a:r>
            <a:r>
              <a:rPr lang="en-US" sz="2203">
                <a:solidFill>
                  <a:srgbClr val="05060B"/>
                </a:solidFill>
                <a:latin typeface="Canva Sans"/>
                <a:ea typeface="Canva Sans"/>
                <a:cs typeface="Canva Sans"/>
                <a:sym typeface="Canva Sans"/>
              </a:rPr>
              <a:t> seeming that they found </a:t>
            </a:r>
            <a:r>
              <a:rPr lang="en-US" b="true" sz="2203">
                <a:solidFill>
                  <a:srgbClr val="05060B"/>
                </a:solidFill>
                <a:latin typeface="Canva Sans Bold"/>
                <a:ea typeface="Canva Sans Bold"/>
                <a:cs typeface="Canva Sans Bold"/>
                <a:sym typeface="Canva Sans Bold"/>
              </a:rPr>
              <a:t>success at 10 000kg</a:t>
            </a:r>
            <a:r>
              <a:rPr lang="en-US" sz="2203">
                <a:solidFill>
                  <a:srgbClr val="05060B"/>
                </a:solidFill>
                <a:latin typeface="Canva Sans"/>
                <a:ea typeface="Canva Sans"/>
                <a:cs typeface="Canva Sans"/>
                <a:sym typeface="Canva Sans"/>
              </a:rPr>
              <a:t> with only one failed launch.</a:t>
            </a:r>
          </a:p>
          <a:p>
            <a:pPr algn="l" marL="475687" indent="-237844" lvl="1">
              <a:lnSpc>
                <a:spcPts val="2577"/>
              </a:lnSpc>
              <a:buFont typeface="Arial"/>
              <a:buChar char="•"/>
            </a:pPr>
            <a:r>
              <a:rPr lang="en-US" sz="2203">
                <a:solidFill>
                  <a:srgbClr val="05060B"/>
                </a:solidFill>
                <a:latin typeface="Canva Sans"/>
                <a:ea typeface="Canva Sans"/>
                <a:cs typeface="Canva Sans"/>
                <a:sym typeface="Canva Sans"/>
              </a:rPr>
              <a:t>Thus, the </a:t>
            </a:r>
            <a:r>
              <a:rPr lang="en-US" b="true" sz="2203">
                <a:solidFill>
                  <a:srgbClr val="05060B"/>
                </a:solidFill>
                <a:latin typeface="Canva Sans Bold"/>
                <a:ea typeface="Canva Sans Bold"/>
                <a:cs typeface="Canva Sans Bold"/>
                <a:sym typeface="Canva Sans Bold"/>
              </a:rPr>
              <a:t>higher the payload mass, the higher the success rate</a:t>
            </a:r>
            <a:r>
              <a:rPr lang="en-US" sz="2203">
                <a:solidFill>
                  <a:srgbClr val="05060B"/>
                </a:solidFill>
                <a:latin typeface="Canva Sans"/>
                <a:ea typeface="Canva Sans"/>
                <a:cs typeface="Canva Sans"/>
                <a:sym typeface="Canva Sans"/>
              </a:rPr>
              <a:t>, excluding KSC LC 39A from this statement.</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2053131"/>
            <a:ext cx="10478426" cy="7361094"/>
          </a:xfrm>
          <a:custGeom>
            <a:avLst/>
            <a:gdLst/>
            <a:ahLst/>
            <a:cxnLst/>
            <a:rect r="r" b="b" t="t" l="l"/>
            <a:pathLst>
              <a:path h="7361094" w="10478426">
                <a:moveTo>
                  <a:pt x="0" y="0"/>
                </a:moveTo>
                <a:lnTo>
                  <a:pt x="10478426" y="0"/>
                </a:lnTo>
                <a:lnTo>
                  <a:pt x="10478426" y="7361094"/>
                </a:lnTo>
                <a:lnTo>
                  <a:pt x="0" y="7361094"/>
                </a:lnTo>
                <a:lnTo>
                  <a:pt x="0" y="0"/>
                </a:lnTo>
                <a:close/>
              </a:path>
            </a:pathLst>
          </a:custGeom>
          <a:blipFill>
            <a:blip r:embed="rId2"/>
            <a:stretch>
              <a:fillRect l="0" t="0" r="0" b="0"/>
            </a:stretch>
          </a:blipFill>
        </p:spPr>
      </p:sp>
      <p:sp>
        <p:nvSpPr>
          <p:cNvPr name="TextBox 3" id="3"/>
          <p:cNvSpPr txBox="true"/>
          <p:nvPr/>
        </p:nvSpPr>
        <p:spPr>
          <a:xfrm rot="0">
            <a:off x="433707" y="9599186"/>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5060B"/>
                </a:solidFill>
                <a:latin typeface="Canva Sans"/>
                <a:ea typeface="Canva Sans"/>
                <a:cs typeface="Canva Sans"/>
                <a:sym typeface="Canva Sans"/>
              </a:rPr>
              <a:t>Page 20</a:t>
            </a:r>
          </a:p>
        </p:txBody>
      </p:sp>
      <p:sp>
        <p:nvSpPr>
          <p:cNvPr name="TextBox 4" id="4"/>
          <p:cNvSpPr txBox="true"/>
          <p:nvPr/>
        </p:nvSpPr>
        <p:spPr>
          <a:xfrm rot="0">
            <a:off x="547291" y="942975"/>
            <a:ext cx="10868630" cy="877569"/>
          </a:xfrm>
          <a:prstGeom prst="rect">
            <a:avLst/>
          </a:prstGeom>
        </p:spPr>
        <p:txBody>
          <a:bodyPr anchor="t" rtlCol="false" tIns="0" lIns="0" bIns="0" rIns="0">
            <a:spAutoFit/>
          </a:bodyPr>
          <a:lstStyle/>
          <a:p>
            <a:pPr algn="l">
              <a:lnSpc>
                <a:spcPts val="7280"/>
              </a:lnSpc>
              <a:spcBef>
                <a:spcPct val="0"/>
              </a:spcBef>
            </a:pPr>
            <a:r>
              <a:rPr lang="en-US" sz="5200">
                <a:solidFill>
                  <a:srgbClr val="05060B"/>
                </a:solidFill>
                <a:latin typeface="Anton"/>
                <a:ea typeface="Anton"/>
                <a:cs typeface="Anton"/>
                <a:sym typeface="Anton"/>
              </a:rPr>
              <a:t>SUCCESS RATE VS ORBIT TYPE</a:t>
            </a:r>
          </a:p>
        </p:txBody>
      </p:sp>
      <p:sp>
        <p:nvSpPr>
          <p:cNvPr name="TextBox 5" id="5"/>
          <p:cNvSpPr txBox="true"/>
          <p:nvPr/>
        </p:nvSpPr>
        <p:spPr>
          <a:xfrm rot="0">
            <a:off x="547291" y="401197"/>
            <a:ext cx="2717135" cy="580388"/>
          </a:xfrm>
          <a:prstGeom prst="rect">
            <a:avLst/>
          </a:prstGeom>
        </p:spPr>
        <p:txBody>
          <a:bodyPr anchor="t" rtlCol="false" tIns="0" lIns="0" bIns="0" rIns="0">
            <a:spAutoFit/>
          </a:bodyPr>
          <a:lstStyle/>
          <a:p>
            <a:pPr algn="l">
              <a:lnSpc>
                <a:spcPts val="4760"/>
              </a:lnSpc>
              <a:spcBef>
                <a:spcPct val="0"/>
              </a:spcBef>
            </a:pPr>
            <a:r>
              <a:rPr lang="en-US" sz="3400">
                <a:solidFill>
                  <a:srgbClr val="05060B"/>
                </a:solidFill>
                <a:latin typeface="Anton"/>
                <a:ea typeface="Anton"/>
                <a:cs typeface="Anton"/>
                <a:sym typeface="Anton"/>
              </a:rPr>
              <a:t>VISUALIZATION</a:t>
            </a:r>
          </a:p>
        </p:txBody>
      </p:sp>
      <p:sp>
        <p:nvSpPr>
          <p:cNvPr name="TextBox 6" id="6"/>
          <p:cNvSpPr txBox="true"/>
          <p:nvPr/>
        </p:nvSpPr>
        <p:spPr>
          <a:xfrm rot="0">
            <a:off x="11702610" y="7527611"/>
            <a:ext cx="6391008" cy="1618119"/>
          </a:xfrm>
          <a:prstGeom prst="rect">
            <a:avLst/>
          </a:prstGeom>
        </p:spPr>
        <p:txBody>
          <a:bodyPr anchor="t" rtlCol="false" tIns="0" lIns="0" bIns="0" rIns="0">
            <a:spAutoFit/>
          </a:bodyPr>
          <a:lstStyle/>
          <a:p>
            <a:pPr algn="l" marL="475687" indent="-237844" lvl="1">
              <a:lnSpc>
                <a:spcPts val="2577"/>
              </a:lnSpc>
              <a:buFont typeface="Arial"/>
              <a:buChar char="•"/>
            </a:pPr>
            <a:r>
              <a:rPr lang="en-US" sz="2203">
                <a:solidFill>
                  <a:srgbClr val="05060B"/>
                </a:solidFill>
                <a:latin typeface="Canva Sans"/>
                <a:ea typeface="Canva Sans"/>
                <a:cs typeface="Canva Sans"/>
                <a:sym typeface="Canva Sans"/>
              </a:rPr>
              <a:t>ES-L1, GEO, HEO, SSO 100% success rate.</a:t>
            </a:r>
          </a:p>
          <a:p>
            <a:pPr algn="l" marL="475687" indent="-237844" lvl="1">
              <a:lnSpc>
                <a:spcPts val="2577"/>
              </a:lnSpc>
              <a:buFont typeface="Arial"/>
              <a:buChar char="•"/>
            </a:pPr>
            <a:r>
              <a:rPr lang="en-US" sz="2203">
                <a:solidFill>
                  <a:srgbClr val="05060B"/>
                </a:solidFill>
                <a:latin typeface="Canva Sans"/>
                <a:ea typeface="Canva Sans"/>
                <a:cs typeface="Canva Sans"/>
                <a:sym typeface="Canva Sans"/>
              </a:rPr>
              <a:t>GTO, ISS, LEO, MEO, PO 50-80% success rate.</a:t>
            </a:r>
          </a:p>
          <a:p>
            <a:pPr algn="l" marL="475687" indent="-237844" lvl="1">
              <a:lnSpc>
                <a:spcPts val="2577"/>
              </a:lnSpc>
              <a:buFont typeface="Arial"/>
              <a:buChar char="•"/>
            </a:pPr>
            <a:r>
              <a:rPr lang="en-US" sz="2203">
                <a:solidFill>
                  <a:srgbClr val="05060B"/>
                </a:solidFill>
                <a:latin typeface="Canva Sans"/>
                <a:ea typeface="Canva Sans"/>
                <a:cs typeface="Canva Sans"/>
                <a:sym typeface="Canva Sans"/>
              </a:rPr>
              <a:t>SO 0% success rate</a:t>
            </a:r>
          </a:p>
          <a:p>
            <a:pPr algn="l">
              <a:lnSpc>
                <a:spcPts val="2577"/>
              </a:lnSpc>
            </a:pP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769748" y="2421868"/>
            <a:ext cx="16748503" cy="5443264"/>
          </a:xfrm>
          <a:custGeom>
            <a:avLst/>
            <a:gdLst/>
            <a:ahLst/>
            <a:cxnLst/>
            <a:rect r="r" b="b" t="t" l="l"/>
            <a:pathLst>
              <a:path h="5443264" w="16748503">
                <a:moveTo>
                  <a:pt x="0" y="0"/>
                </a:moveTo>
                <a:lnTo>
                  <a:pt x="16748504" y="0"/>
                </a:lnTo>
                <a:lnTo>
                  <a:pt x="16748504" y="5443264"/>
                </a:lnTo>
                <a:lnTo>
                  <a:pt x="0" y="5443264"/>
                </a:lnTo>
                <a:lnTo>
                  <a:pt x="0" y="0"/>
                </a:lnTo>
                <a:close/>
              </a:path>
            </a:pathLst>
          </a:custGeom>
          <a:blipFill>
            <a:blip r:embed="rId2"/>
            <a:stretch>
              <a:fillRect l="0" t="0" r="0" b="0"/>
            </a:stretch>
          </a:blipFill>
        </p:spPr>
      </p:sp>
      <p:sp>
        <p:nvSpPr>
          <p:cNvPr name="TextBox 3" id="3"/>
          <p:cNvSpPr txBox="true"/>
          <p:nvPr/>
        </p:nvSpPr>
        <p:spPr>
          <a:xfrm rot="0">
            <a:off x="433707" y="9599186"/>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5060B"/>
                </a:solidFill>
                <a:latin typeface="Canva Sans"/>
                <a:ea typeface="Canva Sans"/>
                <a:cs typeface="Canva Sans"/>
                <a:sym typeface="Canva Sans"/>
              </a:rPr>
              <a:t>Page 21</a:t>
            </a:r>
          </a:p>
        </p:txBody>
      </p:sp>
      <p:sp>
        <p:nvSpPr>
          <p:cNvPr name="TextBox 4" id="4"/>
          <p:cNvSpPr txBox="true"/>
          <p:nvPr/>
        </p:nvSpPr>
        <p:spPr>
          <a:xfrm rot="0">
            <a:off x="552004" y="895860"/>
            <a:ext cx="10868630" cy="877569"/>
          </a:xfrm>
          <a:prstGeom prst="rect">
            <a:avLst/>
          </a:prstGeom>
        </p:spPr>
        <p:txBody>
          <a:bodyPr anchor="t" rtlCol="false" tIns="0" lIns="0" bIns="0" rIns="0">
            <a:spAutoFit/>
          </a:bodyPr>
          <a:lstStyle/>
          <a:p>
            <a:pPr algn="l">
              <a:lnSpc>
                <a:spcPts val="7280"/>
              </a:lnSpc>
              <a:spcBef>
                <a:spcPct val="0"/>
              </a:spcBef>
            </a:pPr>
            <a:r>
              <a:rPr lang="en-US" sz="5200">
                <a:solidFill>
                  <a:srgbClr val="05060B"/>
                </a:solidFill>
                <a:latin typeface="Anton"/>
                <a:ea typeface="Anton"/>
                <a:cs typeface="Anton"/>
                <a:sym typeface="Anton"/>
              </a:rPr>
              <a:t>FLIGHT NUMBER VS ORBIT TYPE</a:t>
            </a:r>
          </a:p>
        </p:txBody>
      </p:sp>
      <p:sp>
        <p:nvSpPr>
          <p:cNvPr name="TextBox 5" id="5"/>
          <p:cNvSpPr txBox="true"/>
          <p:nvPr/>
        </p:nvSpPr>
        <p:spPr>
          <a:xfrm rot="0">
            <a:off x="547291" y="401197"/>
            <a:ext cx="2717135" cy="580388"/>
          </a:xfrm>
          <a:prstGeom prst="rect">
            <a:avLst/>
          </a:prstGeom>
        </p:spPr>
        <p:txBody>
          <a:bodyPr anchor="t" rtlCol="false" tIns="0" lIns="0" bIns="0" rIns="0">
            <a:spAutoFit/>
          </a:bodyPr>
          <a:lstStyle/>
          <a:p>
            <a:pPr algn="l">
              <a:lnSpc>
                <a:spcPts val="4760"/>
              </a:lnSpc>
              <a:spcBef>
                <a:spcPct val="0"/>
              </a:spcBef>
            </a:pPr>
            <a:r>
              <a:rPr lang="en-US" sz="3400">
                <a:solidFill>
                  <a:srgbClr val="05060B"/>
                </a:solidFill>
                <a:latin typeface="Anton"/>
                <a:ea typeface="Anton"/>
                <a:cs typeface="Anton"/>
                <a:sym typeface="Anton"/>
              </a:rPr>
              <a:t>VISUALIZATION</a:t>
            </a:r>
          </a:p>
        </p:txBody>
      </p:sp>
      <p:sp>
        <p:nvSpPr>
          <p:cNvPr name="TextBox 6" id="6"/>
          <p:cNvSpPr txBox="true"/>
          <p:nvPr/>
        </p:nvSpPr>
        <p:spPr>
          <a:xfrm rot="0">
            <a:off x="433707" y="7874657"/>
            <a:ext cx="17711291" cy="1294269"/>
          </a:xfrm>
          <a:prstGeom prst="rect">
            <a:avLst/>
          </a:prstGeom>
        </p:spPr>
        <p:txBody>
          <a:bodyPr anchor="t" rtlCol="false" tIns="0" lIns="0" bIns="0" rIns="0">
            <a:spAutoFit/>
          </a:bodyPr>
          <a:lstStyle/>
          <a:p>
            <a:pPr algn="l" marL="475687" indent="-237844" lvl="1">
              <a:lnSpc>
                <a:spcPts val="2577"/>
              </a:lnSpc>
              <a:buFont typeface="Arial"/>
              <a:buChar char="•"/>
            </a:pPr>
            <a:r>
              <a:rPr lang="en-US" sz="2203">
                <a:solidFill>
                  <a:srgbClr val="05060B"/>
                </a:solidFill>
                <a:latin typeface="Canva Sans"/>
                <a:ea typeface="Canva Sans"/>
                <a:cs typeface="Canva Sans"/>
                <a:sym typeface="Canva Sans"/>
              </a:rPr>
              <a:t>SpaceX started launches in </a:t>
            </a:r>
            <a:r>
              <a:rPr lang="en-US" b="true" sz="2203">
                <a:solidFill>
                  <a:srgbClr val="05060B"/>
                </a:solidFill>
                <a:latin typeface="Canva Sans Bold"/>
                <a:ea typeface="Canva Sans Bold"/>
                <a:cs typeface="Canva Sans Bold"/>
                <a:sym typeface="Canva Sans Bold"/>
              </a:rPr>
              <a:t>LEO orbits where moderate success</a:t>
            </a:r>
            <a:r>
              <a:rPr lang="en-US" sz="2203">
                <a:solidFill>
                  <a:srgbClr val="05060B"/>
                </a:solidFill>
                <a:latin typeface="Canva Sans"/>
                <a:ea typeface="Canva Sans"/>
                <a:cs typeface="Canva Sans"/>
                <a:sym typeface="Canva Sans"/>
              </a:rPr>
              <a:t> was found.</a:t>
            </a:r>
          </a:p>
          <a:p>
            <a:pPr algn="l" marL="475687" indent="-237844" lvl="1">
              <a:lnSpc>
                <a:spcPts val="2577"/>
              </a:lnSpc>
              <a:buFont typeface="Arial"/>
              <a:buChar char="•"/>
            </a:pPr>
            <a:r>
              <a:rPr lang="en-US" sz="2203">
                <a:solidFill>
                  <a:srgbClr val="05060B"/>
                </a:solidFill>
                <a:latin typeface="Canva Sans"/>
                <a:ea typeface="Canva Sans"/>
                <a:cs typeface="Canva Sans"/>
                <a:sym typeface="Canva Sans"/>
              </a:rPr>
              <a:t>Most </a:t>
            </a:r>
            <a:r>
              <a:rPr lang="en-US" b="true" sz="2203">
                <a:solidFill>
                  <a:srgbClr val="05060B"/>
                </a:solidFill>
                <a:latin typeface="Canva Sans Bold"/>
                <a:ea typeface="Canva Sans Bold"/>
                <a:cs typeface="Canva Sans Bold"/>
                <a:sym typeface="Canva Sans Bold"/>
              </a:rPr>
              <a:t>recent launches</a:t>
            </a:r>
            <a:r>
              <a:rPr lang="en-US" sz="2203">
                <a:solidFill>
                  <a:srgbClr val="05060B"/>
                </a:solidFill>
                <a:latin typeface="Canva Sans"/>
                <a:ea typeface="Canva Sans"/>
                <a:cs typeface="Canva Sans"/>
                <a:sym typeface="Canva Sans"/>
              </a:rPr>
              <a:t> are mostly </a:t>
            </a:r>
            <a:r>
              <a:rPr lang="en-US" b="true" sz="2203">
                <a:solidFill>
                  <a:srgbClr val="05060B"/>
                </a:solidFill>
                <a:latin typeface="Canva Sans Bold"/>
                <a:ea typeface="Canva Sans Bold"/>
                <a:cs typeface="Canva Sans Bold"/>
                <a:sym typeface="Canva Sans Bold"/>
              </a:rPr>
              <a:t>VLEO </a:t>
            </a:r>
            <a:r>
              <a:rPr lang="en-US" sz="2203">
                <a:solidFill>
                  <a:srgbClr val="05060B"/>
                </a:solidFill>
                <a:latin typeface="Canva Sans"/>
                <a:ea typeface="Canva Sans"/>
                <a:cs typeface="Canva Sans"/>
                <a:sym typeface="Canva Sans"/>
              </a:rPr>
              <a:t>orbit thus </a:t>
            </a:r>
            <a:r>
              <a:rPr lang="en-US" b="true" sz="2203">
                <a:solidFill>
                  <a:srgbClr val="05060B"/>
                </a:solidFill>
                <a:latin typeface="Canva Sans Bold"/>
                <a:ea typeface="Canva Sans Bold"/>
                <a:cs typeface="Canva Sans Bold"/>
                <a:sym typeface="Canva Sans Bold"/>
              </a:rPr>
              <a:t>SpaceX performs better in lower orbits.</a:t>
            </a:r>
          </a:p>
          <a:p>
            <a:pPr algn="l" marL="475687" indent="-237844" lvl="1">
              <a:lnSpc>
                <a:spcPts val="2577"/>
              </a:lnSpc>
              <a:buFont typeface="Arial"/>
              <a:buChar char="•"/>
            </a:pPr>
            <a:r>
              <a:rPr lang="en-US" sz="2203">
                <a:solidFill>
                  <a:srgbClr val="05060B"/>
                </a:solidFill>
                <a:latin typeface="Canva Sans"/>
                <a:ea typeface="Canva Sans"/>
                <a:cs typeface="Canva Sans"/>
                <a:sym typeface="Canva Sans"/>
              </a:rPr>
              <a:t>It seems that </a:t>
            </a:r>
            <a:r>
              <a:rPr lang="en-US" b="true" sz="2203">
                <a:solidFill>
                  <a:srgbClr val="05060B"/>
                </a:solidFill>
                <a:latin typeface="Canva Sans Bold"/>
                <a:ea typeface="Canva Sans Bold"/>
                <a:cs typeface="Canva Sans Bold"/>
                <a:sym typeface="Canva Sans Bold"/>
              </a:rPr>
              <a:t>LEOs success related is to flight number</a:t>
            </a:r>
            <a:r>
              <a:rPr lang="en-US" sz="2203">
                <a:solidFill>
                  <a:srgbClr val="05060B"/>
                </a:solidFill>
                <a:latin typeface="Canva Sans"/>
                <a:ea typeface="Canva Sans"/>
                <a:cs typeface="Canva Sans"/>
                <a:sym typeface="Canva Sans"/>
              </a:rPr>
              <a:t> but GTO orbit breaks this relationship.</a:t>
            </a:r>
          </a:p>
          <a:p>
            <a:pPr algn="l" marL="475687" indent="-237844" lvl="1">
              <a:lnSpc>
                <a:spcPts val="2577"/>
              </a:lnSpc>
              <a:buFont typeface="Arial"/>
              <a:buChar char="•"/>
            </a:pPr>
            <a:r>
              <a:rPr lang="en-US" sz="2203">
                <a:solidFill>
                  <a:srgbClr val="05060B"/>
                </a:solidFill>
                <a:latin typeface="Canva Sans"/>
                <a:ea typeface="Canva Sans"/>
                <a:cs typeface="Canva Sans"/>
                <a:sym typeface="Canva Sans"/>
              </a:rPr>
              <a:t>There was </a:t>
            </a:r>
            <a:r>
              <a:rPr lang="en-US" b="true" sz="2203">
                <a:solidFill>
                  <a:srgbClr val="05060B"/>
                </a:solidFill>
                <a:latin typeface="Canva Sans Bold"/>
                <a:ea typeface="Canva Sans Bold"/>
                <a:cs typeface="Canva Sans Bold"/>
                <a:sym typeface="Canva Sans Bold"/>
              </a:rPr>
              <a:t>major success</a:t>
            </a:r>
            <a:r>
              <a:rPr lang="en-US" sz="2203">
                <a:solidFill>
                  <a:srgbClr val="05060B"/>
                </a:solidFill>
                <a:latin typeface="Canva Sans"/>
                <a:ea typeface="Canva Sans"/>
                <a:cs typeface="Canva Sans"/>
                <a:sym typeface="Canva Sans"/>
              </a:rPr>
              <a:t> between flight </a:t>
            </a:r>
            <a:r>
              <a:rPr lang="en-US" b="true" sz="2203">
                <a:solidFill>
                  <a:srgbClr val="05060B"/>
                </a:solidFill>
                <a:latin typeface="Canva Sans Bold"/>
                <a:ea typeface="Canva Sans Bold"/>
                <a:cs typeface="Canva Sans Bold"/>
                <a:sym typeface="Canva Sans Bold"/>
              </a:rPr>
              <a:t>20 and ~45</a:t>
            </a:r>
            <a:r>
              <a:rPr lang="en-US" sz="2203">
                <a:solidFill>
                  <a:srgbClr val="05060B"/>
                </a:solidFill>
                <a:latin typeface="Canva Sans"/>
                <a:ea typeface="Canva Sans"/>
                <a:cs typeface="Canva Sans"/>
                <a:sym typeface="Canva Sans"/>
              </a:rPr>
              <a:t> in orbits </a:t>
            </a:r>
            <a:r>
              <a:rPr lang="en-US" b="true" sz="2203">
                <a:solidFill>
                  <a:srgbClr val="05060B"/>
                </a:solidFill>
                <a:latin typeface="Canva Sans Bold"/>
                <a:ea typeface="Canva Sans Bold"/>
                <a:cs typeface="Canva Sans Bold"/>
                <a:sym typeface="Canva Sans Bold"/>
              </a:rPr>
              <a:t>LEO, ISS, PO</a:t>
            </a:r>
            <a:r>
              <a:rPr lang="en-US" sz="2203">
                <a:solidFill>
                  <a:srgbClr val="05060B"/>
                </a:solidFill>
                <a:latin typeface="Canva Sans"/>
                <a:ea typeface="Canva Sans"/>
                <a:cs typeface="Canva Sans"/>
                <a:sym typeface="Canva Sans"/>
              </a:rPr>
              <a:t>.</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92839" y="2257483"/>
            <a:ext cx="17102322" cy="5772034"/>
          </a:xfrm>
          <a:custGeom>
            <a:avLst/>
            <a:gdLst/>
            <a:ahLst/>
            <a:cxnLst/>
            <a:rect r="r" b="b" t="t" l="l"/>
            <a:pathLst>
              <a:path h="5772034" w="17102322">
                <a:moveTo>
                  <a:pt x="0" y="0"/>
                </a:moveTo>
                <a:lnTo>
                  <a:pt x="17102322" y="0"/>
                </a:lnTo>
                <a:lnTo>
                  <a:pt x="17102322" y="5772034"/>
                </a:lnTo>
                <a:lnTo>
                  <a:pt x="0" y="5772034"/>
                </a:lnTo>
                <a:lnTo>
                  <a:pt x="0" y="0"/>
                </a:lnTo>
                <a:close/>
              </a:path>
            </a:pathLst>
          </a:custGeom>
          <a:blipFill>
            <a:blip r:embed="rId2"/>
            <a:stretch>
              <a:fillRect l="0" t="0" r="0" b="0"/>
            </a:stretch>
          </a:blipFill>
        </p:spPr>
      </p:sp>
      <p:sp>
        <p:nvSpPr>
          <p:cNvPr name="TextBox 3" id="3"/>
          <p:cNvSpPr txBox="true"/>
          <p:nvPr/>
        </p:nvSpPr>
        <p:spPr>
          <a:xfrm rot="0">
            <a:off x="433707" y="9599186"/>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5060B"/>
                </a:solidFill>
                <a:latin typeface="Canva Sans"/>
                <a:ea typeface="Canva Sans"/>
                <a:cs typeface="Canva Sans"/>
                <a:sym typeface="Canva Sans"/>
              </a:rPr>
              <a:t>Page 22</a:t>
            </a:r>
          </a:p>
        </p:txBody>
      </p:sp>
      <p:sp>
        <p:nvSpPr>
          <p:cNvPr name="TextBox 4" id="4"/>
          <p:cNvSpPr txBox="true"/>
          <p:nvPr/>
        </p:nvSpPr>
        <p:spPr>
          <a:xfrm rot="0">
            <a:off x="547291" y="895860"/>
            <a:ext cx="10868630" cy="877569"/>
          </a:xfrm>
          <a:prstGeom prst="rect">
            <a:avLst/>
          </a:prstGeom>
        </p:spPr>
        <p:txBody>
          <a:bodyPr anchor="t" rtlCol="false" tIns="0" lIns="0" bIns="0" rIns="0">
            <a:spAutoFit/>
          </a:bodyPr>
          <a:lstStyle/>
          <a:p>
            <a:pPr algn="l">
              <a:lnSpc>
                <a:spcPts val="7280"/>
              </a:lnSpc>
              <a:spcBef>
                <a:spcPct val="0"/>
              </a:spcBef>
            </a:pPr>
            <a:r>
              <a:rPr lang="en-US" sz="5200">
                <a:solidFill>
                  <a:srgbClr val="05060B"/>
                </a:solidFill>
                <a:latin typeface="Anton"/>
                <a:ea typeface="Anton"/>
                <a:cs typeface="Anton"/>
                <a:sym typeface="Anton"/>
              </a:rPr>
              <a:t>PAYLOAD MASS VS ORBIT TYPE</a:t>
            </a:r>
          </a:p>
        </p:txBody>
      </p:sp>
      <p:sp>
        <p:nvSpPr>
          <p:cNvPr name="TextBox 5" id="5"/>
          <p:cNvSpPr txBox="true"/>
          <p:nvPr/>
        </p:nvSpPr>
        <p:spPr>
          <a:xfrm rot="0">
            <a:off x="547291" y="401197"/>
            <a:ext cx="2717135" cy="580388"/>
          </a:xfrm>
          <a:prstGeom prst="rect">
            <a:avLst/>
          </a:prstGeom>
        </p:spPr>
        <p:txBody>
          <a:bodyPr anchor="t" rtlCol="false" tIns="0" lIns="0" bIns="0" rIns="0">
            <a:spAutoFit/>
          </a:bodyPr>
          <a:lstStyle/>
          <a:p>
            <a:pPr algn="l">
              <a:lnSpc>
                <a:spcPts val="4760"/>
              </a:lnSpc>
              <a:spcBef>
                <a:spcPct val="0"/>
              </a:spcBef>
            </a:pPr>
            <a:r>
              <a:rPr lang="en-US" sz="3400">
                <a:solidFill>
                  <a:srgbClr val="05060B"/>
                </a:solidFill>
                <a:latin typeface="Anton"/>
                <a:ea typeface="Anton"/>
                <a:cs typeface="Anton"/>
                <a:sym typeface="Anton"/>
              </a:rPr>
              <a:t>VISUALIZATION</a:t>
            </a:r>
          </a:p>
        </p:txBody>
      </p:sp>
      <p:sp>
        <p:nvSpPr>
          <p:cNvPr name="TextBox 6" id="6"/>
          <p:cNvSpPr txBox="true"/>
          <p:nvPr/>
        </p:nvSpPr>
        <p:spPr>
          <a:xfrm rot="0">
            <a:off x="433707" y="8039042"/>
            <a:ext cx="17711291" cy="1294269"/>
          </a:xfrm>
          <a:prstGeom prst="rect">
            <a:avLst/>
          </a:prstGeom>
        </p:spPr>
        <p:txBody>
          <a:bodyPr anchor="t" rtlCol="false" tIns="0" lIns="0" bIns="0" rIns="0">
            <a:spAutoFit/>
          </a:bodyPr>
          <a:lstStyle/>
          <a:p>
            <a:pPr algn="l" marL="475687" indent="-237844" lvl="1">
              <a:lnSpc>
                <a:spcPts val="2577"/>
              </a:lnSpc>
              <a:buFont typeface="Arial"/>
              <a:buChar char="•"/>
            </a:pPr>
            <a:r>
              <a:rPr lang="en-US" sz="2203">
                <a:solidFill>
                  <a:srgbClr val="05060B"/>
                </a:solidFill>
                <a:latin typeface="Canva Sans"/>
                <a:ea typeface="Canva Sans"/>
                <a:cs typeface="Canva Sans"/>
                <a:sym typeface="Canva Sans"/>
              </a:rPr>
              <a:t>LEO best performed with payload mass above ~1500kg.</a:t>
            </a:r>
          </a:p>
          <a:p>
            <a:pPr algn="l" marL="475687" indent="-237844" lvl="1">
              <a:lnSpc>
                <a:spcPts val="2577"/>
              </a:lnSpc>
              <a:buFont typeface="Arial"/>
              <a:buChar char="•"/>
            </a:pPr>
            <a:r>
              <a:rPr lang="en-US" sz="2203">
                <a:solidFill>
                  <a:srgbClr val="05060B"/>
                </a:solidFill>
                <a:latin typeface="Canva Sans"/>
                <a:ea typeface="Canva Sans"/>
                <a:cs typeface="Canva Sans"/>
                <a:sym typeface="Canva Sans"/>
              </a:rPr>
              <a:t>Heavy payloads are better with LEO, ISS and PO orbits.</a:t>
            </a:r>
          </a:p>
          <a:p>
            <a:pPr algn="l" marL="475687" indent="-237844" lvl="1">
              <a:lnSpc>
                <a:spcPts val="2577"/>
              </a:lnSpc>
              <a:buFont typeface="Arial"/>
              <a:buChar char="•"/>
            </a:pPr>
            <a:r>
              <a:rPr lang="en-US" sz="2203">
                <a:solidFill>
                  <a:srgbClr val="05060B"/>
                </a:solidFill>
                <a:latin typeface="Canva Sans"/>
                <a:ea typeface="Canva Sans"/>
                <a:cs typeface="Canva Sans"/>
                <a:sym typeface="Canva Sans"/>
              </a:rPr>
              <a:t>The GTO orbit has mixed success with heavier payloads thus a correlation cannot be made between payload mass and orbit type.</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088687" y="2091426"/>
            <a:ext cx="9331947" cy="7060247"/>
          </a:xfrm>
          <a:custGeom>
            <a:avLst/>
            <a:gdLst/>
            <a:ahLst/>
            <a:cxnLst/>
            <a:rect r="r" b="b" t="t" l="l"/>
            <a:pathLst>
              <a:path h="7060247" w="9331947">
                <a:moveTo>
                  <a:pt x="0" y="0"/>
                </a:moveTo>
                <a:lnTo>
                  <a:pt x="9331946" y="0"/>
                </a:lnTo>
                <a:lnTo>
                  <a:pt x="9331946" y="7060247"/>
                </a:lnTo>
                <a:lnTo>
                  <a:pt x="0" y="7060247"/>
                </a:lnTo>
                <a:lnTo>
                  <a:pt x="0" y="0"/>
                </a:lnTo>
                <a:close/>
              </a:path>
            </a:pathLst>
          </a:custGeom>
          <a:blipFill>
            <a:blip r:embed="rId2"/>
            <a:stretch>
              <a:fillRect l="0" t="0" r="0" b="0"/>
            </a:stretch>
          </a:blipFill>
        </p:spPr>
      </p:sp>
      <p:sp>
        <p:nvSpPr>
          <p:cNvPr name="TextBox 3" id="3"/>
          <p:cNvSpPr txBox="true"/>
          <p:nvPr/>
        </p:nvSpPr>
        <p:spPr>
          <a:xfrm rot="0">
            <a:off x="433707" y="9599186"/>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5060B"/>
                </a:solidFill>
                <a:latin typeface="Canva Sans"/>
                <a:ea typeface="Canva Sans"/>
                <a:cs typeface="Canva Sans"/>
                <a:sym typeface="Canva Sans"/>
              </a:rPr>
              <a:t>Page 23</a:t>
            </a:r>
          </a:p>
        </p:txBody>
      </p:sp>
      <p:sp>
        <p:nvSpPr>
          <p:cNvPr name="TextBox 4" id="4"/>
          <p:cNvSpPr txBox="true"/>
          <p:nvPr/>
        </p:nvSpPr>
        <p:spPr>
          <a:xfrm rot="0">
            <a:off x="552004" y="895860"/>
            <a:ext cx="10868630" cy="877569"/>
          </a:xfrm>
          <a:prstGeom prst="rect">
            <a:avLst/>
          </a:prstGeom>
        </p:spPr>
        <p:txBody>
          <a:bodyPr anchor="t" rtlCol="false" tIns="0" lIns="0" bIns="0" rIns="0">
            <a:spAutoFit/>
          </a:bodyPr>
          <a:lstStyle/>
          <a:p>
            <a:pPr algn="l">
              <a:lnSpc>
                <a:spcPts val="7280"/>
              </a:lnSpc>
              <a:spcBef>
                <a:spcPct val="0"/>
              </a:spcBef>
            </a:pPr>
            <a:r>
              <a:rPr lang="en-US" sz="5200">
                <a:solidFill>
                  <a:srgbClr val="05060B"/>
                </a:solidFill>
                <a:latin typeface="Anton"/>
                <a:ea typeface="Anton"/>
                <a:cs typeface="Anton"/>
                <a:sym typeface="Anton"/>
              </a:rPr>
              <a:t>LAUNCH SUCCESS YEARLY TREND</a:t>
            </a:r>
          </a:p>
        </p:txBody>
      </p:sp>
      <p:sp>
        <p:nvSpPr>
          <p:cNvPr name="TextBox 5" id="5"/>
          <p:cNvSpPr txBox="true"/>
          <p:nvPr/>
        </p:nvSpPr>
        <p:spPr>
          <a:xfrm rot="0">
            <a:off x="547291" y="401197"/>
            <a:ext cx="2717135" cy="580388"/>
          </a:xfrm>
          <a:prstGeom prst="rect">
            <a:avLst/>
          </a:prstGeom>
        </p:spPr>
        <p:txBody>
          <a:bodyPr anchor="t" rtlCol="false" tIns="0" lIns="0" bIns="0" rIns="0">
            <a:spAutoFit/>
          </a:bodyPr>
          <a:lstStyle/>
          <a:p>
            <a:pPr algn="l">
              <a:lnSpc>
                <a:spcPts val="4760"/>
              </a:lnSpc>
              <a:spcBef>
                <a:spcPct val="0"/>
              </a:spcBef>
            </a:pPr>
            <a:r>
              <a:rPr lang="en-US" sz="3400">
                <a:solidFill>
                  <a:srgbClr val="05060B"/>
                </a:solidFill>
                <a:latin typeface="Anton"/>
                <a:ea typeface="Anton"/>
                <a:cs typeface="Anton"/>
                <a:sym typeface="Anton"/>
              </a:rPr>
              <a:t>VISUALIZATION</a:t>
            </a:r>
          </a:p>
        </p:txBody>
      </p:sp>
      <p:sp>
        <p:nvSpPr>
          <p:cNvPr name="TextBox 6" id="6"/>
          <p:cNvSpPr txBox="true"/>
          <p:nvPr/>
        </p:nvSpPr>
        <p:spPr>
          <a:xfrm rot="0">
            <a:off x="11578211" y="4461827"/>
            <a:ext cx="6391008" cy="1941969"/>
          </a:xfrm>
          <a:prstGeom prst="rect">
            <a:avLst/>
          </a:prstGeom>
        </p:spPr>
        <p:txBody>
          <a:bodyPr anchor="t" rtlCol="false" tIns="0" lIns="0" bIns="0" rIns="0">
            <a:spAutoFit/>
          </a:bodyPr>
          <a:lstStyle/>
          <a:p>
            <a:pPr algn="l" marL="475687" indent="-237844" lvl="1">
              <a:lnSpc>
                <a:spcPts val="2577"/>
              </a:lnSpc>
              <a:buFont typeface="Arial"/>
              <a:buChar char="•"/>
            </a:pPr>
            <a:r>
              <a:rPr lang="en-US" sz="2203">
                <a:solidFill>
                  <a:srgbClr val="05060B"/>
                </a:solidFill>
                <a:latin typeface="Canva Sans"/>
                <a:ea typeface="Canva Sans"/>
                <a:cs typeface="Canva Sans"/>
                <a:sym typeface="Canva Sans"/>
              </a:rPr>
              <a:t>Success rate </a:t>
            </a:r>
            <a:r>
              <a:rPr lang="en-US" b="true" sz="2203">
                <a:solidFill>
                  <a:srgbClr val="05060B"/>
                </a:solidFill>
                <a:latin typeface="Canva Sans Bold"/>
                <a:ea typeface="Canva Sans Bold"/>
                <a:cs typeface="Canva Sans Bold"/>
                <a:sym typeface="Canva Sans Bold"/>
              </a:rPr>
              <a:t>improved</a:t>
            </a:r>
            <a:r>
              <a:rPr lang="en-US" sz="2203">
                <a:solidFill>
                  <a:srgbClr val="05060B"/>
                </a:solidFill>
                <a:latin typeface="Canva Sans"/>
                <a:ea typeface="Canva Sans"/>
                <a:cs typeface="Canva Sans"/>
                <a:sym typeface="Canva Sans"/>
              </a:rPr>
              <a:t> from 2013-2017 and 2018-2019.</a:t>
            </a:r>
          </a:p>
          <a:p>
            <a:pPr algn="l" marL="475687" indent="-237844" lvl="1">
              <a:lnSpc>
                <a:spcPts val="2577"/>
              </a:lnSpc>
              <a:buFont typeface="Arial"/>
              <a:buChar char="•"/>
            </a:pPr>
            <a:r>
              <a:rPr lang="en-US" sz="2203">
                <a:solidFill>
                  <a:srgbClr val="05060B"/>
                </a:solidFill>
                <a:latin typeface="Canva Sans"/>
                <a:ea typeface="Canva Sans"/>
                <a:cs typeface="Canva Sans"/>
                <a:sym typeface="Canva Sans"/>
              </a:rPr>
              <a:t>Success rate </a:t>
            </a:r>
            <a:r>
              <a:rPr lang="en-US" b="true" sz="2203">
                <a:solidFill>
                  <a:srgbClr val="05060B"/>
                </a:solidFill>
                <a:latin typeface="Canva Sans Bold"/>
                <a:ea typeface="Canva Sans Bold"/>
                <a:cs typeface="Canva Sans Bold"/>
                <a:sym typeface="Canva Sans Bold"/>
              </a:rPr>
              <a:t>decreased</a:t>
            </a:r>
            <a:r>
              <a:rPr lang="en-US" sz="2203">
                <a:solidFill>
                  <a:srgbClr val="05060B"/>
                </a:solidFill>
                <a:latin typeface="Canva Sans"/>
                <a:ea typeface="Canva Sans"/>
                <a:cs typeface="Canva Sans"/>
                <a:sym typeface="Canva Sans"/>
              </a:rPr>
              <a:t> from 2017-2018 and 2019-2020.</a:t>
            </a:r>
          </a:p>
          <a:p>
            <a:pPr algn="l" marL="475687" indent="-237844" lvl="1">
              <a:lnSpc>
                <a:spcPts val="2577"/>
              </a:lnSpc>
              <a:buFont typeface="Arial"/>
              <a:buChar char="•"/>
            </a:pPr>
            <a:r>
              <a:rPr lang="en-US" sz="2203">
                <a:solidFill>
                  <a:srgbClr val="05060B"/>
                </a:solidFill>
                <a:latin typeface="Canva Sans"/>
                <a:ea typeface="Canva Sans"/>
                <a:cs typeface="Canva Sans"/>
                <a:sym typeface="Canva Sans"/>
              </a:rPr>
              <a:t>Overall the success rate improved from 2013.</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81742" y="3280782"/>
            <a:ext cx="2325434" cy="3476639"/>
          </a:xfrm>
          <a:custGeom>
            <a:avLst/>
            <a:gdLst/>
            <a:ahLst/>
            <a:cxnLst/>
            <a:rect r="r" b="b" t="t" l="l"/>
            <a:pathLst>
              <a:path h="3476639" w="2325434">
                <a:moveTo>
                  <a:pt x="0" y="0"/>
                </a:moveTo>
                <a:lnTo>
                  <a:pt x="2325434" y="0"/>
                </a:lnTo>
                <a:lnTo>
                  <a:pt x="2325434" y="3476639"/>
                </a:lnTo>
                <a:lnTo>
                  <a:pt x="0" y="3476639"/>
                </a:lnTo>
                <a:lnTo>
                  <a:pt x="0" y="0"/>
                </a:lnTo>
                <a:close/>
              </a:path>
            </a:pathLst>
          </a:custGeom>
          <a:blipFill>
            <a:blip r:embed="rId2"/>
            <a:stretch>
              <a:fillRect l="0" t="0" r="0" b="0"/>
            </a:stretch>
          </a:blipFill>
        </p:spPr>
      </p:sp>
      <p:sp>
        <p:nvSpPr>
          <p:cNvPr name="Freeform 3" id="3"/>
          <p:cNvSpPr/>
          <p:nvPr/>
        </p:nvSpPr>
        <p:spPr>
          <a:xfrm flipH="false" flipV="false" rot="0">
            <a:off x="692312" y="2232719"/>
            <a:ext cx="6534841" cy="760286"/>
          </a:xfrm>
          <a:custGeom>
            <a:avLst/>
            <a:gdLst/>
            <a:ahLst/>
            <a:cxnLst/>
            <a:rect r="r" b="b" t="t" l="l"/>
            <a:pathLst>
              <a:path h="760286" w="6534841">
                <a:moveTo>
                  <a:pt x="0" y="0"/>
                </a:moveTo>
                <a:lnTo>
                  <a:pt x="6534840" y="0"/>
                </a:lnTo>
                <a:lnTo>
                  <a:pt x="6534840" y="760287"/>
                </a:lnTo>
                <a:lnTo>
                  <a:pt x="0" y="760287"/>
                </a:lnTo>
                <a:lnTo>
                  <a:pt x="0" y="0"/>
                </a:lnTo>
                <a:close/>
              </a:path>
            </a:pathLst>
          </a:custGeom>
          <a:blipFill>
            <a:blip r:embed="rId3"/>
            <a:stretch>
              <a:fillRect l="0" t="0" r="0" b="0"/>
            </a:stretch>
          </a:blipFill>
        </p:spPr>
      </p:sp>
      <p:sp>
        <p:nvSpPr>
          <p:cNvPr name="TextBox 4" id="4"/>
          <p:cNvSpPr txBox="true"/>
          <p:nvPr/>
        </p:nvSpPr>
        <p:spPr>
          <a:xfrm rot="0">
            <a:off x="433707" y="9599186"/>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5060B"/>
                </a:solidFill>
                <a:latin typeface="Canva Sans"/>
                <a:ea typeface="Canva Sans"/>
                <a:cs typeface="Canva Sans"/>
                <a:sym typeface="Canva Sans"/>
              </a:rPr>
              <a:t>Page 24</a:t>
            </a:r>
          </a:p>
        </p:txBody>
      </p:sp>
      <p:sp>
        <p:nvSpPr>
          <p:cNvPr name="TextBox 5" id="5"/>
          <p:cNvSpPr txBox="true"/>
          <p:nvPr/>
        </p:nvSpPr>
        <p:spPr>
          <a:xfrm rot="0">
            <a:off x="547291" y="942975"/>
            <a:ext cx="10868630" cy="877569"/>
          </a:xfrm>
          <a:prstGeom prst="rect">
            <a:avLst/>
          </a:prstGeom>
        </p:spPr>
        <p:txBody>
          <a:bodyPr anchor="t" rtlCol="false" tIns="0" lIns="0" bIns="0" rIns="0">
            <a:spAutoFit/>
          </a:bodyPr>
          <a:lstStyle/>
          <a:p>
            <a:pPr algn="l">
              <a:lnSpc>
                <a:spcPts val="7280"/>
              </a:lnSpc>
              <a:spcBef>
                <a:spcPct val="0"/>
              </a:spcBef>
            </a:pPr>
            <a:r>
              <a:rPr lang="en-US" sz="5200">
                <a:solidFill>
                  <a:srgbClr val="05060B"/>
                </a:solidFill>
                <a:latin typeface="Anton"/>
                <a:ea typeface="Anton"/>
                <a:cs typeface="Anton"/>
                <a:sym typeface="Anton"/>
              </a:rPr>
              <a:t>ALL LAUNCH SITE NAMES</a:t>
            </a:r>
          </a:p>
        </p:txBody>
      </p:sp>
      <p:sp>
        <p:nvSpPr>
          <p:cNvPr name="TextBox 6" id="6"/>
          <p:cNvSpPr txBox="true"/>
          <p:nvPr/>
        </p:nvSpPr>
        <p:spPr>
          <a:xfrm rot="0">
            <a:off x="547291" y="401197"/>
            <a:ext cx="2717135" cy="580388"/>
          </a:xfrm>
          <a:prstGeom prst="rect">
            <a:avLst/>
          </a:prstGeom>
        </p:spPr>
        <p:txBody>
          <a:bodyPr anchor="t" rtlCol="false" tIns="0" lIns="0" bIns="0" rIns="0">
            <a:spAutoFit/>
          </a:bodyPr>
          <a:lstStyle/>
          <a:p>
            <a:pPr algn="l">
              <a:lnSpc>
                <a:spcPts val="4760"/>
              </a:lnSpc>
              <a:spcBef>
                <a:spcPct val="0"/>
              </a:spcBef>
            </a:pPr>
            <a:r>
              <a:rPr lang="en-US" sz="3400">
                <a:solidFill>
                  <a:srgbClr val="05060B"/>
                </a:solidFill>
                <a:latin typeface="Anton"/>
                <a:ea typeface="Anton"/>
                <a:cs typeface="Anton"/>
                <a:sym typeface="Anton"/>
              </a:rPr>
              <a:t>SQL</a:t>
            </a:r>
          </a:p>
        </p:txBody>
      </p:sp>
      <p:sp>
        <p:nvSpPr>
          <p:cNvPr name="TextBox 7" id="7"/>
          <p:cNvSpPr txBox="true"/>
          <p:nvPr/>
        </p:nvSpPr>
        <p:spPr>
          <a:xfrm rot="0">
            <a:off x="4491776" y="3412106"/>
            <a:ext cx="6391008" cy="3561219"/>
          </a:xfrm>
          <a:prstGeom prst="rect">
            <a:avLst/>
          </a:prstGeom>
        </p:spPr>
        <p:txBody>
          <a:bodyPr anchor="t" rtlCol="false" tIns="0" lIns="0" bIns="0" rIns="0">
            <a:spAutoFit/>
          </a:bodyPr>
          <a:lstStyle/>
          <a:p>
            <a:pPr algn="l" marL="475687" indent="-237844" lvl="1">
              <a:lnSpc>
                <a:spcPts val="2577"/>
              </a:lnSpc>
              <a:buFont typeface="Arial"/>
              <a:buChar char="•"/>
            </a:pPr>
            <a:r>
              <a:rPr lang="en-US" sz="2203">
                <a:solidFill>
                  <a:srgbClr val="05060B"/>
                </a:solidFill>
                <a:latin typeface="Canva Sans"/>
                <a:ea typeface="Canva Sans"/>
                <a:cs typeface="Canva Sans"/>
                <a:sym typeface="Canva Sans"/>
              </a:rPr>
              <a:t>Using DISTINCT in the query allows to show unique values in the Launch_Site column from the database.</a:t>
            </a:r>
          </a:p>
          <a:p>
            <a:pPr algn="l">
              <a:lnSpc>
                <a:spcPts val="2577"/>
              </a:lnSpc>
            </a:pPr>
          </a:p>
          <a:p>
            <a:pPr algn="l" marL="475687" indent="-237844" lvl="1">
              <a:lnSpc>
                <a:spcPts val="2577"/>
              </a:lnSpc>
              <a:buFont typeface="Arial"/>
              <a:buChar char="•"/>
            </a:pPr>
            <a:r>
              <a:rPr lang="en-US" sz="2203">
                <a:solidFill>
                  <a:srgbClr val="05060B"/>
                </a:solidFill>
                <a:latin typeface="Canva Sans"/>
                <a:ea typeface="Canva Sans"/>
                <a:cs typeface="Canva Sans"/>
                <a:sym typeface="Canva Sans"/>
              </a:rPr>
              <a:t>Research about CCAF LC-40 and CCAFS SLC-40 concluded that they are the same launch site in Florida operated by different hosts, first the United states air force and then SpaceX. </a:t>
            </a:r>
            <a:r>
              <a:rPr lang="en-US" sz="2203">
                <a:solidFill>
                  <a:srgbClr val="13538A"/>
                </a:solidFill>
                <a:latin typeface="Canva Sans"/>
                <a:ea typeface="Canva Sans"/>
                <a:cs typeface="Canva Sans"/>
                <a:sym typeface="Canva Sans"/>
              </a:rPr>
              <a:t>https://en.wikipedia.org/wiki/Cape_Canaveral_Space_Launch_Complex_40</a:t>
            </a:r>
          </a:p>
        </p:txBody>
      </p:sp>
      <p:sp>
        <p:nvSpPr>
          <p:cNvPr name="Freeform 8" id="8"/>
          <p:cNvSpPr/>
          <p:nvPr/>
        </p:nvSpPr>
        <p:spPr>
          <a:xfrm flipH="false" flipV="false" rot="0">
            <a:off x="12782531" y="2934268"/>
            <a:ext cx="8229600" cy="8229600"/>
          </a:xfrm>
          <a:custGeom>
            <a:avLst/>
            <a:gdLst/>
            <a:ahLst/>
            <a:cxnLst/>
            <a:rect r="r" b="b" t="t" l="l"/>
            <a:pathLst>
              <a:path h="8229600" w="8229600">
                <a:moveTo>
                  <a:pt x="0" y="0"/>
                </a:moveTo>
                <a:lnTo>
                  <a:pt x="8229600" y="0"/>
                </a:lnTo>
                <a:lnTo>
                  <a:pt x="8229600" y="8229600"/>
                </a:lnTo>
                <a:lnTo>
                  <a:pt x="0" y="8229600"/>
                </a:lnTo>
                <a:lnTo>
                  <a:pt x="0" y="0"/>
                </a:lnTo>
                <a:close/>
              </a:path>
            </a:pathLst>
          </a:custGeom>
          <a:blipFill>
            <a:blip r:embed="rId4"/>
            <a:stretch>
              <a:fillRect l="0" t="0" r="0" b="0"/>
            </a:stretch>
          </a:blipFill>
        </p:spPr>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47291" y="3107715"/>
            <a:ext cx="16945361" cy="2329987"/>
          </a:xfrm>
          <a:custGeom>
            <a:avLst/>
            <a:gdLst/>
            <a:ahLst/>
            <a:cxnLst/>
            <a:rect r="r" b="b" t="t" l="l"/>
            <a:pathLst>
              <a:path h="2329987" w="16945361">
                <a:moveTo>
                  <a:pt x="0" y="0"/>
                </a:moveTo>
                <a:lnTo>
                  <a:pt x="16945360" y="0"/>
                </a:lnTo>
                <a:lnTo>
                  <a:pt x="16945360" y="2329988"/>
                </a:lnTo>
                <a:lnTo>
                  <a:pt x="0" y="2329988"/>
                </a:lnTo>
                <a:lnTo>
                  <a:pt x="0" y="0"/>
                </a:lnTo>
                <a:close/>
              </a:path>
            </a:pathLst>
          </a:custGeom>
          <a:blipFill>
            <a:blip r:embed="rId2"/>
            <a:stretch>
              <a:fillRect l="0" t="0" r="0" b="0"/>
            </a:stretch>
          </a:blipFill>
        </p:spPr>
      </p:sp>
      <p:grpSp>
        <p:nvGrpSpPr>
          <p:cNvPr name="Group 3" id="3"/>
          <p:cNvGrpSpPr/>
          <p:nvPr/>
        </p:nvGrpSpPr>
        <p:grpSpPr>
          <a:xfrm rot="0">
            <a:off x="4036048" y="3107715"/>
            <a:ext cx="1186723" cy="2490407"/>
            <a:chOff x="0" y="0"/>
            <a:chExt cx="312552" cy="655910"/>
          </a:xfrm>
        </p:grpSpPr>
        <p:sp>
          <p:nvSpPr>
            <p:cNvPr name="Freeform 4" id="4"/>
            <p:cNvSpPr/>
            <p:nvPr/>
          </p:nvSpPr>
          <p:spPr>
            <a:xfrm flipH="false" flipV="false" rot="0">
              <a:off x="0" y="0"/>
              <a:ext cx="312552" cy="655910"/>
            </a:xfrm>
            <a:custGeom>
              <a:avLst/>
              <a:gdLst/>
              <a:ahLst/>
              <a:cxnLst/>
              <a:rect r="r" b="b" t="t" l="l"/>
              <a:pathLst>
                <a:path h="655910" w="312552">
                  <a:moveTo>
                    <a:pt x="0" y="0"/>
                  </a:moveTo>
                  <a:lnTo>
                    <a:pt x="312552" y="0"/>
                  </a:lnTo>
                  <a:lnTo>
                    <a:pt x="312552" y="655910"/>
                  </a:lnTo>
                  <a:lnTo>
                    <a:pt x="0" y="655910"/>
                  </a:lnTo>
                  <a:close/>
                </a:path>
              </a:pathLst>
            </a:custGeom>
            <a:solidFill>
              <a:srgbClr val="FFDE59">
                <a:alpha val="20784"/>
              </a:srgbClr>
            </a:solidFill>
          </p:spPr>
        </p:sp>
        <p:sp>
          <p:nvSpPr>
            <p:cNvPr name="TextBox 5" id="5"/>
            <p:cNvSpPr txBox="true"/>
            <p:nvPr/>
          </p:nvSpPr>
          <p:spPr>
            <a:xfrm>
              <a:off x="0" y="-47625"/>
              <a:ext cx="312552" cy="703535"/>
            </a:xfrm>
            <a:prstGeom prst="rect">
              <a:avLst/>
            </a:prstGeom>
          </p:spPr>
          <p:txBody>
            <a:bodyPr anchor="ctr" rtlCol="false" tIns="50800" lIns="50800" bIns="50800" rIns="50800"/>
            <a:lstStyle/>
            <a:p>
              <a:pPr algn="ctr">
                <a:lnSpc>
                  <a:spcPts val="2800"/>
                </a:lnSpc>
              </a:pPr>
            </a:p>
          </p:txBody>
        </p:sp>
      </p:grpSp>
      <p:sp>
        <p:nvSpPr>
          <p:cNvPr name="Freeform 6" id="6"/>
          <p:cNvSpPr/>
          <p:nvPr/>
        </p:nvSpPr>
        <p:spPr>
          <a:xfrm flipH="false" flipV="false" rot="0">
            <a:off x="433707" y="2108275"/>
            <a:ext cx="7720842" cy="742686"/>
          </a:xfrm>
          <a:custGeom>
            <a:avLst/>
            <a:gdLst/>
            <a:ahLst/>
            <a:cxnLst/>
            <a:rect r="r" b="b" t="t" l="l"/>
            <a:pathLst>
              <a:path h="742686" w="7720842">
                <a:moveTo>
                  <a:pt x="0" y="0"/>
                </a:moveTo>
                <a:lnTo>
                  <a:pt x="7720842" y="0"/>
                </a:lnTo>
                <a:lnTo>
                  <a:pt x="7720842" y="742686"/>
                </a:lnTo>
                <a:lnTo>
                  <a:pt x="0" y="742686"/>
                </a:lnTo>
                <a:lnTo>
                  <a:pt x="0" y="0"/>
                </a:lnTo>
                <a:close/>
              </a:path>
            </a:pathLst>
          </a:custGeom>
          <a:blipFill>
            <a:blip r:embed="rId3"/>
            <a:stretch>
              <a:fillRect l="0" t="0" r="0" b="0"/>
            </a:stretch>
          </a:blipFill>
        </p:spPr>
      </p:sp>
      <p:sp>
        <p:nvSpPr>
          <p:cNvPr name="TextBox 7" id="7"/>
          <p:cNvSpPr txBox="true"/>
          <p:nvPr/>
        </p:nvSpPr>
        <p:spPr>
          <a:xfrm rot="0">
            <a:off x="433707" y="9599186"/>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5060B"/>
                </a:solidFill>
                <a:latin typeface="Canva Sans"/>
                <a:ea typeface="Canva Sans"/>
                <a:cs typeface="Canva Sans"/>
                <a:sym typeface="Canva Sans"/>
              </a:rPr>
              <a:t>Page 25</a:t>
            </a:r>
          </a:p>
        </p:txBody>
      </p:sp>
      <p:sp>
        <p:nvSpPr>
          <p:cNvPr name="TextBox 8" id="8"/>
          <p:cNvSpPr txBox="true"/>
          <p:nvPr/>
        </p:nvSpPr>
        <p:spPr>
          <a:xfrm rot="0">
            <a:off x="547291" y="942975"/>
            <a:ext cx="10868630" cy="877569"/>
          </a:xfrm>
          <a:prstGeom prst="rect">
            <a:avLst/>
          </a:prstGeom>
        </p:spPr>
        <p:txBody>
          <a:bodyPr anchor="t" rtlCol="false" tIns="0" lIns="0" bIns="0" rIns="0">
            <a:spAutoFit/>
          </a:bodyPr>
          <a:lstStyle/>
          <a:p>
            <a:pPr algn="l">
              <a:lnSpc>
                <a:spcPts val="7280"/>
              </a:lnSpc>
              <a:spcBef>
                <a:spcPct val="0"/>
              </a:spcBef>
            </a:pPr>
            <a:r>
              <a:rPr lang="en-US" sz="5200">
                <a:solidFill>
                  <a:srgbClr val="05060B"/>
                </a:solidFill>
                <a:latin typeface="Anton"/>
                <a:ea typeface="Anton"/>
                <a:cs typeface="Anton"/>
                <a:sym typeface="Anton"/>
              </a:rPr>
              <a:t>LAUNCH SITE NAMES BEGIN WITH ‘CCA’</a:t>
            </a:r>
          </a:p>
        </p:txBody>
      </p:sp>
      <p:sp>
        <p:nvSpPr>
          <p:cNvPr name="TextBox 9" id="9"/>
          <p:cNvSpPr txBox="true"/>
          <p:nvPr/>
        </p:nvSpPr>
        <p:spPr>
          <a:xfrm rot="0">
            <a:off x="547291" y="401197"/>
            <a:ext cx="2717135" cy="580388"/>
          </a:xfrm>
          <a:prstGeom prst="rect">
            <a:avLst/>
          </a:prstGeom>
        </p:spPr>
        <p:txBody>
          <a:bodyPr anchor="t" rtlCol="false" tIns="0" lIns="0" bIns="0" rIns="0">
            <a:spAutoFit/>
          </a:bodyPr>
          <a:lstStyle/>
          <a:p>
            <a:pPr algn="l">
              <a:lnSpc>
                <a:spcPts val="4760"/>
              </a:lnSpc>
              <a:spcBef>
                <a:spcPct val="0"/>
              </a:spcBef>
            </a:pPr>
            <a:r>
              <a:rPr lang="en-US" sz="3400">
                <a:solidFill>
                  <a:srgbClr val="05060B"/>
                </a:solidFill>
                <a:latin typeface="Anton"/>
                <a:ea typeface="Anton"/>
                <a:cs typeface="Anton"/>
                <a:sym typeface="Anton"/>
              </a:rPr>
              <a:t>SQL</a:t>
            </a:r>
          </a:p>
        </p:txBody>
      </p:sp>
      <p:sp>
        <p:nvSpPr>
          <p:cNvPr name="TextBox 10" id="10"/>
          <p:cNvSpPr txBox="true"/>
          <p:nvPr/>
        </p:nvSpPr>
        <p:spPr>
          <a:xfrm rot="0">
            <a:off x="547291" y="5864822"/>
            <a:ext cx="6391008" cy="970419"/>
          </a:xfrm>
          <a:prstGeom prst="rect">
            <a:avLst/>
          </a:prstGeom>
        </p:spPr>
        <p:txBody>
          <a:bodyPr anchor="t" rtlCol="false" tIns="0" lIns="0" bIns="0" rIns="0">
            <a:spAutoFit/>
          </a:bodyPr>
          <a:lstStyle/>
          <a:p>
            <a:pPr algn="l" marL="475687" indent="-237844" lvl="1">
              <a:lnSpc>
                <a:spcPts val="2577"/>
              </a:lnSpc>
              <a:buFont typeface="Arial"/>
              <a:buChar char="•"/>
            </a:pPr>
            <a:r>
              <a:rPr lang="en-US" sz="2203">
                <a:solidFill>
                  <a:srgbClr val="05060B"/>
                </a:solidFill>
                <a:latin typeface="Canva Sans"/>
                <a:ea typeface="Canva Sans"/>
                <a:cs typeface="Canva Sans"/>
                <a:sym typeface="Canva Sans"/>
              </a:rPr>
              <a:t>First 5 entries in database with launch site name beginning with CCA. % - include anything after CCA.</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63147" y="3240953"/>
            <a:ext cx="4119000" cy="1139298"/>
          </a:xfrm>
          <a:custGeom>
            <a:avLst/>
            <a:gdLst/>
            <a:ahLst/>
            <a:cxnLst/>
            <a:rect r="r" b="b" t="t" l="l"/>
            <a:pathLst>
              <a:path h="1139298" w="4119000">
                <a:moveTo>
                  <a:pt x="0" y="0"/>
                </a:moveTo>
                <a:lnTo>
                  <a:pt x="4119001" y="0"/>
                </a:lnTo>
                <a:lnTo>
                  <a:pt x="4119001" y="1139298"/>
                </a:lnTo>
                <a:lnTo>
                  <a:pt x="0" y="1139298"/>
                </a:lnTo>
                <a:lnTo>
                  <a:pt x="0" y="0"/>
                </a:lnTo>
                <a:close/>
              </a:path>
            </a:pathLst>
          </a:custGeom>
          <a:blipFill>
            <a:blip r:embed="rId2"/>
            <a:stretch>
              <a:fillRect l="0" t="0" r="0" b="0"/>
            </a:stretch>
          </a:blipFill>
        </p:spPr>
      </p:sp>
      <p:sp>
        <p:nvSpPr>
          <p:cNvPr name="Freeform 3" id="3"/>
          <p:cNvSpPr/>
          <p:nvPr/>
        </p:nvSpPr>
        <p:spPr>
          <a:xfrm flipH="false" flipV="false" rot="0">
            <a:off x="663147" y="2136758"/>
            <a:ext cx="10636917" cy="789870"/>
          </a:xfrm>
          <a:custGeom>
            <a:avLst/>
            <a:gdLst/>
            <a:ahLst/>
            <a:cxnLst/>
            <a:rect r="r" b="b" t="t" l="l"/>
            <a:pathLst>
              <a:path h="789870" w="10636917">
                <a:moveTo>
                  <a:pt x="0" y="0"/>
                </a:moveTo>
                <a:lnTo>
                  <a:pt x="10636917" y="0"/>
                </a:lnTo>
                <a:lnTo>
                  <a:pt x="10636917" y="789870"/>
                </a:lnTo>
                <a:lnTo>
                  <a:pt x="0" y="789870"/>
                </a:lnTo>
                <a:lnTo>
                  <a:pt x="0" y="0"/>
                </a:lnTo>
                <a:close/>
              </a:path>
            </a:pathLst>
          </a:custGeom>
          <a:blipFill>
            <a:blip r:embed="rId3"/>
            <a:stretch>
              <a:fillRect l="0" t="0" r="0" b="0"/>
            </a:stretch>
          </a:blipFill>
        </p:spPr>
      </p:sp>
      <p:sp>
        <p:nvSpPr>
          <p:cNvPr name="TextBox 4" id="4"/>
          <p:cNvSpPr txBox="true"/>
          <p:nvPr/>
        </p:nvSpPr>
        <p:spPr>
          <a:xfrm rot="0">
            <a:off x="433707" y="9599186"/>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5060B"/>
                </a:solidFill>
                <a:latin typeface="Canva Sans"/>
                <a:ea typeface="Canva Sans"/>
                <a:cs typeface="Canva Sans"/>
                <a:sym typeface="Canva Sans"/>
              </a:rPr>
              <a:t>Page 26</a:t>
            </a:r>
          </a:p>
        </p:txBody>
      </p:sp>
      <p:sp>
        <p:nvSpPr>
          <p:cNvPr name="TextBox 5" id="5"/>
          <p:cNvSpPr txBox="true"/>
          <p:nvPr/>
        </p:nvSpPr>
        <p:spPr>
          <a:xfrm rot="0">
            <a:off x="547291" y="942975"/>
            <a:ext cx="10868630" cy="877569"/>
          </a:xfrm>
          <a:prstGeom prst="rect">
            <a:avLst/>
          </a:prstGeom>
        </p:spPr>
        <p:txBody>
          <a:bodyPr anchor="t" rtlCol="false" tIns="0" lIns="0" bIns="0" rIns="0">
            <a:spAutoFit/>
          </a:bodyPr>
          <a:lstStyle/>
          <a:p>
            <a:pPr algn="l">
              <a:lnSpc>
                <a:spcPts val="7280"/>
              </a:lnSpc>
              <a:spcBef>
                <a:spcPct val="0"/>
              </a:spcBef>
            </a:pPr>
            <a:r>
              <a:rPr lang="en-US" sz="5200">
                <a:solidFill>
                  <a:srgbClr val="05060B"/>
                </a:solidFill>
                <a:latin typeface="Anton"/>
                <a:ea typeface="Anton"/>
                <a:cs typeface="Anton"/>
                <a:sym typeface="Anton"/>
              </a:rPr>
              <a:t>TOTAL PAYLOAD MASS FROM NASA</a:t>
            </a:r>
          </a:p>
        </p:txBody>
      </p:sp>
      <p:sp>
        <p:nvSpPr>
          <p:cNvPr name="TextBox 6" id="6"/>
          <p:cNvSpPr txBox="true"/>
          <p:nvPr/>
        </p:nvSpPr>
        <p:spPr>
          <a:xfrm rot="0">
            <a:off x="547291" y="401197"/>
            <a:ext cx="2717135" cy="580388"/>
          </a:xfrm>
          <a:prstGeom prst="rect">
            <a:avLst/>
          </a:prstGeom>
        </p:spPr>
        <p:txBody>
          <a:bodyPr anchor="t" rtlCol="false" tIns="0" lIns="0" bIns="0" rIns="0">
            <a:spAutoFit/>
          </a:bodyPr>
          <a:lstStyle/>
          <a:p>
            <a:pPr algn="l">
              <a:lnSpc>
                <a:spcPts val="4760"/>
              </a:lnSpc>
              <a:spcBef>
                <a:spcPct val="0"/>
              </a:spcBef>
            </a:pPr>
            <a:r>
              <a:rPr lang="en-US" sz="3400">
                <a:solidFill>
                  <a:srgbClr val="05060B"/>
                </a:solidFill>
                <a:latin typeface="Anton"/>
                <a:ea typeface="Anton"/>
                <a:cs typeface="Anton"/>
                <a:sym typeface="Anton"/>
              </a:rPr>
              <a:t>SQL</a:t>
            </a:r>
          </a:p>
        </p:txBody>
      </p:sp>
      <p:sp>
        <p:nvSpPr>
          <p:cNvPr name="TextBox 7" id="7"/>
          <p:cNvSpPr txBox="true"/>
          <p:nvPr/>
        </p:nvSpPr>
        <p:spPr>
          <a:xfrm rot="0">
            <a:off x="5594324" y="3492080"/>
            <a:ext cx="6391008" cy="646569"/>
          </a:xfrm>
          <a:prstGeom prst="rect">
            <a:avLst/>
          </a:prstGeom>
        </p:spPr>
        <p:txBody>
          <a:bodyPr anchor="t" rtlCol="false" tIns="0" lIns="0" bIns="0" rIns="0">
            <a:spAutoFit/>
          </a:bodyPr>
          <a:lstStyle/>
          <a:p>
            <a:pPr algn="l" marL="475687" indent="-237844" lvl="1">
              <a:lnSpc>
                <a:spcPts val="2577"/>
              </a:lnSpc>
              <a:buFont typeface="Arial"/>
              <a:buChar char="•"/>
            </a:pPr>
            <a:r>
              <a:rPr lang="en-US" sz="2203">
                <a:solidFill>
                  <a:srgbClr val="05060B"/>
                </a:solidFill>
                <a:latin typeface="Canva Sans"/>
                <a:ea typeface="Canva Sans"/>
                <a:cs typeface="Canva Sans"/>
                <a:sym typeface="Canva Sans"/>
              </a:rPr>
              <a:t>Total payload mass where NASA was a customer. </a:t>
            </a:r>
          </a:p>
        </p:txBody>
      </p:sp>
      <p:sp>
        <p:nvSpPr>
          <p:cNvPr name="Freeform 8" id="8"/>
          <p:cNvSpPr/>
          <p:nvPr/>
        </p:nvSpPr>
        <p:spPr>
          <a:xfrm flipH="false" flipV="false" rot="0">
            <a:off x="12782531" y="2934268"/>
            <a:ext cx="8229600" cy="8229600"/>
          </a:xfrm>
          <a:custGeom>
            <a:avLst/>
            <a:gdLst/>
            <a:ahLst/>
            <a:cxnLst/>
            <a:rect r="r" b="b" t="t" l="l"/>
            <a:pathLst>
              <a:path h="8229600" w="8229600">
                <a:moveTo>
                  <a:pt x="0" y="0"/>
                </a:moveTo>
                <a:lnTo>
                  <a:pt x="8229600" y="0"/>
                </a:lnTo>
                <a:lnTo>
                  <a:pt x="8229600" y="8229600"/>
                </a:lnTo>
                <a:lnTo>
                  <a:pt x="0" y="8229600"/>
                </a:lnTo>
                <a:lnTo>
                  <a:pt x="0" y="0"/>
                </a:lnTo>
                <a:close/>
              </a:path>
            </a:pathLst>
          </a:custGeom>
          <a:blipFill>
            <a:blip r:embed="rId4"/>
            <a:stretch>
              <a:fillRect l="0" t="0" r="0" b="0"/>
            </a:stretch>
          </a:blipFill>
        </p:spPr>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47291" y="3490683"/>
            <a:ext cx="4280675" cy="1426892"/>
          </a:xfrm>
          <a:custGeom>
            <a:avLst/>
            <a:gdLst/>
            <a:ahLst/>
            <a:cxnLst/>
            <a:rect r="r" b="b" t="t" l="l"/>
            <a:pathLst>
              <a:path h="1426892" w="4280675">
                <a:moveTo>
                  <a:pt x="0" y="0"/>
                </a:moveTo>
                <a:lnTo>
                  <a:pt x="4280674" y="0"/>
                </a:lnTo>
                <a:lnTo>
                  <a:pt x="4280674" y="1426891"/>
                </a:lnTo>
                <a:lnTo>
                  <a:pt x="0" y="1426891"/>
                </a:lnTo>
                <a:lnTo>
                  <a:pt x="0" y="0"/>
                </a:lnTo>
                <a:close/>
              </a:path>
            </a:pathLst>
          </a:custGeom>
          <a:blipFill>
            <a:blip r:embed="rId2"/>
            <a:stretch>
              <a:fillRect l="0" t="0" r="0" b="0"/>
            </a:stretch>
          </a:blipFill>
        </p:spPr>
      </p:sp>
      <p:sp>
        <p:nvSpPr>
          <p:cNvPr name="Freeform 3" id="3"/>
          <p:cNvSpPr/>
          <p:nvPr/>
        </p:nvSpPr>
        <p:spPr>
          <a:xfrm flipH="false" flipV="false" rot="0">
            <a:off x="12782531" y="2934268"/>
            <a:ext cx="8229600" cy="8229600"/>
          </a:xfrm>
          <a:custGeom>
            <a:avLst/>
            <a:gdLst/>
            <a:ahLst/>
            <a:cxnLst/>
            <a:rect r="r" b="b" t="t" l="l"/>
            <a:pathLst>
              <a:path h="8229600" w="8229600">
                <a:moveTo>
                  <a:pt x="0" y="0"/>
                </a:moveTo>
                <a:lnTo>
                  <a:pt x="8229600" y="0"/>
                </a:lnTo>
                <a:lnTo>
                  <a:pt x="8229600" y="8229600"/>
                </a:lnTo>
                <a:lnTo>
                  <a:pt x="0" y="8229600"/>
                </a:lnTo>
                <a:lnTo>
                  <a:pt x="0" y="0"/>
                </a:lnTo>
                <a:close/>
              </a:path>
            </a:pathLst>
          </a:custGeom>
          <a:blipFill>
            <a:blip r:embed="rId3"/>
            <a:stretch>
              <a:fillRect l="0" t="0" r="0" b="0"/>
            </a:stretch>
          </a:blipFill>
        </p:spPr>
      </p:sp>
      <p:sp>
        <p:nvSpPr>
          <p:cNvPr name="Freeform 4" id="4"/>
          <p:cNvSpPr/>
          <p:nvPr/>
        </p:nvSpPr>
        <p:spPr>
          <a:xfrm flipH="false" flipV="false" rot="0">
            <a:off x="547291" y="2317521"/>
            <a:ext cx="10790400" cy="782637"/>
          </a:xfrm>
          <a:custGeom>
            <a:avLst/>
            <a:gdLst/>
            <a:ahLst/>
            <a:cxnLst/>
            <a:rect r="r" b="b" t="t" l="l"/>
            <a:pathLst>
              <a:path h="782637" w="10790400">
                <a:moveTo>
                  <a:pt x="0" y="0"/>
                </a:moveTo>
                <a:lnTo>
                  <a:pt x="10790400" y="0"/>
                </a:lnTo>
                <a:lnTo>
                  <a:pt x="10790400" y="782637"/>
                </a:lnTo>
                <a:lnTo>
                  <a:pt x="0" y="782637"/>
                </a:lnTo>
                <a:lnTo>
                  <a:pt x="0" y="0"/>
                </a:lnTo>
                <a:close/>
              </a:path>
            </a:pathLst>
          </a:custGeom>
          <a:blipFill>
            <a:blip r:embed="rId4"/>
            <a:stretch>
              <a:fillRect l="0" t="0" r="0" b="0"/>
            </a:stretch>
          </a:blipFill>
        </p:spPr>
      </p:sp>
      <p:sp>
        <p:nvSpPr>
          <p:cNvPr name="TextBox 5" id="5"/>
          <p:cNvSpPr txBox="true"/>
          <p:nvPr/>
        </p:nvSpPr>
        <p:spPr>
          <a:xfrm rot="0">
            <a:off x="433707" y="9599186"/>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5060B"/>
                </a:solidFill>
                <a:latin typeface="Canva Sans"/>
                <a:ea typeface="Canva Sans"/>
                <a:cs typeface="Canva Sans"/>
                <a:sym typeface="Canva Sans"/>
              </a:rPr>
              <a:t>Page 27</a:t>
            </a:r>
          </a:p>
        </p:txBody>
      </p:sp>
      <p:sp>
        <p:nvSpPr>
          <p:cNvPr name="TextBox 6" id="6"/>
          <p:cNvSpPr txBox="true"/>
          <p:nvPr/>
        </p:nvSpPr>
        <p:spPr>
          <a:xfrm rot="0">
            <a:off x="547291" y="1052154"/>
            <a:ext cx="10868630" cy="877569"/>
          </a:xfrm>
          <a:prstGeom prst="rect">
            <a:avLst/>
          </a:prstGeom>
        </p:spPr>
        <p:txBody>
          <a:bodyPr anchor="t" rtlCol="false" tIns="0" lIns="0" bIns="0" rIns="0">
            <a:spAutoFit/>
          </a:bodyPr>
          <a:lstStyle/>
          <a:p>
            <a:pPr algn="l">
              <a:lnSpc>
                <a:spcPts val="7280"/>
              </a:lnSpc>
              <a:spcBef>
                <a:spcPct val="0"/>
              </a:spcBef>
            </a:pPr>
            <a:r>
              <a:rPr lang="en-US" sz="5200">
                <a:solidFill>
                  <a:srgbClr val="05060B"/>
                </a:solidFill>
                <a:latin typeface="Anton"/>
                <a:ea typeface="Anton"/>
                <a:cs typeface="Anton"/>
                <a:sym typeface="Anton"/>
              </a:rPr>
              <a:t>AVERAGE PAYLOAD MASS BY F9 V1.1</a:t>
            </a:r>
          </a:p>
        </p:txBody>
      </p:sp>
      <p:sp>
        <p:nvSpPr>
          <p:cNvPr name="TextBox 7" id="7"/>
          <p:cNvSpPr txBox="true"/>
          <p:nvPr/>
        </p:nvSpPr>
        <p:spPr>
          <a:xfrm rot="0">
            <a:off x="547291" y="401197"/>
            <a:ext cx="2717135" cy="580388"/>
          </a:xfrm>
          <a:prstGeom prst="rect">
            <a:avLst/>
          </a:prstGeom>
        </p:spPr>
        <p:txBody>
          <a:bodyPr anchor="t" rtlCol="false" tIns="0" lIns="0" bIns="0" rIns="0">
            <a:spAutoFit/>
          </a:bodyPr>
          <a:lstStyle/>
          <a:p>
            <a:pPr algn="l">
              <a:lnSpc>
                <a:spcPts val="4760"/>
              </a:lnSpc>
              <a:spcBef>
                <a:spcPct val="0"/>
              </a:spcBef>
            </a:pPr>
            <a:r>
              <a:rPr lang="en-US" sz="3400">
                <a:solidFill>
                  <a:srgbClr val="05060B"/>
                </a:solidFill>
                <a:latin typeface="Anton"/>
                <a:ea typeface="Anton"/>
                <a:cs typeface="Anton"/>
                <a:sym typeface="Anton"/>
              </a:rPr>
              <a:t>SQL</a:t>
            </a:r>
          </a:p>
        </p:txBody>
      </p:sp>
      <p:sp>
        <p:nvSpPr>
          <p:cNvPr name="TextBox 8" id="8"/>
          <p:cNvSpPr txBox="true"/>
          <p:nvPr/>
        </p:nvSpPr>
        <p:spPr>
          <a:xfrm rot="0">
            <a:off x="5609744" y="3723681"/>
            <a:ext cx="6391008" cy="970419"/>
          </a:xfrm>
          <a:prstGeom prst="rect">
            <a:avLst/>
          </a:prstGeom>
        </p:spPr>
        <p:txBody>
          <a:bodyPr anchor="t" rtlCol="false" tIns="0" lIns="0" bIns="0" rIns="0">
            <a:spAutoFit/>
          </a:bodyPr>
          <a:lstStyle/>
          <a:p>
            <a:pPr algn="l" marL="475687" indent="-237844" lvl="1">
              <a:lnSpc>
                <a:spcPts val="2577"/>
              </a:lnSpc>
              <a:buFont typeface="Arial"/>
              <a:buChar char="•"/>
            </a:pPr>
            <a:r>
              <a:rPr lang="en-US" sz="2203">
                <a:solidFill>
                  <a:srgbClr val="05060B"/>
                </a:solidFill>
                <a:latin typeface="Canva Sans"/>
                <a:ea typeface="Canva Sans"/>
                <a:cs typeface="Canva Sans"/>
                <a:sym typeface="Canva Sans"/>
              </a:rPr>
              <a:t>Average payload mass of launches which used booster version F9 v1.1</a:t>
            </a:r>
          </a:p>
          <a:p>
            <a:pPr algn="l" marL="475687" indent="-237844" lvl="1">
              <a:lnSpc>
                <a:spcPts val="2577"/>
              </a:lnSpc>
              <a:buFont typeface="Arial"/>
              <a:buChar char="•"/>
            </a:pPr>
            <a:r>
              <a:rPr lang="en-US" b="true" sz="2203">
                <a:solidFill>
                  <a:srgbClr val="05060B"/>
                </a:solidFill>
                <a:latin typeface="Canva Sans Bold"/>
                <a:ea typeface="Canva Sans Bold"/>
                <a:cs typeface="Canva Sans Bold"/>
                <a:sym typeface="Canva Sans Bold"/>
              </a:rPr>
              <a:t>Average payload mass is very low</a:t>
            </a:r>
            <a:r>
              <a:rPr lang="en-US" sz="2203">
                <a:solidFill>
                  <a:srgbClr val="05060B"/>
                </a:solidFill>
                <a:latin typeface="Canva Sans"/>
                <a:ea typeface="Canva Sans"/>
                <a:cs typeface="Canva Sans"/>
                <a:sym typeface="Canva Sans"/>
              </a:rPr>
              <a:t>.</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47291" y="3324793"/>
            <a:ext cx="2235726" cy="1325837"/>
          </a:xfrm>
          <a:custGeom>
            <a:avLst/>
            <a:gdLst/>
            <a:ahLst/>
            <a:cxnLst/>
            <a:rect r="r" b="b" t="t" l="l"/>
            <a:pathLst>
              <a:path h="1325837" w="2235726">
                <a:moveTo>
                  <a:pt x="0" y="0"/>
                </a:moveTo>
                <a:lnTo>
                  <a:pt x="2235725" y="0"/>
                </a:lnTo>
                <a:lnTo>
                  <a:pt x="2235725" y="1325838"/>
                </a:lnTo>
                <a:lnTo>
                  <a:pt x="0" y="1325838"/>
                </a:lnTo>
                <a:lnTo>
                  <a:pt x="0" y="0"/>
                </a:lnTo>
                <a:close/>
              </a:path>
            </a:pathLst>
          </a:custGeom>
          <a:blipFill>
            <a:blip r:embed="rId2"/>
            <a:stretch>
              <a:fillRect l="0" t="0" r="0" b="0"/>
            </a:stretch>
          </a:blipFill>
        </p:spPr>
      </p:sp>
      <p:sp>
        <p:nvSpPr>
          <p:cNvPr name="Freeform 3" id="3"/>
          <p:cNvSpPr/>
          <p:nvPr/>
        </p:nvSpPr>
        <p:spPr>
          <a:xfrm flipH="false" flipV="false" rot="0">
            <a:off x="12782531" y="2934268"/>
            <a:ext cx="8229600" cy="8229600"/>
          </a:xfrm>
          <a:custGeom>
            <a:avLst/>
            <a:gdLst/>
            <a:ahLst/>
            <a:cxnLst/>
            <a:rect r="r" b="b" t="t" l="l"/>
            <a:pathLst>
              <a:path h="8229600" w="8229600">
                <a:moveTo>
                  <a:pt x="0" y="0"/>
                </a:moveTo>
                <a:lnTo>
                  <a:pt x="8229600" y="0"/>
                </a:lnTo>
                <a:lnTo>
                  <a:pt x="8229600" y="8229600"/>
                </a:lnTo>
                <a:lnTo>
                  <a:pt x="0" y="8229600"/>
                </a:lnTo>
                <a:lnTo>
                  <a:pt x="0" y="0"/>
                </a:lnTo>
                <a:close/>
              </a:path>
            </a:pathLst>
          </a:custGeom>
          <a:blipFill>
            <a:blip r:embed="rId3"/>
            <a:stretch>
              <a:fillRect l="0" t="0" r="0" b="0"/>
            </a:stretch>
          </a:blipFill>
        </p:spPr>
      </p:sp>
      <p:sp>
        <p:nvSpPr>
          <p:cNvPr name="Freeform 4" id="4"/>
          <p:cNvSpPr/>
          <p:nvPr/>
        </p:nvSpPr>
        <p:spPr>
          <a:xfrm flipH="false" flipV="false" rot="0">
            <a:off x="547291" y="2214755"/>
            <a:ext cx="10707049" cy="719514"/>
          </a:xfrm>
          <a:custGeom>
            <a:avLst/>
            <a:gdLst/>
            <a:ahLst/>
            <a:cxnLst/>
            <a:rect r="r" b="b" t="t" l="l"/>
            <a:pathLst>
              <a:path h="719514" w="10707049">
                <a:moveTo>
                  <a:pt x="0" y="0"/>
                </a:moveTo>
                <a:lnTo>
                  <a:pt x="10707049" y="0"/>
                </a:lnTo>
                <a:lnTo>
                  <a:pt x="10707049" y="719513"/>
                </a:lnTo>
                <a:lnTo>
                  <a:pt x="0" y="719513"/>
                </a:lnTo>
                <a:lnTo>
                  <a:pt x="0" y="0"/>
                </a:lnTo>
                <a:close/>
              </a:path>
            </a:pathLst>
          </a:custGeom>
          <a:blipFill>
            <a:blip r:embed="rId4"/>
            <a:stretch>
              <a:fillRect l="0" t="0" r="0" b="0"/>
            </a:stretch>
          </a:blipFill>
        </p:spPr>
      </p:sp>
      <p:sp>
        <p:nvSpPr>
          <p:cNvPr name="TextBox 5" id="5"/>
          <p:cNvSpPr txBox="true"/>
          <p:nvPr/>
        </p:nvSpPr>
        <p:spPr>
          <a:xfrm rot="0">
            <a:off x="433707" y="9599186"/>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5060B"/>
                </a:solidFill>
                <a:latin typeface="Canva Sans"/>
                <a:ea typeface="Canva Sans"/>
                <a:cs typeface="Canva Sans"/>
                <a:sym typeface="Canva Sans"/>
              </a:rPr>
              <a:t>Page 28</a:t>
            </a:r>
          </a:p>
        </p:txBody>
      </p:sp>
      <p:sp>
        <p:nvSpPr>
          <p:cNvPr name="TextBox 6" id="6"/>
          <p:cNvSpPr txBox="true"/>
          <p:nvPr/>
        </p:nvSpPr>
        <p:spPr>
          <a:xfrm rot="0">
            <a:off x="547291" y="942975"/>
            <a:ext cx="11897459" cy="877569"/>
          </a:xfrm>
          <a:prstGeom prst="rect">
            <a:avLst/>
          </a:prstGeom>
        </p:spPr>
        <p:txBody>
          <a:bodyPr anchor="t" rtlCol="false" tIns="0" lIns="0" bIns="0" rIns="0">
            <a:spAutoFit/>
          </a:bodyPr>
          <a:lstStyle/>
          <a:p>
            <a:pPr algn="l">
              <a:lnSpc>
                <a:spcPts val="7280"/>
              </a:lnSpc>
              <a:spcBef>
                <a:spcPct val="0"/>
              </a:spcBef>
            </a:pPr>
            <a:r>
              <a:rPr lang="en-US" sz="5200">
                <a:solidFill>
                  <a:srgbClr val="05060B"/>
                </a:solidFill>
                <a:latin typeface="Anton"/>
                <a:ea typeface="Anton"/>
                <a:cs typeface="Anton"/>
                <a:sym typeface="Anton"/>
              </a:rPr>
              <a:t>FIRST SUCCESSFUL GROUND PAD LANDING DATE</a:t>
            </a:r>
          </a:p>
        </p:txBody>
      </p:sp>
      <p:sp>
        <p:nvSpPr>
          <p:cNvPr name="TextBox 7" id="7"/>
          <p:cNvSpPr txBox="true"/>
          <p:nvPr/>
        </p:nvSpPr>
        <p:spPr>
          <a:xfrm rot="0">
            <a:off x="547291" y="401197"/>
            <a:ext cx="2717135" cy="580388"/>
          </a:xfrm>
          <a:prstGeom prst="rect">
            <a:avLst/>
          </a:prstGeom>
        </p:spPr>
        <p:txBody>
          <a:bodyPr anchor="t" rtlCol="false" tIns="0" lIns="0" bIns="0" rIns="0">
            <a:spAutoFit/>
          </a:bodyPr>
          <a:lstStyle/>
          <a:p>
            <a:pPr algn="l">
              <a:lnSpc>
                <a:spcPts val="4760"/>
              </a:lnSpc>
              <a:spcBef>
                <a:spcPct val="0"/>
              </a:spcBef>
            </a:pPr>
            <a:r>
              <a:rPr lang="en-US" sz="3400">
                <a:solidFill>
                  <a:srgbClr val="05060B"/>
                </a:solidFill>
                <a:latin typeface="Anton"/>
                <a:ea typeface="Anton"/>
                <a:cs typeface="Anton"/>
                <a:sym typeface="Anton"/>
              </a:rPr>
              <a:t>SQL</a:t>
            </a:r>
          </a:p>
        </p:txBody>
      </p:sp>
      <p:sp>
        <p:nvSpPr>
          <p:cNvPr name="TextBox 8" id="8"/>
          <p:cNvSpPr txBox="true"/>
          <p:nvPr/>
        </p:nvSpPr>
        <p:spPr>
          <a:xfrm rot="0">
            <a:off x="4276901" y="3605158"/>
            <a:ext cx="6391008" cy="1294269"/>
          </a:xfrm>
          <a:prstGeom prst="rect">
            <a:avLst/>
          </a:prstGeom>
        </p:spPr>
        <p:txBody>
          <a:bodyPr anchor="t" rtlCol="false" tIns="0" lIns="0" bIns="0" rIns="0">
            <a:spAutoFit/>
          </a:bodyPr>
          <a:lstStyle/>
          <a:p>
            <a:pPr algn="l" marL="475687" indent="-237844" lvl="1">
              <a:lnSpc>
                <a:spcPts val="2577"/>
              </a:lnSpc>
              <a:buFont typeface="Arial"/>
              <a:buChar char="•"/>
            </a:pPr>
            <a:r>
              <a:rPr lang="en-US" sz="2203">
                <a:solidFill>
                  <a:srgbClr val="05060B"/>
                </a:solidFill>
                <a:latin typeface="Canva Sans"/>
                <a:ea typeface="Canva Sans"/>
                <a:cs typeface="Canva Sans"/>
                <a:sym typeface="Canva Sans"/>
              </a:rPr>
              <a:t>First successful ground pad landing date.</a:t>
            </a:r>
          </a:p>
          <a:p>
            <a:pPr algn="l" marL="475687" indent="-237844" lvl="1">
              <a:lnSpc>
                <a:spcPts val="2577"/>
              </a:lnSpc>
              <a:buFont typeface="Arial"/>
              <a:buChar char="•"/>
            </a:pPr>
            <a:r>
              <a:rPr lang="en-US" b="true" sz="2203">
                <a:solidFill>
                  <a:srgbClr val="05060B"/>
                </a:solidFill>
                <a:latin typeface="Canva Sans Bold"/>
                <a:ea typeface="Canva Sans Bold"/>
                <a:cs typeface="Canva Sans Bold"/>
                <a:sym typeface="Canva Sans Bold"/>
              </a:rPr>
              <a:t>Successful landings</a:t>
            </a:r>
            <a:r>
              <a:rPr lang="en-US" sz="2203">
                <a:solidFill>
                  <a:srgbClr val="05060B"/>
                </a:solidFill>
                <a:latin typeface="Canva Sans"/>
                <a:ea typeface="Canva Sans"/>
                <a:cs typeface="Canva Sans"/>
                <a:sym typeface="Canva Sans"/>
              </a:rPr>
              <a:t> generally appear starting from </a:t>
            </a:r>
            <a:r>
              <a:rPr lang="en-US" b="true" sz="2203">
                <a:solidFill>
                  <a:srgbClr val="05060B"/>
                </a:solidFill>
                <a:latin typeface="Canva Sans Bold"/>
                <a:ea typeface="Canva Sans Bold"/>
                <a:cs typeface="Canva Sans Bold"/>
                <a:sym typeface="Canva Sans Bold"/>
              </a:rPr>
              <a:t>2014</a:t>
            </a:r>
            <a:r>
              <a:rPr lang="en-US" sz="2203">
                <a:solidFill>
                  <a:srgbClr val="05060B"/>
                </a:solidFill>
                <a:latin typeface="Canva Sans"/>
                <a:ea typeface="Canva Sans"/>
                <a:cs typeface="Canva Sans"/>
                <a:sym typeface="Canva Sans"/>
              </a:rPr>
              <a:t> as also indicated by the </a:t>
            </a:r>
            <a:r>
              <a:rPr lang="en-US" b="true" sz="2203">
                <a:solidFill>
                  <a:srgbClr val="05060B"/>
                </a:solidFill>
                <a:latin typeface="Canva Sans Bold"/>
                <a:ea typeface="Canva Sans Bold"/>
                <a:cs typeface="Canva Sans Bold"/>
                <a:sym typeface="Canva Sans Bold"/>
              </a:rPr>
              <a:t>launch success vs year line graph</a:t>
            </a:r>
            <a:r>
              <a:rPr lang="en-US" sz="2203">
                <a:solidFill>
                  <a:srgbClr val="05060B"/>
                </a:solidFill>
                <a:latin typeface="Canva Sans"/>
                <a:ea typeface="Canva Sans"/>
                <a:cs typeface="Canva Sans"/>
                <a:sym typeface="Canva Sans"/>
              </a:rPr>
              <a:t>.</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47291" y="4857006"/>
            <a:ext cx="2455545" cy="3029826"/>
          </a:xfrm>
          <a:custGeom>
            <a:avLst/>
            <a:gdLst/>
            <a:ahLst/>
            <a:cxnLst/>
            <a:rect r="r" b="b" t="t" l="l"/>
            <a:pathLst>
              <a:path h="3029826" w="2455545">
                <a:moveTo>
                  <a:pt x="0" y="0"/>
                </a:moveTo>
                <a:lnTo>
                  <a:pt x="2455545" y="0"/>
                </a:lnTo>
                <a:lnTo>
                  <a:pt x="2455545" y="3029826"/>
                </a:lnTo>
                <a:lnTo>
                  <a:pt x="0" y="3029826"/>
                </a:lnTo>
                <a:lnTo>
                  <a:pt x="0" y="0"/>
                </a:lnTo>
                <a:close/>
              </a:path>
            </a:pathLst>
          </a:custGeom>
          <a:blipFill>
            <a:blip r:embed="rId2"/>
            <a:stretch>
              <a:fillRect l="0" t="0" r="0" b="0"/>
            </a:stretch>
          </a:blipFill>
        </p:spPr>
      </p:sp>
      <p:sp>
        <p:nvSpPr>
          <p:cNvPr name="Freeform 3" id="3"/>
          <p:cNvSpPr/>
          <p:nvPr/>
        </p:nvSpPr>
        <p:spPr>
          <a:xfrm flipH="false" flipV="false" rot="0">
            <a:off x="12782531" y="2934268"/>
            <a:ext cx="8229600" cy="8229600"/>
          </a:xfrm>
          <a:custGeom>
            <a:avLst/>
            <a:gdLst/>
            <a:ahLst/>
            <a:cxnLst/>
            <a:rect r="r" b="b" t="t" l="l"/>
            <a:pathLst>
              <a:path h="8229600" w="8229600">
                <a:moveTo>
                  <a:pt x="0" y="0"/>
                </a:moveTo>
                <a:lnTo>
                  <a:pt x="8229600" y="0"/>
                </a:lnTo>
                <a:lnTo>
                  <a:pt x="8229600" y="8229600"/>
                </a:lnTo>
                <a:lnTo>
                  <a:pt x="0" y="8229600"/>
                </a:lnTo>
                <a:lnTo>
                  <a:pt x="0" y="0"/>
                </a:lnTo>
                <a:close/>
              </a:path>
            </a:pathLst>
          </a:custGeom>
          <a:blipFill>
            <a:blip r:embed="rId3"/>
            <a:stretch>
              <a:fillRect l="0" t="0" r="0" b="0"/>
            </a:stretch>
          </a:blipFill>
        </p:spPr>
      </p:sp>
      <p:sp>
        <p:nvSpPr>
          <p:cNvPr name="Freeform 4" id="4"/>
          <p:cNvSpPr/>
          <p:nvPr/>
        </p:nvSpPr>
        <p:spPr>
          <a:xfrm flipH="false" flipV="false" rot="0">
            <a:off x="547291" y="3025105"/>
            <a:ext cx="10699722" cy="635457"/>
          </a:xfrm>
          <a:custGeom>
            <a:avLst/>
            <a:gdLst/>
            <a:ahLst/>
            <a:cxnLst/>
            <a:rect r="r" b="b" t="t" l="l"/>
            <a:pathLst>
              <a:path h="635457" w="10699722">
                <a:moveTo>
                  <a:pt x="0" y="0"/>
                </a:moveTo>
                <a:lnTo>
                  <a:pt x="10699721" y="0"/>
                </a:lnTo>
                <a:lnTo>
                  <a:pt x="10699721" y="635457"/>
                </a:lnTo>
                <a:lnTo>
                  <a:pt x="0" y="635457"/>
                </a:lnTo>
                <a:lnTo>
                  <a:pt x="0" y="0"/>
                </a:lnTo>
                <a:close/>
              </a:path>
            </a:pathLst>
          </a:custGeom>
          <a:blipFill>
            <a:blip r:embed="rId4"/>
            <a:stretch>
              <a:fillRect l="0" t="0" r="0" b="0"/>
            </a:stretch>
          </a:blipFill>
        </p:spPr>
      </p:sp>
      <p:sp>
        <p:nvSpPr>
          <p:cNvPr name="Freeform 5" id="5"/>
          <p:cNvSpPr/>
          <p:nvPr/>
        </p:nvSpPr>
        <p:spPr>
          <a:xfrm flipH="false" flipV="false" rot="0">
            <a:off x="547291" y="3865696"/>
            <a:ext cx="10822563" cy="593017"/>
          </a:xfrm>
          <a:custGeom>
            <a:avLst/>
            <a:gdLst/>
            <a:ahLst/>
            <a:cxnLst/>
            <a:rect r="r" b="b" t="t" l="l"/>
            <a:pathLst>
              <a:path h="593017" w="10822563">
                <a:moveTo>
                  <a:pt x="0" y="0"/>
                </a:moveTo>
                <a:lnTo>
                  <a:pt x="10822563" y="0"/>
                </a:lnTo>
                <a:lnTo>
                  <a:pt x="10822563" y="593017"/>
                </a:lnTo>
                <a:lnTo>
                  <a:pt x="0" y="593017"/>
                </a:lnTo>
                <a:lnTo>
                  <a:pt x="0" y="0"/>
                </a:lnTo>
                <a:close/>
              </a:path>
            </a:pathLst>
          </a:custGeom>
          <a:blipFill>
            <a:blip r:embed="rId5"/>
            <a:stretch>
              <a:fillRect l="0" t="0" r="0" b="0"/>
            </a:stretch>
          </a:blipFill>
        </p:spPr>
      </p:sp>
      <p:sp>
        <p:nvSpPr>
          <p:cNvPr name="TextBox 6" id="6"/>
          <p:cNvSpPr txBox="true"/>
          <p:nvPr/>
        </p:nvSpPr>
        <p:spPr>
          <a:xfrm rot="0">
            <a:off x="433707" y="9599186"/>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5060B"/>
                </a:solidFill>
                <a:latin typeface="Canva Sans"/>
                <a:ea typeface="Canva Sans"/>
                <a:cs typeface="Canva Sans"/>
                <a:sym typeface="Canva Sans"/>
              </a:rPr>
              <a:t>Page 29</a:t>
            </a:r>
          </a:p>
        </p:txBody>
      </p:sp>
      <p:sp>
        <p:nvSpPr>
          <p:cNvPr name="TextBox 7" id="7"/>
          <p:cNvSpPr txBox="true"/>
          <p:nvPr/>
        </p:nvSpPr>
        <p:spPr>
          <a:xfrm rot="0">
            <a:off x="547291" y="1061686"/>
            <a:ext cx="14390392" cy="1801494"/>
          </a:xfrm>
          <a:prstGeom prst="rect">
            <a:avLst/>
          </a:prstGeom>
        </p:spPr>
        <p:txBody>
          <a:bodyPr anchor="t" rtlCol="false" tIns="0" lIns="0" bIns="0" rIns="0">
            <a:spAutoFit/>
          </a:bodyPr>
          <a:lstStyle/>
          <a:p>
            <a:pPr algn="l">
              <a:lnSpc>
                <a:spcPts val="7280"/>
              </a:lnSpc>
              <a:spcBef>
                <a:spcPct val="0"/>
              </a:spcBef>
            </a:pPr>
            <a:r>
              <a:rPr lang="en-US" sz="5200">
                <a:solidFill>
                  <a:srgbClr val="05060B"/>
                </a:solidFill>
                <a:latin typeface="Anton"/>
                <a:ea typeface="Anton"/>
                <a:cs typeface="Anton"/>
                <a:sym typeface="Anton"/>
              </a:rPr>
              <a:t>SUCCESSFUL DRONE SHIP LANDING WITH PAYLOAD BETWEEN 4000 AND 6000</a:t>
            </a:r>
          </a:p>
        </p:txBody>
      </p:sp>
      <p:sp>
        <p:nvSpPr>
          <p:cNvPr name="TextBox 8" id="8"/>
          <p:cNvSpPr txBox="true"/>
          <p:nvPr/>
        </p:nvSpPr>
        <p:spPr>
          <a:xfrm rot="0">
            <a:off x="547291" y="401197"/>
            <a:ext cx="2717135" cy="580388"/>
          </a:xfrm>
          <a:prstGeom prst="rect">
            <a:avLst/>
          </a:prstGeom>
        </p:spPr>
        <p:txBody>
          <a:bodyPr anchor="t" rtlCol="false" tIns="0" lIns="0" bIns="0" rIns="0">
            <a:spAutoFit/>
          </a:bodyPr>
          <a:lstStyle/>
          <a:p>
            <a:pPr algn="l">
              <a:lnSpc>
                <a:spcPts val="4760"/>
              </a:lnSpc>
              <a:spcBef>
                <a:spcPct val="0"/>
              </a:spcBef>
            </a:pPr>
            <a:r>
              <a:rPr lang="en-US" sz="3400">
                <a:solidFill>
                  <a:srgbClr val="05060B"/>
                </a:solidFill>
                <a:latin typeface="Anton"/>
                <a:ea typeface="Anton"/>
                <a:cs typeface="Anton"/>
                <a:sym typeface="Anton"/>
              </a:rPr>
              <a:t>SQL</a:t>
            </a:r>
          </a:p>
        </p:txBody>
      </p:sp>
      <p:sp>
        <p:nvSpPr>
          <p:cNvPr name="TextBox 9" id="9"/>
          <p:cNvSpPr txBox="true"/>
          <p:nvPr/>
        </p:nvSpPr>
        <p:spPr>
          <a:xfrm rot="0">
            <a:off x="4347986" y="5729547"/>
            <a:ext cx="6391008" cy="970419"/>
          </a:xfrm>
          <a:prstGeom prst="rect">
            <a:avLst/>
          </a:prstGeom>
        </p:spPr>
        <p:txBody>
          <a:bodyPr anchor="t" rtlCol="false" tIns="0" lIns="0" bIns="0" rIns="0">
            <a:spAutoFit/>
          </a:bodyPr>
          <a:lstStyle/>
          <a:p>
            <a:pPr algn="l" marL="475687" indent="-237844" lvl="1">
              <a:lnSpc>
                <a:spcPts val="2577"/>
              </a:lnSpc>
              <a:buFont typeface="Arial"/>
              <a:buChar char="•"/>
            </a:pPr>
            <a:r>
              <a:rPr lang="en-US" b="true" sz="2203">
                <a:solidFill>
                  <a:srgbClr val="05060B"/>
                </a:solidFill>
                <a:latin typeface="Canva Sans Bold"/>
                <a:ea typeface="Canva Sans Bold"/>
                <a:cs typeface="Canva Sans Bold"/>
                <a:sym typeface="Canva Sans Bold"/>
              </a:rPr>
              <a:t>Four booster versions that had successful drone ship landings and a payload mass between 4000 and 6000.</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87143" y="3408211"/>
            <a:ext cx="5154564" cy="2948255"/>
          </a:xfrm>
          <a:custGeom>
            <a:avLst/>
            <a:gdLst/>
            <a:ahLst/>
            <a:cxnLst/>
            <a:rect r="r" b="b" t="t" l="l"/>
            <a:pathLst>
              <a:path h="2948255" w="5154564">
                <a:moveTo>
                  <a:pt x="0" y="0"/>
                </a:moveTo>
                <a:lnTo>
                  <a:pt x="5154565" y="0"/>
                </a:lnTo>
                <a:lnTo>
                  <a:pt x="5154565" y="2948255"/>
                </a:lnTo>
                <a:lnTo>
                  <a:pt x="0" y="2948255"/>
                </a:lnTo>
                <a:lnTo>
                  <a:pt x="0" y="0"/>
                </a:lnTo>
                <a:close/>
              </a:path>
            </a:pathLst>
          </a:custGeom>
          <a:blipFill>
            <a:blip r:embed="rId2"/>
            <a:stretch>
              <a:fillRect l="0" t="0" r="0" b="0"/>
            </a:stretch>
          </a:blipFill>
        </p:spPr>
      </p:sp>
      <p:sp>
        <p:nvSpPr>
          <p:cNvPr name="Freeform 3" id="3"/>
          <p:cNvSpPr/>
          <p:nvPr/>
        </p:nvSpPr>
        <p:spPr>
          <a:xfrm flipH="false" flipV="false" rot="0">
            <a:off x="12782531" y="2934268"/>
            <a:ext cx="8229600" cy="8229600"/>
          </a:xfrm>
          <a:custGeom>
            <a:avLst/>
            <a:gdLst/>
            <a:ahLst/>
            <a:cxnLst/>
            <a:rect r="r" b="b" t="t" l="l"/>
            <a:pathLst>
              <a:path h="8229600" w="8229600">
                <a:moveTo>
                  <a:pt x="0" y="0"/>
                </a:moveTo>
                <a:lnTo>
                  <a:pt x="8229600" y="0"/>
                </a:lnTo>
                <a:lnTo>
                  <a:pt x="8229600" y="8229600"/>
                </a:lnTo>
                <a:lnTo>
                  <a:pt x="0" y="8229600"/>
                </a:lnTo>
                <a:lnTo>
                  <a:pt x="0" y="0"/>
                </a:lnTo>
                <a:close/>
              </a:path>
            </a:pathLst>
          </a:custGeom>
          <a:blipFill>
            <a:blip r:embed="rId3"/>
            <a:stretch>
              <a:fillRect l="0" t="0" r="0" b="0"/>
            </a:stretch>
          </a:blipFill>
        </p:spPr>
      </p:sp>
      <p:sp>
        <p:nvSpPr>
          <p:cNvPr name="Freeform 4" id="4"/>
          <p:cNvSpPr/>
          <p:nvPr/>
        </p:nvSpPr>
        <p:spPr>
          <a:xfrm flipH="false" flipV="false" rot="0">
            <a:off x="547291" y="2376745"/>
            <a:ext cx="11301259" cy="593316"/>
          </a:xfrm>
          <a:custGeom>
            <a:avLst/>
            <a:gdLst/>
            <a:ahLst/>
            <a:cxnLst/>
            <a:rect r="r" b="b" t="t" l="l"/>
            <a:pathLst>
              <a:path h="593316" w="11301259">
                <a:moveTo>
                  <a:pt x="0" y="0"/>
                </a:moveTo>
                <a:lnTo>
                  <a:pt x="11301259" y="0"/>
                </a:lnTo>
                <a:lnTo>
                  <a:pt x="11301259" y="593316"/>
                </a:lnTo>
                <a:lnTo>
                  <a:pt x="0" y="593316"/>
                </a:lnTo>
                <a:lnTo>
                  <a:pt x="0" y="0"/>
                </a:lnTo>
                <a:close/>
              </a:path>
            </a:pathLst>
          </a:custGeom>
          <a:blipFill>
            <a:blip r:embed="rId4"/>
            <a:stretch>
              <a:fillRect l="0" t="0" r="0" b="0"/>
            </a:stretch>
          </a:blipFill>
        </p:spPr>
      </p:sp>
      <p:sp>
        <p:nvSpPr>
          <p:cNvPr name="TextBox 5" id="5"/>
          <p:cNvSpPr txBox="true"/>
          <p:nvPr/>
        </p:nvSpPr>
        <p:spPr>
          <a:xfrm rot="0">
            <a:off x="433707" y="9599186"/>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5060B"/>
                </a:solidFill>
                <a:latin typeface="Canva Sans"/>
                <a:ea typeface="Canva Sans"/>
                <a:cs typeface="Canva Sans"/>
                <a:sym typeface="Canva Sans"/>
              </a:rPr>
              <a:t>Page 30</a:t>
            </a:r>
          </a:p>
        </p:txBody>
      </p:sp>
      <p:sp>
        <p:nvSpPr>
          <p:cNvPr name="TextBox 6" id="6"/>
          <p:cNvSpPr txBox="true"/>
          <p:nvPr/>
        </p:nvSpPr>
        <p:spPr>
          <a:xfrm rot="0">
            <a:off x="547291" y="1061686"/>
            <a:ext cx="16839701" cy="877569"/>
          </a:xfrm>
          <a:prstGeom prst="rect">
            <a:avLst/>
          </a:prstGeom>
        </p:spPr>
        <p:txBody>
          <a:bodyPr anchor="t" rtlCol="false" tIns="0" lIns="0" bIns="0" rIns="0">
            <a:spAutoFit/>
          </a:bodyPr>
          <a:lstStyle/>
          <a:p>
            <a:pPr algn="l">
              <a:lnSpc>
                <a:spcPts val="7280"/>
              </a:lnSpc>
              <a:spcBef>
                <a:spcPct val="0"/>
              </a:spcBef>
            </a:pPr>
            <a:r>
              <a:rPr lang="en-US" sz="5200">
                <a:solidFill>
                  <a:srgbClr val="05060B"/>
                </a:solidFill>
                <a:latin typeface="Anton"/>
                <a:ea typeface="Anton"/>
                <a:cs typeface="Anton"/>
                <a:sym typeface="Anton"/>
              </a:rPr>
              <a:t>TOTAL NUMBER OF EACH MISSION OUTCOME (SUCCESS &amp; FAILURE)</a:t>
            </a:r>
          </a:p>
        </p:txBody>
      </p:sp>
      <p:sp>
        <p:nvSpPr>
          <p:cNvPr name="TextBox 7" id="7"/>
          <p:cNvSpPr txBox="true"/>
          <p:nvPr/>
        </p:nvSpPr>
        <p:spPr>
          <a:xfrm rot="0">
            <a:off x="547291" y="401197"/>
            <a:ext cx="2717135" cy="580388"/>
          </a:xfrm>
          <a:prstGeom prst="rect">
            <a:avLst/>
          </a:prstGeom>
        </p:spPr>
        <p:txBody>
          <a:bodyPr anchor="t" rtlCol="false" tIns="0" lIns="0" bIns="0" rIns="0">
            <a:spAutoFit/>
          </a:bodyPr>
          <a:lstStyle/>
          <a:p>
            <a:pPr algn="l">
              <a:lnSpc>
                <a:spcPts val="4760"/>
              </a:lnSpc>
              <a:spcBef>
                <a:spcPct val="0"/>
              </a:spcBef>
            </a:pPr>
            <a:r>
              <a:rPr lang="en-US" sz="3400">
                <a:solidFill>
                  <a:srgbClr val="05060B"/>
                </a:solidFill>
                <a:latin typeface="Anton"/>
                <a:ea typeface="Anton"/>
                <a:cs typeface="Anton"/>
                <a:sym typeface="Anton"/>
              </a:rPr>
              <a:t>SQL</a:t>
            </a:r>
          </a:p>
        </p:txBody>
      </p:sp>
      <p:sp>
        <p:nvSpPr>
          <p:cNvPr name="TextBox 8" id="8"/>
          <p:cNvSpPr txBox="true"/>
          <p:nvPr/>
        </p:nvSpPr>
        <p:spPr>
          <a:xfrm rot="0">
            <a:off x="6569392" y="4401891"/>
            <a:ext cx="6391008" cy="970419"/>
          </a:xfrm>
          <a:prstGeom prst="rect">
            <a:avLst/>
          </a:prstGeom>
        </p:spPr>
        <p:txBody>
          <a:bodyPr anchor="t" rtlCol="false" tIns="0" lIns="0" bIns="0" rIns="0">
            <a:spAutoFit/>
          </a:bodyPr>
          <a:lstStyle/>
          <a:p>
            <a:pPr algn="l" marL="475687" indent="-237844" lvl="1">
              <a:lnSpc>
                <a:spcPts val="2577"/>
              </a:lnSpc>
              <a:buFont typeface="Arial"/>
              <a:buChar char="•"/>
            </a:pPr>
            <a:r>
              <a:rPr lang="en-US" sz="2203">
                <a:solidFill>
                  <a:srgbClr val="05060B"/>
                </a:solidFill>
                <a:latin typeface="Canva Sans"/>
                <a:ea typeface="Canva Sans"/>
                <a:cs typeface="Canva Sans"/>
                <a:sym typeface="Canva Sans"/>
              </a:rPr>
              <a:t>99 Success</a:t>
            </a:r>
          </a:p>
          <a:p>
            <a:pPr algn="l" marL="475687" indent="-237844" lvl="1">
              <a:lnSpc>
                <a:spcPts val="2577"/>
              </a:lnSpc>
              <a:buFont typeface="Arial"/>
              <a:buChar char="•"/>
            </a:pPr>
            <a:r>
              <a:rPr lang="en-US" sz="2203">
                <a:solidFill>
                  <a:srgbClr val="05060B"/>
                </a:solidFill>
                <a:latin typeface="Canva Sans"/>
                <a:ea typeface="Canva Sans"/>
                <a:cs typeface="Canva Sans"/>
                <a:sym typeface="Canva Sans"/>
              </a:rPr>
              <a:t>1 Failure</a:t>
            </a:r>
          </a:p>
          <a:p>
            <a:pPr algn="l" marL="475687" indent="-237844" lvl="1">
              <a:lnSpc>
                <a:spcPts val="2577"/>
              </a:lnSpc>
              <a:buFont typeface="Arial"/>
              <a:buChar char="•"/>
            </a:pPr>
            <a:r>
              <a:rPr lang="en-US" sz="2203">
                <a:solidFill>
                  <a:srgbClr val="05060B"/>
                </a:solidFill>
                <a:latin typeface="Canva Sans"/>
                <a:ea typeface="Canva Sans"/>
                <a:cs typeface="Canva Sans"/>
                <a:sym typeface="Canva Sans"/>
              </a:rPr>
              <a:t>1 Success (payload status unclear)</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47291" y="3221907"/>
            <a:ext cx="4247675" cy="6137266"/>
          </a:xfrm>
          <a:custGeom>
            <a:avLst/>
            <a:gdLst/>
            <a:ahLst/>
            <a:cxnLst/>
            <a:rect r="r" b="b" t="t" l="l"/>
            <a:pathLst>
              <a:path h="6137266" w="4247675">
                <a:moveTo>
                  <a:pt x="0" y="0"/>
                </a:moveTo>
                <a:lnTo>
                  <a:pt x="4247675" y="0"/>
                </a:lnTo>
                <a:lnTo>
                  <a:pt x="4247675" y="6137266"/>
                </a:lnTo>
                <a:lnTo>
                  <a:pt x="0" y="6137266"/>
                </a:lnTo>
                <a:lnTo>
                  <a:pt x="0" y="0"/>
                </a:lnTo>
                <a:close/>
              </a:path>
            </a:pathLst>
          </a:custGeom>
          <a:blipFill>
            <a:blip r:embed="rId2"/>
            <a:stretch>
              <a:fillRect l="0" t="0" r="0" b="0"/>
            </a:stretch>
          </a:blipFill>
        </p:spPr>
      </p:sp>
      <p:sp>
        <p:nvSpPr>
          <p:cNvPr name="Freeform 3" id="3"/>
          <p:cNvSpPr/>
          <p:nvPr/>
        </p:nvSpPr>
        <p:spPr>
          <a:xfrm flipH="false" flipV="false" rot="0">
            <a:off x="12782531" y="2934268"/>
            <a:ext cx="8229600" cy="8229600"/>
          </a:xfrm>
          <a:custGeom>
            <a:avLst/>
            <a:gdLst/>
            <a:ahLst/>
            <a:cxnLst/>
            <a:rect r="r" b="b" t="t" l="l"/>
            <a:pathLst>
              <a:path h="8229600" w="8229600">
                <a:moveTo>
                  <a:pt x="0" y="0"/>
                </a:moveTo>
                <a:lnTo>
                  <a:pt x="8229600" y="0"/>
                </a:lnTo>
                <a:lnTo>
                  <a:pt x="8229600" y="8229600"/>
                </a:lnTo>
                <a:lnTo>
                  <a:pt x="0" y="8229600"/>
                </a:lnTo>
                <a:lnTo>
                  <a:pt x="0" y="0"/>
                </a:lnTo>
                <a:close/>
              </a:path>
            </a:pathLst>
          </a:custGeom>
          <a:blipFill>
            <a:blip r:embed="rId3"/>
            <a:stretch>
              <a:fillRect l="0" t="0" r="0" b="0"/>
            </a:stretch>
          </a:blipFill>
        </p:spPr>
      </p:sp>
      <p:sp>
        <p:nvSpPr>
          <p:cNvPr name="Freeform 4" id="4"/>
          <p:cNvSpPr/>
          <p:nvPr/>
        </p:nvSpPr>
        <p:spPr>
          <a:xfrm flipH="false" flipV="false" rot="0">
            <a:off x="547291" y="2086674"/>
            <a:ext cx="11301259" cy="847594"/>
          </a:xfrm>
          <a:custGeom>
            <a:avLst/>
            <a:gdLst/>
            <a:ahLst/>
            <a:cxnLst/>
            <a:rect r="r" b="b" t="t" l="l"/>
            <a:pathLst>
              <a:path h="847594" w="11301259">
                <a:moveTo>
                  <a:pt x="0" y="0"/>
                </a:moveTo>
                <a:lnTo>
                  <a:pt x="11301259" y="0"/>
                </a:lnTo>
                <a:lnTo>
                  <a:pt x="11301259" y="847594"/>
                </a:lnTo>
                <a:lnTo>
                  <a:pt x="0" y="847594"/>
                </a:lnTo>
                <a:lnTo>
                  <a:pt x="0" y="0"/>
                </a:lnTo>
                <a:close/>
              </a:path>
            </a:pathLst>
          </a:custGeom>
          <a:blipFill>
            <a:blip r:embed="rId4"/>
            <a:stretch>
              <a:fillRect l="0" t="0" r="0" b="0"/>
            </a:stretch>
          </a:blipFill>
        </p:spPr>
      </p:sp>
      <p:sp>
        <p:nvSpPr>
          <p:cNvPr name="Freeform 5" id="5"/>
          <p:cNvSpPr/>
          <p:nvPr/>
        </p:nvSpPr>
        <p:spPr>
          <a:xfrm flipH="false" flipV="false" rot="0">
            <a:off x="11848550" y="2618499"/>
            <a:ext cx="1684103" cy="315769"/>
          </a:xfrm>
          <a:custGeom>
            <a:avLst/>
            <a:gdLst/>
            <a:ahLst/>
            <a:cxnLst/>
            <a:rect r="r" b="b" t="t" l="l"/>
            <a:pathLst>
              <a:path h="315769" w="1684103">
                <a:moveTo>
                  <a:pt x="0" y="0"/>
                </a:moveTo>
                <a:lnTo>
                  <a:pt x="1684102" y="0"/>
                </a:lnTo>
                <a:lnTo>
                  <a:pt x="1684102" y="315769"/>
                </a:lnTo>
                <a:lnTo>
                  <a:pt x="0" y="315769"/>
                </a:lnTo>
                <a:lnTo>
                  <a:pt x="0" y="0"/>
                </a:lnTo>
                <a:close/>
              </a:path>
            </a:pathLst>
          </a:custGeom>
          <a:blipFill>
            <a:blip r:embed="rId5"/>
            <a:stretch>
              <a:fillRect l="0" t="0" r="0" b="0"/>
            </a:stretch>
          </a:blipFill>
        </p:spPr>
      </p:sp>
      <p:sp>
        <p:nvSpPr>
          <p:cNvPr name="TextBox 6" id="6"/>
          <p:cNvSpPr txBox="true"/>
          <p:nvPr/>
        </p:nvSpPr>
        <p:spPr>
          <a:xfrm rot="0">
            <a:off x="433707" y="9599186"/>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5060B"/>
                </a:solidFill>
                <a:latin typeface="Canva Sans"/>
                <a:ea typeface="Canva Sans"/>
                <a:cs typeface="Canva Sans"/>
                <a:sym typeface="Canva Sans"/>
              </a:rPr>
              <a:t>Page 31</a:t>
            </a:r>
          </a:p>
        </p:txBody>
      </p:sp>
      <p:sp>
        <p:nvSpPr>
          <p:cNvPr name="TextBox 7" id="7"/>
          <p:cNvSpPr txBox="true"/>
          <p:nvPr/>
        </p:nvSpPr>
        <p:spPr>
          <a:xfrm rot="0">
            <a:off x="547291" y="1061686"/>
            <a:ext cx="14390392" cy="877569"/>
          </a:xfrm>
          <a:prstGeom prst="rect">
            <a:avLst/>
          </a:prstGeom>
        </p:spPr>
        <p:txBody>
          <a:bodyPr anchor="t" rtlCol="false" tIns="0" lIns="0" bIns="0" rIns="0">
            <a:spAutoFit/>
          </a:bodyPr>
          <a:lstStyle/>
          <a:p>
            <a:pPr algn="l">
              <a:lnSpc>
                <a:spcPts val="7280"/>
              </a:lnSpc>
              <a:spcBef>
                <a:spcPct val="0"/>
              </a:spcBef>
            </a:pPr>
            <a:r>
              <a:rPr lang="en-US" sz="5200">
                <a:solidFill>
                  <a:srgbClr val="05060B"/>
                </a:solidFill>
                <a:latin typeface="Anton"/>
                <a:ea typeface="Anton"/>
                <a:cs typeface="Anton"/>
                <a:sym typeface="Anton"/>
              </a:rPr>
              <a:t>BOOSTERS THAT CARRIED MAXIMUM PAYLOAD</a:t>
            </a:r>
          </a:p>
        </p:txBody>
      </p:sp>
      <p:sp>
        <p:nvSpPr>
          <p:cNvPr name="TextBox 8" id="8"/>
          <p:cNvSpPr txBox="true"/>
          <p:nvPr/>
        </p:nvSpPr>
        <p:spPr>
          <a:xfrm rot="0">
            <a:off x="547291" y="401197"/>
            <a:ext cx="2717135" cy="580388"/>
          </a:xfrm>
          <a:prstGeom prst="rect">
            <a:avLst/>
          </a:prstGeom>
        </p:spPr>
        <p:txBody>
          <a:bodyPr anchor="t" rtlCol="false" tIns="0" lIns="0" bIns="0" rIns="0">
            <a:spAutoFit/>
          </a:bodyPr>
          <a:lstStyle/>
          <a:p>
            <a:pPr algn="l">
              <a:lnSpc>
                <a:spcPts val="4760"/>
              </a:lnSpc>
              <a:spcBef>
                <a:spcPct val="0"/>
              </a:spcBef>
            </a:pPr>
            <a:r>
              <a:rPr lang="en-US" sz="3400">
                <a:solidFill>
                  <a:srgbClr val="05060B"/>
                </a:solidFill>
                <a:latin typeface="Anton"/>
                <a:ea typeface="Anton"/>
                <a:cs typeface="Anton"/>
                <a:sym typeface="Anton"/>
              </a:rPr>
              <a:t>SQL</a:t>
            </a:r>
          </a:p>
        </p:txBody>
      </p:sp>
      <p:sp>
        <p:nvSpPr>
          <p:cNvPr name="TextBox 9" id="9"/>
          <p:cNvSpPr txBox="true"/>
          <p:nvPr/>
        </p:nvSpPr>
        <p:spPr>
          <a:xfrm rot="0">
            <a:off x="5457542" y="5153025"/>
            <a:ext cx="6391008" cy="1941969"/>
          </a:xfrm>
          <a:prstGeom prst="rect">
            <a:avLst/>
          </a:prstGeom>
        </p:spPr>
        <p:txBody>
          <a:bodyPr anchor="t" rtlCol="false" tIns="0" lIns="0" bIns="0" rIns="0">
            <a:spAutoFit/>
          </a:bodyPr>
          <a:lstStyle/>
          <a:p>
            <a:pPr algn="l" marL="475687" indent="-237844" lvl="1">
              <a:lnSpc>
                <a:spcPts val="2577"/>
              </a:lnSpc>
              <a:buFont typeface="Arial"/>
              <a:buChar char="•"/>
            </a:pPr>
            <a:r>
              <a:rPr lang="en-US" sz="2203">
                <a:solidFill>
                  <a:srgbClr val="05060B"/>
                </a:solidFill>
                <a:latin typeface="Canva Sans"/>
                <a:ea typeface="Canva Sans"/>
                <a:cs typeface="Canva Sans"/>
                <a:sym typeface="Canva Sans"/>
              </a:rPr>
              <a:t>Booster versions that carried the </a:t>
            </a:r>
            <a:r>
              <a:rPr lang="en-US" b="true" sz="2203">
                <a:solidFill>
                  <a:srgbClr val="05060B"/>
                </a:solidFill>
                <a:latin typeface="Canva Sans Bold"/>
                <a:ea typeface="Canva Sans Bold"/>
                <a:cs typeface="Canva Sans Bold"/>
                <a:sym typeface="Canva Sans Bold"/>
              </a:rPr>
              <a:t>highest payload mass of 15600kg</a:t>
            </a:r>
            <a:r>
              <a:rPr lang="en-US" sz="2203">
                <a:solidFill>
                  <a:srgbClr val="05060B"/>
                </a:solidFill>
                <a:latin typeface="Canva Sans"/>
                <a:ea typeface="Canva Sans"/>
                <a:cs typeface="Canva Sans"/>
                <a:sym typeface="Canva Sans"/>
              </a:rPr>
              <a:t>.</a:t>
            </a:r>
          </a:p>
          <a:p>
            <a:pPr algn="l" marL="475687" indent="-237844" lvl="1">
              <a:lnSpc>
                <a:spcPts val="2577"/>
              </a:lnSpc>
              <a:buFont typeface="Arial"/>
              <a:buChar char="•"/>
            </a:pPr>
            <a:r>
              <a:rPr lang="en-US" sz="2203">
                <a:solidFill>
                  <a:srgbClr val="05060B"/>
                </a:solidFill>
                <a:latin typeface="Canva Sans"/>
                <a:ea typeface="Canva Sans"/>
                <a:cs typeface="Canva Sans"/>
                <a:sym typeface="Canva Sans"/>
              </a:rPr>
              <a:t>All the boosters are of the </a:t>
            </a:r>
            <a:r>
              <a:rPr lang="en-US" b="true" sz="2203">
                <a:solidFill>
                  <a:srgbClr val="05060B"/>
                </a:solidFill>
                <a:latin typeface="Canva Sans Bold"/>
                <a:ea typeface="Canva Sans Bold"/>
                <a:cs typeface="Canva Sans Bold"/>
                <a:sym typeface="Canva Sans Bold"/>
              </a:rPr>
              <a:t>F9 B% B10xx.x</a:t>
            </a:r>
            <a:r>
              <a:rPr lang="en-US" sz="2203">
                <a:solidFill>
                  <a:srgbClr val="05060B"/>
                </a:solidFill>
                <a:latin typeface="Canva Sans"/>
                <a:ea typeface="Canva Sans"/>
                <a:cs typeface="Canva Sans"/>
                <a:sym typeface="Canva Sans"/>
              </a:rPr>
              <a:t> variety.</a:t>
            </a:r>
          </a:p>
          <a:p>
            <a:pPr algn="l" marL="475687" indent="-237844" lvl="1">
              <a:lnSpc>
                <a:spcPts val="2577"/>
              </a:lnSpc>
              <a:buFont typeface="Arial"/>
              <a:buChar char="•"/>
            </a:pPr>
            <a:r>
              <a:rPr lang="en-US" sz="2203">
                <a:solidFill>
                  <a:srgbClr val="05060B"/>
                </a:solidFill>
                <a:latin typeface="Canva Sans"/>
                <a:ea typeface="Canva Sans"/>
                <a:cs typeface="Canva Sans"/>
                <a:sym typeface="Canva Sans"/>
              </a:rPr>
              <a:t>This indicates that </a:t>
            </a:r>
            <a:r>
              <a:rPr lang="en-US" b="true" sz="2203">
                <a:solidFill>
                  <a:srgbClr val="05060B"/>
                </a:solidFill>
                <a:latin typeface="Canva Sans Bold"/>
                <a:ea typeface="Canva Sans Bold"/>
                <a:cs typeface="Canva Sans Bold"/>
                <a:sym typeface="Canva Sans Bold"/>
              </a:rPr>
              <a:t>payload mass correlates with the booster version</a:t>
            </a:r>
            <a:r>
              <a:rPr lang="en-US" sz="2203">
                <a:solidFill>
                  <a:srgbClr val="05060B"/>
                </a:solidFill>
                <a:latin typeface="Canva Sans"/>
                <a:ea typeface="Canva Sans"/>
                <a:cs typeface="Canva Sans"/>
                <a:sym typeface="Canva Sans"/>
              </a:rPr>
              <a:t> that is used.</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637426" y="2124821"/>
            <a:ext cx="8069193" cy="1843217"/>
          </a:xfrm>
          <a:custGeom>
            <a:avLst/>
            <a:gdLst/>
            <a:ahLst/>
            <a:cxnLst/>
            <a:rect r="r" b="b" t="t" l="l"/>
            <a:pathLst>
              <a:path h="1843217" w="8069193">
                <a:moveTo>
                  <a:pt x="0" y="0"/>
                </a:moveTo>
                <a:lnTo>
                  <a:pt x="8069193" y="0"/>
                </a:lnTo>
                <a:lnTo>
                  <a:pt x="8069193" y="1843217"/>
                </a:lnTo>
                <a:lnTo>
                  <a:pt x="0" y="1843217"/>
                </a:lnTo>
                <a:lnTo>
                  <a:pt x="0" y="0"/>
                </a:lnTo>
                <a:close/>
              </a:path>
            </a:pathLst>
          </a:custGeom>
          <a:blipFill>
            <a:blip r:embed="rId2"/>
            <a:stretch>
              <a:fillRect l="0" t="0" r="0" b="0"/>
            </a:stretch>
          </a:blipFill>
        </p:spPr>
      </p:sp>
      <p:sp>
        <p:nvSpPr>
          <p:cNvPr name="Freeform 3" id="3"/>
          <p:cNvSpPr/>
          <p:nvPr/>
        </p:nvSpPr>
        <p:spPr>
          <a:xfrm flipH="false" flipV="false" rot="0">
            <a:off x="12782531" y="2934268"/>
            <a:ext cx="8229600" cy="8229600"/>
          </a:xfrm>
          <a:custGeom>
            <a:avLst/>
            <a:gdLst/>
            <a:ahLst/>
            <a:cxnLst/>
            <a:rect r="r" b="b" t="t" l="l"/>
            <a:pathLst>
              <a:path h="8229600" w="8229600">
                <a:moveTo>
                  <a:pt x="0" y="0"/>
                </a:moveTo>
                <a:lnTo>
                  <a:pt x="8229600" y="0"/>
                </a:lnTo>
                <a:lnTo>
                  <a:pt x="8229600" y="8229600"/>
                </a:lnTo>
                <a:lnTo>
                  <a:pt x="0" y="8229600"/>
                </a:lnTo>
                <a:lnTo>
                  <a:pt x="0" y="0"/>
                </a:lnTo>
                <a:close/>
              </a:path>
            </a:pathLst>
          </a:custGeom>
          <a:blipFill>
            <a:blip r:embed="rId3"/>
            <a:stretch>
              <a:fillRect l="0" t="0" r="0" b="0"/>
            </a:stretch>
          </a:blipFill>
        </p:spPr>
      </p:sp>
      <p:sp>
        <p:nvSpPr>
          <p:cNvPr name="Freeform 4" id="4"/>
          <p:cNvSpPr/>
          <p:nvPr/>
        </p:nvSpPr>
        <p:spPr>
          <a:xfrm flipH="false" flipV="false" rot="0">
            <a:off x="547291" y="2124821"/>
            <a:ext cx="5787238" cy="5512310"/>
          </a:xfrm>
          <a:custGeom>
            <a:avLst/>
            <a:gdLst/>
            <a:ahLst/>
            <a:cxnLst/>
            <a:rect r="r" b="b" t="t" l="l"/>
            <a:pathLst>
              <a:path h="5512310" w="5787238">
                <a:moveTo>
                  <a:pt x="0" y="0"/>
                </a:moveTo>
                <a:lnTo>
                  <a:pt x="5787238" y="0"/>
                </a:lnTo>
                <a:lnTo>
                  <a:pt x="5787238" y="5512310"/>
                </a:lnTo>
                <a:lnTo>
                  <a:pt x="0" y="5512310"/>
                </a:lnTo>
                <a:lnTo>
                  <a:pt x="0" y="0"/>
                </a:lnTo>
                <a:close/>
              </a:path>
            </a:pathLst>
          </a:custGeom>
          <a:blipFill>
            <a:blip r:embed="rId4"/>
            <a:stretch>
              <a:fillRect l="0" t="0" r="0" b="0"/>
            </a:stretch>
          </a:blipFill>
        </p:spPr>
      </p:sp>
      <p:sp>
        <p:nvSpPr>
          <p:cNvPr name="TextBox 5" id="5"/>
          <p:cNvSpPr txBox="true"/>
          <p:nvPr/>
        </p:nvSpPr>
        <p:spPr>
          <a:xfrm rot="0">
            <a:off x="433707" y="9599186"/>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5060B"/>
                </a:solidFill>
                <a:latin typeface="Canva Sans"/>
                <a:ea typeface="Canva Sans"/>
                <a:cs typeface="Canva Sans"/>
                <a:sym typeface="Canva Sans"/>
              </a:rPr>
              <a:t>Page 32</a:t>
            </a:r>
          </a:p>
        </p:txBody>
      </p:sp>
      <p:sp>
        <p:nvSpPr>
          <p:cNvPr name="TextBox 6" id="6"/>
          <p:cNvSpPr txBox="true"/>
          <p:nvPr/>
        </p:nvSpPr>
        <p:spPr>
          <a:xfrm rot="0">
            <a:off x="547291" y="942975"/>
            <a:ext cx="14390392" cy="877569"/>
          </a:xfrm>
          <a:prstGeom prst="rect">
            <a:avLst/>
          </a:prstGeom>
        </p:spPr>
        <p:txBody>
          <a:bodyPr anchor="t" rtlCol="false" tIns="0" lIns="0" bIns="0" rIns="0">
            <a:spAutoFit/>
          </a:bodyPr>
          <a:lstStyle/>
          <a:p>
            <a:pPr algn="l">
              <a:lnSpc>
                <a:spcPts val="7280"/>
              </a:lnSpc>
              <a:spcBef>
                <a:spcPct val="0"/>
              </a:spcBef>
            </a:pPr>
            <a:r>
              <a:rPr lang="en-US" sz="5200">
                <a:solidFill>
                  <a:srgbClr val="05060B"/>
                </a:solidFill>
                <a:latin typeface="Anton"/>
                <a:ea typeface="Anton"/>
                <a:cs typeface="Anton"/>
                <a:sym typeface="Anton"/>
              </a:rPr>
              <a:t>2015 FAILED DRONE SHIP LANDING RECORDS</a:t>
            </a:r>
          </a:p>
        </p:txBody>
      </p:sp>
      <p:sp>
        <p:nvSpPr>
          <p:cNvPr name="TextBox 7" id="7"/>
          <p:cNvSpPr txBox="true"/>
          <p:nvPr/>
        </p:nvSpPr>
        <p:spPr>
          <a:xfrm rot="0">
            <a:off x="547291" y="401197"/>
            <a:ext cx="2717135" cy="580388"/>
          </a:xfrm>
          <a:prstGeom prst="rect">
            <a:avLst/>
          </a:prstGeom>
        </p:spPr>
        <p:txBody>
          <a:bodyPr anchor="t" rtlCol="false" tIns="0" lIns="0" bIns="0" rIns="0">
            <a:spAutoFit/>
          </a:bodyPr>
          <a:lstStyle/>
          <a:p>
            <a:pPr algn="l">
              <a:lnSpc>
                <a:spcPts val="4760"/>
              </a:lnSpc>
              <a:spcBef>
                <a:spcPct val="0"/>
              </a:spcBef>
            </a:pPr>
            <a:r>
              <a:rPr lang="en-US" sz="3400">
                <a:solidFill>
                  <a:srgbClr val="05060B"/>
                </a:solidFill>
                <a:latin typeface="Anton"/>
                <a:ea typeface="Anton"/>
                <a:cs typeface="Anton"/>
                <a:sym typeface="Anton"/>
              </a:rPr>
              <a:t>SQL</a:t>
            </a:r>
          </a:p>
        </p:txBody>
      </p:sp>
      <p:sp>
        <p:nvSpPr>
          <p:cNvPr name="TextBox 8" id="8"/>
          <p:cNvSpPr txBox="true"/>
          <p:nvPr/>
        </p:nvSpPr>
        <p:spPr>
          <a:xfrm rot="0">
            <a:off x="6871435" y="4433653"/>
            <a:ext cx="6391008" cy="2265819"/>
          </a:xfrm>
          <a:prstGeom prst="rect">
            <a:avLst/>
          </a:prstGeom>
        </p:spPr>
        <p:txBody>
          <a:bodyPr anchor="t" rtlCol="false" tIns="0" lIns="0" bIns="0" rIns="0">
            <a:spAutoFit/>
          </a:bodyPr>
          <a:lstStyle/>
          <a:p>
            <a:pPr algn="l" marL="475687" indent="-237844" lvl="1">
              <a:lnSpc>
                <a:spcPts val="2577"/>
              </a:lnSpc>
              <a:buFont typeface="Arial"/>
              <a:buChar char="•"/>
            </a:pPr>
            <a:r>
              <a:rPr lang="en-US" b="true" sz="2203">
                <a:solidFill>
                  <a:srgbClr val="05060B"/>
                </a:solidFill>
                <a:latin typeface="Canva Sans Bold"/>
                <a:ea typeface="Canva Sans Bold"/>
                <a:cs typeface="Canva Sans Bold"/>
                <a:sym typeface="Canva Sans Bold"/>
              </a:rPr>
              <a:t>2 occurrences where stage 1 of the launch failed.</a:t>
            </a:r>
          </a:p>
          <a:p>
            <a:pPr algn="l" marL="475687" indent="-237844" lvl="1">
              <a:lnSpc>
                <a:spcPts val="2577"/>
              </a:lnSpc>
              <a:buFont typeface="Arial"/>
              <a:buChar char="•"/>
            </a:pPr>
            <a:r>
              <a:rPr lang="en-US" sz="2203">
                <a:solidFill>
                  <a:srgbClr val="05060B"/>
                </a:solidFill>
                <a:latin typeface="Canva Sans"/>
                <a:ea typeface="Canva Sans"/>
                <a:cs typeface="Canva Sans"/>
                <a:sym typeface="Canva Sans"/>
              </a:rPr>
              <a:t>Both are CCAFS LC-40 which is the 2nd most successful launch site.</a:t>
            </a:r>
          </a:p>
          <a:p>
            <a:pPr algn="l" marL="475687" indent="-237844" lvl="1">
              <a:lnSpc>
                <a:spcPts val="2577"/>
              </a:lnSpc>
              <a:buFont typeface="Arial"/>
              <a:buChar char="•"/>
            </a:pPr>
            <a:r>
              <a:rPr lang="en-US" sz="2203">
                <a:solidFill>
                  <a:srgbClr val="05060B"/>
                </a:solidFill>
                <a:latin typeface="Canva Sans"/>
                <a:ea typeface="Canva Sans"/>
                <a:cs typeface="Canva Sans"/>
                <a:sym typeface="Canva Sans"/>
              </a:rPr>
              <a:t>They </a:t>
            </a:r>
            <a:r>
              <a:rPr lang="en-US" b="true" sz="2203">
                <a:solidFill>
                  <a:srgbClr val="05060B"/>
                </a:solidFill>
                <a:latin typeface="Canva Sans Bold"/>
                <a:ea typeface="Canva Sans Bold"/>
                <a:cs typeface="Canva Sans Bold"/>
                <a:sym typeface="Canva Sans Bold"/>
              </a:rPr>
              <a:t>used the same booster version</a:t>
            </a:r>
            <a:r>
              <a:rPr lang="en-US" sz="2203">
                <a:solidFill>
                  <a:srgbClr val="05060B"/>
                </a:solidFill>
                <a:latin typeface="Canva Sans"/>
                <a:ea typeface="Canva Sans"/>
                <a:cs typeface="Canva Sans"/>
                <a:sym typeface="Canva Sans"/>
              </a:rPr>
              <a:t> but </a:t>
            </a:r>
            <a:r>
              <a:rPr lang="en-US" b="true" sz="2203">
                <a:solidFill>
                  <a:srgbClr val="05060B"/>
                </a:solidFill>
                <a:latin typeface="Canva Sans Bold"/>
                <a:ea typeface="Canva Sans Bold"/>
                <a:cs typeface="Canva Sans Bold"/>
                <a:sym typeface="Canva Sans Bold"/>
              </a:rPr>
              <a:t>earlier models</a:t>
            </a:r>
            <a:r>
              <a:rPr lang="en-US" sz="2203">
                <a:solidFill>
                  <a:srgbClr val="05060B"/>
                </a:solidFill>
                <a:latin typeface="Canva Sans"/>
                <a:ea typeface="Canva Sans"/>
                <a:cs typeface="Canva Sans"/>
                <a:sym typeface="Canva Sans"/>
              </a:rPr>
              <a:t>, this is </a:t>
            </a:r>
            <a:r>
              <a:rPr lang="en-US" b="true" sz="2203">
                <a:solidFill>
                  <a:srgbClr val="05060B"/>
                </a:solidFill>
                <a:latin typeface="Canva Sans Bold"/>
                <a:ea typeface="Canva Sans Bold"/>
                <a:cs typeface="Canva Sans Bold"/>
                <a:sym typeface="Canva Sans Bold"/>
              </a:rPr>
              <a:t>likely why they failed</a:t>
            </a:r>
            <a:r>
              <a:rPr lang="en-US" sz="2203">
                <a:solidFill>
                  <a:srgbClr val="05060B"/>
                </a:solidFill>
                <a:latin typeface="Canva Sans"/>
                <a:ea typeface="Canva Sans"/>
                <a:cs typeface="Canva Sans"/>
                <a:sym typeface="Canva Sans"/>
              </a:rPr>
              <a:t>.</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015214" y="2237084"/>
            <a:ext cx="4997932" cy="5152308"/>
          </a:xfrm>
          <a:custGeom>
            <a:avLst/>
            <a:gdLst/>
            <a:ahLst/>
            <a:cxnLst/>
            <a:rect r="r" b="b" t="t" l="l"/>
            <a:pathLst>
              <a:path h="5152308" w="4997932">
                <a:moveTo>
                  <a:pt x="0" y="0"/>
                </a:moveTo>
                <a:lnTo>
                  <a:pt x="4997931" y="0"/>
                </a:lnTo>
                <a:lnTo>
                  <a:pt x="4997931" y="5152308"/>
                </a:lnTo>
                <a:lnTo>
                  <a:pt x="0" y="5152308"/>
                </a:lnTo>
                <a:lnTo>
                  <a:pt x="0" y="0"/>
                </a:lnTo>
                <a:close/>
              </a:path>
            </a:pathLst>
          </a:custGeom>
          <a:blipFill>
            <a:blip r:embed="rId2"/>
            <a:stretch>
              <a:fillRect l="0" t="0" r="0" b="0"/>
            </a:stretch>
          </a:blipFill>
        </p:spPr>
      </p:sp>
      <p:sp>
        <p:nvSpPr>
          <p:cNvPr name="Freeform 3" id="3"/>
          <p:cNvSpPr/>
          <p:nvPr/>
        </p:nvSpPr>
        <p:spPr>
          <a:xfrm flipH="false" flipV="false" rot="0">
            <a:off x="12782531" y="2934268"/>
            <a:ext cx="8229600" cy="8229600"/>
          </a:xfrm>
          <a:custGeom>
            <a:avLst/>
            <a:gdLst/>
            <a:ahLst/>
            <a:cxnLst/>
            <a:rect r="r" b="b" t="t" l="l"/>
            <a:pathLst>
              <a:path h="8229600" w="8229600">
                <a:moveTo>
                  <a:pt x="0" y="0"/>
                </a:moveTo>
                <a:lnTo>
                  <a:pt x="8229600" y="0"/>
                </a:lnTo>
                <a:lnTo>
                  <a:pt x="8229600" y="8229600"/>
                </a:lnTo>
                <a:lnTo>
                  <a:pt x="0" y="8229600"/>
                </a:lnTo>
                <a:lnTo>
                  <a:pt x="0" y="0"/>
                </a:lnTo>
                <a:close/>
              </a:path>
            </a:pathLst>
          </a:custGeom>
          <a:blipFill>
            <a:blip r:embed="rId3"/>
            <a:stretch>
              <a:fillRect l="0" t="0" r="0" b="0"/>
            </a:stretch>
          </a:blipFill>
        </p:spPr>
      </p:sp>
      <p:sp>
        <p:nvSpPr>
          <p:cNvPr name="Freeform 4" id="4"/>
          <p:cNvSpPr/>
          <p:nvPr/>
        </p:nvSpPr>
        <p:spPr>
          <a:xfrm flipH="false" flipV="false" rot="0">
            <a:off x="632916" y="2237084"/>
            <a:ext cx="4161120" cy="3962110"/>
          </a:xfrm>
          <a:custGeom>
            <a:avLst/>
            <a:gdLst/>
            <a:ahLst/>
            <a:cxnLst/>
            <a:rect r="r" b="b" t="t" l="l"/>
            <a:pathLst>
              <a:path h="3962110" w="4161120">
                <a:moveTo>
                  <a:pt x="0" y="0"/>
                </a:moveTo>
                <a:lnTo>
                  <a:pt x="4161119" y="0"/>
                </a:lnTo>
                <a:lnTo>
                  <a:pt x="4161119" y="3962110"/>
                </a:lnTo>
                <a:lnTo>
                  <a:pt x="0" y="3962110"/>
                </a:lnTo>
                <a:lnTo>
                  <a:pt x="0" y="0"/>
                </a:lnTo>
                <a:close/>
              </a:path>
            </a:pathLst>
          </a:custGeom>
          <a:blipFill>
            <a:blip r:embed="rId4"/>
            <a:stretch>
              <a:fillRect l="0" t="0" r="0" b="0"/>
            </a:stretch>
          </a:blipFill>
        </p:spPr>
      </p:sp>
      <p:sp>
        <p:nvSpPr>
          <p:cNvPr name="TextBox 5" id="5"/>
          <p:cNvSpPr txBox="true"/>
          <p:nvPr/>
        </p:nvSpPr>
        <p:spPr>
          <a:xfrm rot="0">
            <a:off x="433707" y="9599186"/>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5060B"/>
                </a:solidFill>
                <a:latin typeface="Canva Sans"/>
                <a:ea typeface="Canva Sans"/>
                <a:cs typeface="Canva Sans"/>
                <a:sym typeface="Canva Sans"/>
              </a:rPr>
              <a:t>Page 33</a:t>
            </a:r>
          </a:p>
        </p:txBody>
      </p:sp>
      <p:sp>
        <p:nvSpPr>
          <p:cNvPr name="TextBox 6" id="6"/>
          <p:cNvSpPr txBox="true"/>
          <p:nvPr/>
        </p:nvSpPr>
        <p:spPr>
          <a:xfrm rot="0">
            <a:off x="547291" y="942975"/>
            <a:ext cx="16214705" cy="877569"/>
          </a:xfrm>
          <a:prstGeom prst="rect">
            <a:avLst/>
          </a:prstGeom>
        </p:spPr>
        <p:txBody>
          <a:bodyPr anchor="t" rtlCol="false" tIns="0" lIns="0" bIns="0" rIns="0">
            <a:spAutoFit/>
          </a:bodyPr>
          <a:lstStyle/>
          <a:p>
            <a:pPr algn="l">
              <a:lnSpc>
                <a:spcPts val="7280"/>
              </a:lnSpc>
              <a:spcBef>
                <a:spcPct val="0"/>
              </a:spcBef>
            </a:pPr>
            <a:r>
              <a:rPr lang="en-US" sz="5200">
                <a:solidFill>
                  <a:srgbClr val="05060B"/>
                </a:solidFill>
                <a:latin typeface="Anton"/>
                <a:ea typeface="Anton"/>
                <a:cs typeface="Anton"/>
                <a:sym typeface="Anton"/>
              </a:rPr>
              <a:t>RANK LANDING OUTCOMES BETWEEN 2010-06-04 AND 2017-03-20</a:t>
            </a:r>
          </a:p>
        </p:txBody>
      </p:sp>
      <p:sp>
        <p:nvSpPr>
          <p:cNvPr name="TextBox 7" id="7"/>
          <p:cNvSpPr txBox="true"/>
          <p:nvPr/>
        </p:nvSpPr>
        <p:spPr>
          <a:xfrm rot="0">
            <a:off x="547291" y="401197"/>
            <a:ext cx="2717135" cy="580388"/>
          </a:xfrm>
          <a:prstGeom prst="rect">
            <a:avLst/>
          </a:prstGeom>
        </p:spPr>
        <p:txBody>
          <a:bodyPr anchor="t" rtlCol="false" tIns="0" lIns="0" bIns="0" rIns="0">
            <a:spAutoFit/>
          </a:bodyPr>
          <a:lstStyle/>
          <a:p>
            <a:pPr algn="l">
              <a:lnSpc>
                <a:spcPts val="4760"/>
              </a:lnSpc>
              <a:spcBef>
                <a:spcPct val="0"/>
              </a:spcBef>
            </a:pPr>
            <a:r>
              <a:rPr lang="en-US" sz="3400">
                <a:solidFill>
                  <a:srgbClr val="05060B"/>
                </a:solidFill>
                <a:latin typeface="Anton"/>
                <a:ea typeface="Anton"/>
                <a:cs typeface="Anton"/>
                <a:sym typeface="Anton"/>
              </a:rPr>
              <a:t>SQL</a:t>
            </a:r>
          </a:p>
        </p:txBody>
      </p:sp>
      <p:sp>
        <p:nvSpPr>
          <p:cNvPr name="TextBox 8" id="8"/>
          <p:cNvSpPr txBox="true"/>
          <p:nvPr/>
        </p:nvSpPr>
        <p:spPr>
          <a:xfrm rot="0">
            <a:off x="10232220" y="2389691"/>
            <a:ext cx="5462930" cy="4856619"/>
          </a:xfrm>
          <a:prstGeom prst="rect">
            <a:avLst/>
          </a:prstGeom>
        </p:spPr>
        <p:txBody>
          <a:bodyPr anchor="t" rtlCol="false" tIns="0" lIns="0" bIns="0" rIns="0">
            <a:spAutoFit/>
          </a:bodyPr>
          <a:lstStyle/>
          <a:p>
            <a:pPr algn="l" marL="475687" indent="-237844" lvl="1">
              <a:lnSpc>
                <a:spcPts val="2577"/>
              </a:lnSpc>
              <a:buFont typeface="Arial"/>
              <a:buChar char="•"/>
            </a:pPr>
            <a:r>
              <a:rPr lang="en-US" sz="2203">
                <a:solidFill>
                  <a:srgbClr val="05060B"/>
                </a:solidFill>
                <a:latin typeface="Canva Sans"/>
                <a:ea typeface="Canva Sans"/>
                <a:cs typeface="Canva Sans"/>
                <a:sym typeface="Canva Sans"/>
              </a:rPr>
              <a:t>Landing outcomes between above dates.</a:t>
            </a:r>
          </a:p>
          <a:p>
            <a:pPr algn="l" marL="475687" indent="-237844" lvl="1">
              <a:lnSpc>
                <a:spcPts val="2577"/>
              </a:lnSpc>
              <a:buFont typeface="Arial"/>
              <a:buChar char="•"/>
            </a:pPr>
            <a:r>
              <a:rPr lang="en-US" b="true" sz="2203">
                <a:solidFill>
                  <a:srgbClr val="05060B"/>
                </a:solidFill>
                <a:latin typeface="Canva Sans Bold"/>
                <a:ea typeface="Canva Sans Bold"/>
                <a:cs typeface="Canva Sans Bold"/>
                <a:sym typeface="Canva Sans Bold"/>
              </a:rPr>
              <a:t>Success type landings</a:t>
            </a:r>
          </a:p>
          <a:p>
            <a:pPr algn="l" marL="951374" indent="-317125" lvl="2">
              <a:lnSpc>
                <a:spcPts val="2577"/>
              </a:lnSpc>
              <a:buFont typeface="Arial"/>
              <a:buChar char="⚬"/>
            </a:pPr>
            <a:r>
              <a:rPr lang="en-US" sz="2203">
                <a:solidFill>
                  <a:srgbClr val="05060B"/>
                </a:solidFill>
                <a:latin typeface="Canva Sans"/>
                <a:ea typeface="Canva Sans"/>
                <a:cs typeface="Canva Sans"/>
                <a:sym typeface="Canva Sans"/>
              </a:rPr>
              <a:t>drone ship</a:t>
            </a:r>
          </a:p>
          <a:p>
            <a:pPr algn="l" marL="951374" indent="-317125" lvl="2">
              <a:lnSpc>
                <a:spcPts val="2577"/>
              </a:lnSpc>
              <a:buFont typeface="Arial"/>
              <a:buChar char="⚬"/>
            </a:pPr>
            <a:r>
              <a:rPr lang="en-US" sz="2203">
                <a:solidFill>
                  <a:srgbClr val="05060B"/>
                </a:solidFill>
                <a:latin typeface="Canva Sans"/>
                <a:ea typeface="Canva Sans"/>
                <a:cs typeface="Canva Sans"/>
                <a:sym typeface="Canva Sans"/>
              </a:rPr>
              <a:t>ground pad</a:t>
            </a:r>
          </a:p>
          <a:p>
            <a:pPr algn="l" marL="951374" indent="-317125" lvl="2">
              <a:lnSpc>
                <a:spcPts val="2577"/>
              </a:lnSpc>
              <a:buFont typeface="Arial"/>
              <a:buChar char="⚬"/>
            </a:pPr>
            <a:r>
              <a:rPr lang="en-US" sz="2203">
                <a:solidFill>
                  <a:srgbClr val="05060B"/>
                </a:solidFill>
                <a:latin typeface="Canva Sans"/>
                <a:ea typeface="Canva Sans"/>
                <a:cs typeface="Canva Sans"/>
                <a:sym typeface="Canva Sans"/>
              </a:rPr>
              <a:t>controlled (ocean) -</a:t>
            </a:r>
            <a:r>
              <a:rPr lang="en-US" sz="2203" i="true">
                <a:solidFill>
                  <a:srgbClr val="05060B"/>
                </a:solidFill>
                <a:latin typeface="Canva Sans Italics"/>
                <a:ea typeface="Canva Sans Italics"/>
                <a:cs typeface="Canva Sans Italics"/>
                <a:sym typeface="Canva Sans Italics"/>
              </a:rPr>
              <a:t>can be seen as fail</a:t>
            </a:r>
          </a:p>
          <a:p>
            <a:pPr algn="l" marL="475687" indent="-237844" lvl="1">
              <a:lnSpc>
                <a:spcPts val="2577"/>
              </a:lnSpc>
              <a:buFont typeface="Arial"/>
              <a:buChar char="•"/>
            </a:pPr>
            <a:r>
              <a:rPr lang="en-US" b="true" sz="2203">
                <a:solidFill>
                  <a:srgbClr val="05060B"/>
                </a:solidFill>
                <a:latin typeface="Canva Sans Bold"/>
                <a:ea typeface="Canva Sans Bold"/>
                <a:cs typeface="Canva Sans Bold"/>
                <a:sym typeface="Canva Sans Bold"/>
              </a:rPr>
              <a:t>Failed landings/launch attempts</a:t>
            </a:r>
          </a:p>
          <a:p>
            <a:pPr algn="l" marL="951374" indent="-317125" lvl="2">
              <a:lnSpc>
                <a:spcPts val="2577"/>
              </a:lnSpc>
              <a:buFont typeface="Arial"/>
              <a:buChar char="⚬"/>
            </a:pPr>
            <a:r>
              <a:rPr lang="en-US" sz="2203">
                <a:solidFill>
                  <a:srgbClr val="05060B"/>
                </a:solidFill>
                <a:latin typeface="Canva Sans"/>
                <a:ea typeface="Canva Sans"/>
                <a:cs typeface="Canva Sans"/>
                <a:sym typeface="Canva Sans"/>
              </a:rPr>
              <a:t>no attempt</a:t>
            </a:r>
          </a:p>
          <a:p>
            <a:pPr algn="l" marL="951374" indent="-317125" lvl="2">
              <a:lnSpc>
                <a:spcPts val="2577"/>
              </a:lnSpc>
              <a:buFont typeface="Arial"/>
              <a:buChar char="⚬"/>
            </a:pPr>
            <a:r>
              <a:rPr lang="en-US" sz="2203">
                <a:solidFill>
                  <a:srgbClr val="05060B"/>
                </a:solidFill>
                <a:latin typeface="Canva Sans"/>
                <a:ea typeface="Canva Sans"/>
                <a:cs typeface="Canva Sans"/>
                <a:sym typeface="Canva Sans"/>
              </a:rPr>
              <a:t>drone ship</a:t>
            </a:r>
          </a:p>
          <a:p>
            <a:pPr algn="l" marL="951374" indent="-317125" lvl="2">
              <a:lnSpc>
                <a:spcPts val="2577"/>
              </a:lnSpc>
              <a:buFont typeface="Arial"/>
              <a:buChar char="⚬"/>
            </a:pPr>
            <a:r>
              <a:rPr lang="en-US" sz="2203">
                <a:solidFill>
                  <a:srgbClr val="05060B"/>
                </a:solidFill>
                <a:latin typeface="Canva Sans"/>
                <a:ea typeface="Canva Sans"/>
                <a:cs typeface="Canva Sans"/>
                <a:sym typeface="Canva Sans"/>
              </a:rPr>
              <a:t>uncontrolled (ocean)</a:t>
            </a:r>
          </a:p>
          <a:p>
            <a:pPr algn="l" marL="951374" indent="-317125" lvl="2">
              <a:lnSpc>
                <a:spcPts val="2577"/>
              </a:lnSpc>
              <a:buFont typeface="Arial"/>
              <a:buChar char="⚬"/>
            </a:pPr>
            <a:r>
              <a:rPr lang="en-US" sz="2203">
                <a:solidFill>
                  <a:srgbClr val="05060B"/>
                </a:solidFill>
                <a:latin typeface="Canva Sans"/>
                <a:ea typeface="Canva Sans"/>
                <a:cs typeface="Canva Sans"/>
                <a:sym typeface="Canva Sans"/>
              </a:rPr>
              <a:t>failure (parachute)</a:t>
            </a:r>
          </a:p>
          <a:p>
            <a:pPr algn="l" marL="951374" indent="-317125" lvl="2">
              <a:lnSpc>
                <a:spcPts val="2577"/>
              </a:lnSpc>
              <a:buFont typeface="Arial"/>
              <a:buChar char="⚬"/>
            </a:pPr>
            <a:r>
              <a:rPr lang="en-US" sz="2203">
                <a:solidFill>
                  <a:srgbClr val="05060B"/>
                </a:solidFill>
                <a:latin typeface="Canva Sans"/>
                <a:ea typeface="Canva Sans"/>
                <a:cs typeface="Canva Sans"/>
                <a:sym typeface="Canva Sans"/>
              </a:rPr>
              <a:t>Precluded (drone ship)</a:t>
            </a:r>
          </a:p>
          <a:p>
            <a:pPr algn="l" marL="475687" indent="-237844" lvl="1">
              <a:lnSpc>
                <a:spcPts val="2577"/>
              </a:lnSpc>
              <a:buFont typeface="Arial"/>
              <a:buChar char="•"/>
            </a:pPr>
            <a:r>
              <a:rPr lang="en-US" b="true" sz="2203">
                <a:solidFill>
                  <a:srgbClr val="05060B"/>
                </a:solidFill>
                <a:latin typeface="Canva Sans Bold"/>
                <a:ea typeface="Canva Sans Bold"/>
                <a:cs typeface="Canva Sans Bold"/>
                <a:sym typeface="Canva Sans Bold"/>
              </a:rPr>
              <a:t>There were 8 successful landings during the time period.</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433707" y="9599186"/>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5060B"/>
                </a:solidFill>
                <a:latin typeface="Canva Sans"/>
                <a:ea typeface="Canva Sans"/>
                <a:cs typeface="Canva Sans"/>
                <a:sym typeface="Canva Sans"/>
              </a:rPr>
              <a:t>Page 34</a:t>
            </a:r>
          </a:p>
        </p:txBody>
      </p:sp>
      <p:grpSp>
        <p:nvGrpSpPr>
          <p:cNvPr name="Group 3" id="3"/>
          <p:cNvGrpSpPr/>
          <p:nvPr/>
        </p:nvGrpSpPr>
        <p:grpSpPr>
          <a:xfrm rot="0">
            <a:off x="11081626" y="0"/>
            <a:ext cx="7831370" cy="10287000"/>
            <a:chOff x="0" y="0"/>
            <a:chExt cx="1168151" cy="1534440"/>
          </a:xfrm>
        </p:grpSpPr>
        <p:sp>
          <p:nvSpPr>
            <p:cNvPr name="Freeform 4" id="4"/>
            <p:cNvSpPr/>
            <p:nvPr/>
          </p:nvSpPr>
          <p:spPr>
            <a:xfrm flipH="false" flipV="false" rot="0">
              <a:off x="0" y="0"/>
              <a:ext cx="1168150" cy="1534440"/>
            </a:xfrm>
            <a:custGeom>
              <a:avLst/>
              <a:gdLst/>
              <a:ahLst/>
              <a:cxnLst/>
              <a:rect r="r" b="b" t="t" l="l"/>
              <a:pathLst>
                <a:path h="1534440" w="1168150">
                  <a:moveTo>
                    <a:pt x="0" y="0"/>
                  </a:moveTo>
                  <a:lnTo>
                    <a:pt x="1168150" y="0"/>
                  </a:lnTo>
                  <a:lnTo>
                    <a:pt x="1168150" y="1534440"/>
                  </a:lnTo>
                  <a:lnTo>
                    <a:pt x="0" y="1534440"/>
                  </a:lnTo>
                  <a:close/>
                </a:path>
              </a:pathLst>
            </a:custGeom>
            <a:blipFill>
              <a:blip r:embed="rId2">
                <a:alphaModFix amt="82000"/>
              </a:blip>
              <a:stretch>
                <a:fillRect l="-39510" t="0" r="-39510" b="0"/>
              </a:stretch>
            </a:blipFill>
            <a:ln cap="sq">
              <a:noFill/>
              <a:prstDash val="solid"/>
              <a:miter/>
            </a:ln>
          </p:spPr>
        </p:sp>
      </p:grpSp>
      <p:sp>
        <p:nvSpPr>
          <p:cNvPr name="TextBox 5" id="5"/>
          <p:cNvSpPr txBox="true"/>
          <p:nvPr/>
        </p:nvSpPr>
        <p:spPr>
          <a:xfrm rot="0">
            <a:off x="1009724" y="3735787"/>
            <a:ext cx="8223639" cy="2129626"/>
          </a:xfrm>
          <a:prstGeom prst="rect">
            <a:avLst/>
          </a:prstGeom>
        </p:spPr>
        <p:txBody>
          <a:bodyPr anchor="t" rtlCol="false" tIns="0" lIns="0" bIns="0" rIns="0">
            <a:spAutoFit/>
          </a:bodyPr>
          <a:lstStyle/>
          <a:p>
            <a:pPr algn="l">
              <a:lnSpc>
                <a:spcPts val="8619"/>
              </a:lnSpc>
              <a:spcBef>
                <a:spcPct val="0"/>
              </a:spcBef>
            </a:pPr>
            <a:r>
              <a:rPr lang="en-US" sz="6156">
                <a:solidFill>
                  <a:srgbClr val="05060B"/>
                </a:solidFill>
                <a:latin typeface="Anton"/>
                <a:ea typeface="Anton"/>
                <a:cs typeface="Anton"/>
                <a:sym typeface="Anton"/>
              </a:rPr>
              <a:t>LAUNCH SITES PROXIMITIES ANALYSIS</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7244274" y="454379"/>
            <a:ext cx="10185748" cy="4881727"/>
          </a:xfrm>
          <a:custGeom>
            <a:avLst/>
            <a:gdLst/>
            <a:ahLst/>
            <a:cxnLst/>
            <a:rect r="r" b="b" t="t" l="l"/>
            <a:pathLst>
              <a:path h="4881727" w="10185748">
                <a:moveTo>
                  <a:pt x="0" y="0"/>
                </a:moveTo>
                <a:lnTo>
                  <a:pt x="10185748" y="0"/>
                </a:lnTo>
                <a:lnTo>
                  <a:pt x="10185748" y="4881727"/>
                </a:lnTo>
                <a:lnTo>
                  <a:pt x="0" y="4881727"/>
                </a:lnTo>
                <a:lnTo>
                  <a:pt x="0" y="0"/>
                </a:lnTo>
                <a:close/>
              </a:path>
            </a:pathLst>
          </a:custGeom>
          <a:blipFill>
            <a:blip r:embed="rId2"/>
            <a:stretch>
              <a:fillRect l="-3357" t="-471" r="-7594" b="-18462"/>
            </a:stretch>
          </a:blipFill>
        </p:spPr>
      </p:sp>
      <p:sp>
        <p:nvSpPr>
          <p:cNvPr name="Freeform 3" id="3"/>
          <p:cNvSpPr/>
          <p:nvPr/>
        </p:nvSpPr>
        <p:spPr>
          <a:xfrm flipH="false" flipV="false" rot="0">
            <a:off x="1028700" y="3070455"/>
            <a:ext cx="6404821" cy="4531302"/>
          </a:xfrm>
          <a:custGeom>
            <a:avLst/>
            <a:gdLst/>
            <a:ahLst/>
            <a:cxnLst/>
            <a:rect r="r" b="b" t="t" l="l"/>
            <a:pathLst>
              <a:path h="4531302" w="6404821">
                <a:moveTo>
                  <a:pt x="0" y="0"/>
                </a:moveTo>
                <a:lnTo>
                  <a:pt x="6404821" y="0"/>
                </a:lnTo>
                <a:lnTo>
                  <a:pt x="6404821" y="4531302"/>
                </a:lnTo>
                <a:lnTo>
                  <a:pt x="0" y="4531302"/>
                </a:lnTo>
                <a:lnTo>
                  <a:pt x="0" y="0"/>
                </a:lnTo>
                <a:close/>
              </a:path>
            </a:pathLst>
          </a:custGeom>
          <a:blipFill>
            <a:blip r:embed="rId3"/>
            <a:stretch>
              <a:fillRect l="0" t="0" r="0" b="0"/>
            </a:stretch>
          </a:blipFill>
        </p:spPr>
      </p:sp>
      <p:sp>
        <p:nvSpPr>
          <p:cNvPr name="Freeform 4" id="4"/>
          <p:cNvSpPr/>
          <p:nvPr/>
        </p:nvSpPr>
        <p:spPr>
          <a:xfrm flipH="false" flipV="false" rot="0">
            <a:off x="9101468" y="4016295"/>
            <a:ext cx="6471359" cy="4918634"/>
          </a:xfrm>
          <a:custGeom>
            <a:avLst/>
            <a:gdLst/>
            <a:ahLst/>
            <a:cxnLst/>
            <a:rect r="r" b="b" t="t" l="l"/>
            <a:pathLst>
              <a:path h="4918634" w="6471359">
                <a:moveTo>
                  <a:pt x="0" y="0"/>
                </a:moveTo>
                <a:lnTo>
                  <a:pt x="6471360" y="0"/>
                </a:lnTo>
                <a:lnTo>
                  <a:pt x="6471360" y="4918634"/>
                </a:lnTo>
                <a:lnTo>
                  <a:pt x="0" y="4918634"/>
                </a:lnTo>
                <a:lnTo>
                  <a:pt x="0" y="0"/>
                </a:lnTo>
                <a:close/>
              </a:path>
            </a:pathLst>
          </a:custGeom>
          <a:blipFill>
            <a:blip r:embed="rId4"/>
            <a:stretch>
              <a:fillRect l="0" t="0" r="0" b="0"/>
            </a:stretch>
          </a:blipFill>
        </p:spPr>
      </p:sp>
      <p:grpSp>
        <p:nvGrpSpPr>
          <p:cNvPr name="Group 5" id="5"/>
          <p:cNvGrpSpPr/>
          <p:nvPr/>
        </p:nvGrpSpPr>
        <p:grpSpPr>
          <a:xfrm rot="0">
            <a:off x="7433521" y="1912170"/>
            <a:ext cx="983072" cy="983072"/>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solidFill>
                <a:srgbClr val="B16D44"/>
              </a:solidFill>
              <a:prstDash val="solid"/>
              <a:miter/>
            </a:ln>
          </p:spPr>
        </p:sp>
        <p:sp>
          <p:nvSpPr>
            <p:cNvPr name="TextBox 7" id="7"/>
            <p:cNvSpPr txBox="true"/>
            <p:nvPr/>
          </p:nvSpPr>
          <p:spPr>
            <a:xfrm>
              <a:off x="76200" y="28575"/>
              <a:ext cx="660400" cy="708025"/>
            </a:xfrm>
            <a:prstGeom prst="rect">
              <a:avLst/>
            </a:prstGeom>
          </p:spPr>
          <p:txBody>
            <a:bodyPr anchor="ctr" rtlCol="false" tIns="50800" lIns="50800" bIns="50800" rIns="50800"/>
            <a:lstStyle/>
            <a:p>
              <a:pPr algn="ctr">
                <a:lnSpc>
                  <a:spcPts val="2800"/>
                </a:lnSpc>
              </a:pPr>
            </a:p>
          </p:txBody>
        </p:sp>
      </p:grpSp>
      <p:sp>
        <p:nvSpPr>
          <p:cNvPr name="TextBox 8" id="8"/>
          <p:cNvSpPr txBox="true"/>
          <p:nvPr/>
        </p:nvSpPr>
        <p:spPr>
          <a:xfrm rot="0">
            <a:off x="433707" y="9599186"/>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5060B"/>
                </a:solidFill>
                <a:latin typeface="Canva Sans"/>
                <a:ea typeface="Canva Sans"/>
                <a:cs typeface="Canva Sans"/>
                <a:sym typeface="Canva Sans"/>
              </a:rPr>
              <a:t>Page 35</a:t>
            </a:r>
          </a:p>
        </p:txBody>
      </p:sp>
      <p:sp>
        <p:nvSpPr>
          <p:cNvPr name="TextBox 9" id="9"/>
          <p:cNvSpPr txBox="true"/>
          <p:nvPr/>
        </p:nvSpPr>
        <p:spPr>
          <a:xfrm rot="0">
            <a:off x="772915" y="368654"/>
            <a:ext cx="16214705" cy="877569"/>
          </a:xfrm>
          <a:prstGeom prst="rect">
            <a:avLst/>
          </a:prstGeom>
        </p:spPr>
        <p:txBody>
          <a:bodyPr anchor="t" rtlCol="false" tIns="0" lIns="0" bIns="0" rIns="0">
            <a:spAutoFit/>
          </a:bodyPr>
          <a:lstStyle/>
          <a:p>
            <a:pPr algn="l">
              <a:lnSpc>
                <a:spcPts val="7280"/>
              </a:lnSpc>
              <a:spcBef>
                <a:spcPct val="0"/>
              </a:spcBef>
            </a:pPr>
            <a:r>
              <a:rPr lang="en-US" sz="5200">
                <a:solidFill>
                  <a:srgbClr val="05060B"/>
                </a:solidFill>
                <a:latin typeface="Anton"/>
                <a:ea typeface="Anton"/>
                <a:cs typeface="Anton"/>
                <a:sym typeface="Anton"/>
              </a:rPr>
              <a:t>LAUNCH SITE LOCATIONS</a:t>
            </a:r>
          </a:p>
        </p:txBody>
      </p:sp>
      <p:sp>
        <p:nvSpPr>
          <p:cNvPr name="AutoShape 10" id="10"/>
          <p:cNvSpPr/>
          <p:nvPr/>
        </p:nvSpPr>
        <p:spPr>
          <a:xfrm flipH="true">
            <a:off x="4452417" y="2908224"/>
            <a:ext cx="2967161" cy="1599607"/>
          </a:xfrm>
          <a:prstGeom prst="line">
            <a:avLst/>
          </a:prstGeom>
          <a:ln cap="flat" w="114300">
            <a:solidFill>
              <a:srgbClr val="B16D44"/>
            </a:solidFill>
            <a:prstDash val="solid"/>
            <a:headEnd type="none" len="sm" w="sm"/>
            <a:tailEnd type="arrow" len="sm" w="med"/>
          </a:ln>
        </p:spPr>
      </p:sp>
      <p:grpSp>
        <p:nvGrpSpPr>
          <p:cNvPr name="Group 11" id="11"/>
          <p:cNvGrpSpPr/>
          <p:nvPr/>
        </p:nvGrpSpPr>
        <p:grpSpPr>
          <a:xfrm rot="0">
            <a:off x="16150057" y="3524759"/>
            <a:ext cx="983072" cy="983072"/>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solidFill>
                <a:srgbClr val="B16D44"/>
              </a:solidFill>
              <a:prstDash val="solid"/>
              <a:miter/>
            </a:ln>
          </p:spPr>
        </p:sp>
        <p:sp>
          <p:nvSpPr>
            <p:cNvPr name="TextBox 13" id="13"/>
            <p:cNvSpPr txBox="true"/>
            <p:nvPr/>
          </p:nvSpPr>
          <p:spPr>
            <a:xfrm>
              <a:off x="76200" y="28575"/>
              <a:ext cx="660400" cy="708025"/>
            </a:xfrm>
            <a:prstGeom prst="rect">
              <a:avLst/>
            </a:prstGeom>
          </p:spPr>
          <p:txBody>
            <a:bodyPr anchor="ctr" rtlCol="false" tIns="50800" lIns="50800" bIns="50800" rIns="50800"/>
            <a:lstStyle/>
            <a:p>
              <a:pPr algn="ctr">
                <a:lnSpc>
                  <a:spcPts val="2800"/>
                </a:lnSpc>
              </a:pPr>
            </a:p>
          </p:txBody>
        </p:sp>
      </p:grpSp>
      <p:sp>
        <p:nvSpPr>
          <p:cNvPr name="AutoShape 14" id="14"/>
          <p:cNvSpPr/>
          <p:nvPr/>
        </p:nvSpPr>
        <p:spPr>
          <a:xfrm flipH="true">
            <a:off x="13227370" y="4232980"/>
            <a:ext cx="2840868" cy="1640176"/>
          </a:xfrm>
          <a:prstGeom prst="line">
            <a:avLst/>
          </a:prstGeom>
          <a:ln cap="flat" w="114300">
            <a:solidFill>
              <a:srgbClr val="B16D44"/>
            </a:solidFill>
            <a:prstDash val="solid"/>
            <a:headEnd type="none" len="sm" w="sm"/>
            <a:tailEnd type="arrow" len="sm" w="med"/>
          </a:ln>
        </p:spPr>
      </p:sp>
      <p:sp>
        <p:nvSpPr>
          <p:cNvPr name="TextBox 15" id="15"/>
          <p:cNvSpPr txBox="true"/>
          <p:nvPr/>
        </p:nvSpPr>
        <p:spPr>
          <a:xfrm rot="0">
            <a:off x="1720952" y="1757137"/>
            <a:ext cx="5462930" cy="646569"/>
          </a:xfrm>
          <a:prstGeom prst="rect">
            <a:avLst/>
          </a:prstGeom>
        </p:spPr>
        <p:txBody>
          <a:bodyPr anchor="t" rtlCol="false" tIns="0" lIns="0" bIns="0" rIns="0">
            <a:spAutoFit/>
          </a:bodyPr>
          <a:lstStyle/>
          <a:p>
            <a:pPr algn="l" marL="475687" indent="-237844" lvl="1">
              <a:lnSpc>
                <a:spcPts val="2577"/>
              </a:lnSpc>
              <a:buFont typeface="Arial"/>
              <a:buChar char="•"/>
            </a:pPr>
            <a:r>
              <a:rPr lang="en-US" sz="2203">
                <a:solidFill>
                  <a:srgbClr val="05060B"/>
                </a:solidFill>
                <a:latin typeface="Canva Sans"/>
                <a:ea typeface="Canva Sans"/>
                <a:cs typeface="Canva Sans"/>
                <a:sym typeface="Canva Sans"/>
              </a:rPr>
              <a:t>SpaceX launch sites:</a:t>
            </a:r>
          </a:p>
          <a:p>
            <a:pPr algn="l" marL="951374" indent="-317125" lvl="2">
              <a:lnSpc>
                <a:spcPts val="2577"/>
              </a:lnSpc>
              <a:buFont typeface="Arial"/>
              <a:buChar char="⚬"/>
            </a:pPr>
            <a:r>
              <a:rPr lang="en-US" sz="2203">
                <a:solidFill>
                  <a:srgbClr val="05060B"/>
                </a:solidFill>
                <a:latin typeface="Canva Sans"/>
                <a:ea typeface="Canva Sans"/>
                <a:cs typeface="Canva Sans"/>
                <a:sym typeface="Canva Sans"/>
              </a:rPr>
              <a:t>Florida and California</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814386" y="539123"/>
            <a:ext cx="11059927" cy="4027047"/>
          </a:xfrm>
          <a:custGeom>
            <a:avLst/>
            <a:gdLst/>
            <a:ahLst/>
            <a:cxnLst/>
            <a:rect r="r" b="b" t="t" l="l"/>
            <a:pathLst>
              <a:path h="4027047" w="11059927">
                <a:moveTo>
                  <a:pt x="0" y="0"/>
                </a:moveTo>
                <a:lnTo>
                  <a:pt x="11059927" y="0"/>
                </a:lnTo>
                <a:lnTo>
                  <a:pt x="11059927" y="4027047"/>
                </a:lnTo>
                <a:lnTo>
                  <a:pt x="0" y="4027047"/>
                </a:lnTo>
                <a:lnTo>
                  <a:pt x="0" y="0"/>
                </a:lnTo>
                <a:close/>
              </a:path>
            </a:pathLst>
          </a:custGeom>
          <a:blipFill>
            <a:blip r:embed="rId2"/>
            <a:stretch>
              <a:fillRect l="0" t="0" r="0" b="0"/>
            </a:stretch>
          </a:blipFill>
        </p:spPr>
      </p:sp>
      <p:sp>
        <p:nvSpPr>
          <p:cNvPr name="Freeform 3" id="3"/>
          <p:cNvSpPr/>
          <p:nvPr/>
        </p:nvSpPr>
        <p:spPr>
          <a:xfrm flipH="false" flipV="false" rot="0">
            <a:off x="659608" y="1991116"/>
            <a:ext cx="4091145" cy="3152384"/>
          </a:xfrm>
          <a:custGeom>
            <a:avLst/>
            <a:gdLst/>
            <a:ahLst/>
            <a:cxnLst/>
            <a:rect r="r" b="b" t="t" l="l"/>
            <a:pathLst>
              <a:path h="3152384" w="4091145">
                <a:moveTo>
                  <a:pt x="0" y="0"/>
                </a:moveTo>
                <a:lnTo>
                  <a:pt x="4091146" y="0"/>
                </a:lnTo>
                <a:lnTo>
                  <a:pt x="4091146" y="3152384"/>
                </a:lnTo>
                <a:lnTo>
                  <a:pt x="0" y="3152384"/>
                </a:lnTo>
                <a:lnTo>
                  <a:pt x="0" y="0"/>
                </a:lnTo>
                <a:close/>
              </a:path>
            </a:pathLst>
          </a:custGeom>
          <a:blipFill>
            <a:blip r:embed="rId3"/>
            <a:stretch>
              <a:fillRect l="0" t="0" r="0" b="0"/>
            </a:stretch>
          </a:blipFill>
        </p:spPr>
      </p:sp>
      <p:sp>
        <p:nvSpPr>
          <p:cNvPr name="AutoShape 4" id="4"/>
          <p:cNvSpPr/>
          <p:nvPr/>
        </p:nvSpPr>
        <p:spPr>
          <a:xfrm flipH="true">
            <a:off x="4379134" y="1991116"/>
            <a:ext cx="2004329" cy="903849"/>
          </a:xfrm>
          <a:prstGeom prst="line">
            <a:avLst/>
          </a:prstGeom>
          <a:ln cap="flat" w="66675">
            <a:solidFill>
              <a:srgbClr val="B16D44"/>
            </a:solidFill>
            <a:prstDash val="solid"/>
            <a:headEnd type="none" len="sm" w="sm"/>
            <a:tailEnd type="arrow" len="sm" w="med"/>
          </a:ln>
        </p:spPr>
      </p:sp>
      <p:sp>
        <p:nvSpPr>
          <p:cNvPr name="Freeform 5" id="5"/>
          <p:cNvSpPr/>
          <p:nvPr/>
        </p:nvSpPr>
        <p:spPr>
          <a:xfrm flipH="false" flipV="false" rot="0">
            <a:off x="12425850" y="5143500"/>
            <a:ext cx="3715690" cy="3472741"/>
          </a:xfrm>
          <a:custGeom>
            <a:avLst/>
            <a:gdLst/>
            <a:ahLst/>
            <a:cxnLst/>
            <a:rect r="r" b="b" t="t" l="l"/>
            <a:pathLst>
              <a:path h="3472741" w="3715690">
                <a:moveTo>
                  <a:pt x="0" y="0"/>
                </a:moveTo>
                <a:lnTo>
                  <a:pt x="3715690" y="0"/>
                </a:lnTo>
                <a:lnTo>
                  <a:pt x="3715690" y="3472741"/>
                </a:lnTo>
                <a:lnTo>
                  <a:pt x="0" y="3472741"/>
                </a:lnTo>
                <a:lnTo>
                  <a:pt x="0" y="0"/>
                </a:lnTo>
                <a:close/>
              </a:path>
            </a:pathLst>
          </a:custGeom>
          <a:blipFill>
            <a:blip r:embed="rId4"/>
            <a:stretch>
              <a:fillRect l="0" t="0" r="0" b="0"/>
            </a:stretch>
          </a:blipFill>
        </p:spPr>
      </p:sp>
      <p:sp>
        <p:nvSpPr>
          <p:cNvPr name="Freeform 6" id="6"/>
          <p:cNvSpPr/>
          <p:nvPr/>
        </p:nvSpPr>
        <p:spPr>
          <a:xfrm flipH="false" flipV="false" rot="0">
            <a:off x="5198927" y="6050128"/>
            <a:ext cx="3945073" cy="3186405"/>
          </a:xfrm>
          <a:custGeom>
            <a:avLst/>
            <a:gdLst/>
            <a:ahLst/>
            <a:cxnLst/>
            <a:rect r="r" b="b" t="t" l="l"/>
            <a:pathLst>
              <a:path h="3186405" w="3945073">
                <a:moveTo>
                  <a:pt x="0" y="0"/>
                </a:moveTo>
                <a:lnTo>
                  <a:pt x="3945073" y="0"/>
                </a:lnTo>
                <a:lnTo>
                  <a:pt x="3945073" y="3186404"/>
                </a:lnTo>
                <a:lnTo>
                  <a:pt x="0" y="3186404"/>
                </a:lnTo>
                <a:lnTo>
                  <a:pt x="0" y="0"/>
                </a:lnTo>
                <a:close/>
              </a:path>
            </a:pathLst>
          </a:custGeom>
          <a:blipFill>
            <a:blip r:embed="rId5"/>
            <a:stretch>
              <a:fillRect l="0" t="0" r="0" b="0"/>
            </a:stretch>
          </a:blipFill>
        </p:spPr>
      </p:sp>
      <p:sp>
        <p:nvSpPr>
          <p:cNvPr name="Freeform 7" id="7"/>
          <p:cNvSpPr/>
          <p:nvPr/>
        </p:nvSpPr>
        <p:spPr>
          <a:xfrm flipH="false" flipV="false" rot="0">
            <a:off x="8084070" y="2894965"/>
            <a:ext cx="5599568" cy="2621763"/>
          </a:xfrm>
          <a:custGeom>
            <a:avLst/>
            <a:gdLst/>
            <a:ahLst/>
            <a:cxnLst/>
            <a:rect r="r" b="b" t="t" l="l"/>
            <a:pathLst>
              <a:path h="2621763" w="5599568">
                <a:moveTo>
                  <a:pt x="0" y="0"/>
                </a:moveTo>
                <a:lnTo>
                  <a:pt x="5599568" y="0"/>
                </a:lnTo>
                <a:lnTo>
                  <a:pt x="5599568" y="2621763"/>
                </a:lnTo>
                <a:lnTo>
                  <a:pt x="0" y="2621763"/>
                </a:lnTo>
                <a:lnTo>
                  <a:pt x="0" y="0"/>
                </a:lnTo>
                <a:close/>
              </a:path>
            </a:pathLst>
          </a:custGeom>
          <a:blipFill>
            <a:blip r:embed="rId6"/>
            <a:stretch>
              <a:fillRect l="0" t="0" r="0" b="0"/>
            </a:stretch>
          </a:blipFill>
          <a:ln w="38100" cap="sq">
            <a:solidFill>
              <a:srgbClr val="B16D44"/>
            </a:solidFill>
            <a:prstDash val="solid"/>
            <a:miter/>
          </a:ln>
        </p:spPr>
      </p:sp>
      <p:sp>
        <p:nvSpPr>
          <p:cNvPr name="Freeform 8" id="8"/>
          <p:cNvSpPr/>
          <p:nvPr/>
        </p:nvSpPr>
        <p:spPr>
          <a:xfrm flipH="false" flipV="false" rot="0">
            <a:off x="15486100" y="4432926"/>
            <a:ext cx="2087160" cy="1859470"/>
          </a:xfrm>
          <a:custGeom>
            <a:avLst/>
            <a:gdLst/>
            <a:ahLst/>
            <a:cxnLst/>
            <a:rect r="r" b="b" t="t" l="l"/>
            <a:pathLst>
              <a:path h="1859470" w="2087160">
                <a:moveTo>
                  <a:pt x="0" y="0"/>
                </a:moveTo>
                <a:lnTo>
                  <a:pt x="2087159" y="0"/>
                </a:lnTo>
                <a:lnTo>
                  <a:pt x="2087159" y="1859470"/>
                </a:lnTo>
                <a:lnTo>
                  <a:pt x="0" y="1859470"/>
                </a:lnTo>
                <a:lnTo>
                  <a:pt x="0" y="0"/>
                </a:lnTo>
                <a:close/>
              </a:path>
            </a:pathLst>
          </a:custGeom>
          <a:blipFill>
            <a:blip r:embed="rId7"/>
            <a:stretch>
              <a:fillRect l="0" t="0" r="0" b="0"/>
            </a:stretch>
          </a:blipFill>
          <a:ln w="38100" cap="sq">
            <a:solidFill>
              <a:srgbClr val="B16D44"/>
            </a:solidFill>
            <a:prstDash val="solid"/>
            <a:miter/>
          </a:ln>
        </p:spPr>
      </p:sp>
      <p:sp>
        <p:nvSpPr>
          <p:cNvPr name="Freeform 9" id="9"/>
          <p:cNvSpPr/>
          <p:nvPr/>
        </p:nvSpPr>
        <p:spPr>
          <a:xfrm flipH="false" flipV="false" rot="0">
            <a:off x="9790677" y="7248571"/>
            <a:ext cx="3107345" cy="2735339"/>
          </a:xfrm>
          <a:custGeom>
            <a:avLst/>
            <a:gdLst/>
            <a:ahLst/>
            <a:cxnLst/>
            <a:rect r="r" b="b" t="t" l="l"/>
            <a:pathLst>
              <a:path h="2735339" w="3107345">
                <a:moveTo>
                  <a:pt x="0" y="0"/>
                </a:moveTo>
                <a:lnTo>
                  <a:pt x="3107345" y="0"/>
                </a:lnTo>
                <a:lnTo>
                  <a:pt x="3107345" y="2735339"/>
                </a:lnTo>
                <a:lnTo>
                  <a:pt x="0" y="2735339"/>
                </a:lnTo>
                <a:lnTo>
                  <a:pt x="0" y="0"/>
                </a:lnTo>
                <a:close/>
              </a:path>
            </a:pathLst>
          </a:custGeom>
          <a:blipFill>
            <a:blip r:embed="rId8"/>
            <a:stretch>
              <a:fillRect l="0" t="0" r="0" b="0"/>
            </a:stretch>
          </a:blipFill>
          <a:ln w="38100" cap="sq">
            <a:solidFill>
              <a:srgbClr val="B16D44"/>
            </a:solidFill>
            <a:prstDash val="solid"/>
            <a:miter/>
          </a:ln>
        </p:spPr>
      </p:sp>
      <p:sp>
        <p:nvSpPr>
          <p:cNvPr name="TextBox 10" id="10"/>
          <p:cNvSpPr txBox="true"/>
          <p:nvPr/>
        </p:nvSpPr>
        <p:spPr>
          <a:xfrm rot="0">
            <a:off x="433707" y="9599186"/>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5060B"/>
                </a:solidFill>
                <a:latin typeface="Canva Sans"/>
                <a:ea typeface="Canva Sans"/>
                <a:cs typeface="Canva Sans"/>
                <a:sym typeface="Canva Sans"/>
              </a:rPr>
              <a:t>Page 36</a:t>
            </a:r>
          </a:p>
        </p:txBody>
      </p:sp>
      <p:sp>
        <p:nvSpPr>
          <p:cNvPr name="TextBox 11" id="11"/>
          <p:cNvSpPr txBox="true"/>
          <p:nvPr/>
        </p:nvSpPr>
        <p:spPr>
          <a:xfrm rot="0">
            <a:off x="659608" y="547053"/>
            <a:ext cx="16214705" cy="877569"/>
          </a:xfrm>
          <a:prstGeom prst="rect">
            <a:avLst/>
          </a:prstGeom>
        </p:spPr>
        <p:txBody>
          <a:bodyPr anchor="t" rtlCol="false" tIns="0" lIns="0" bIns="0" rIns="0">
            <a:spAutoFit/>
          </a:bodyPr>
          <a:lstStyle/>
          <a:p>
            <a:pPr algn="l">
              <a:lnSpc>
                <a:spcPts val="7280"/>
              </a:lnSpc>
              <a:spcBef>
                <a:spcPct val="0"/>
              </a:spcBef>
            </a:pPr>
            <a:r>
              <a:rPr lang="en-US" sz="5200">
                <a:solidFill>
                  <a:srgbClr val="05060B"/>
                </a:solidFill>
                <a:latin typeface="Anton"/>
                <a:ea typeface="Anton"/>
                <a:cs typeface="Anton"/>
                <a:sym typeface="Anton"/>
              </a:rPr>
              <a:t>LAUNCH MARKERS</a:t>
            </a:r>
          </a:p>
        </p:txBody>
      </p:sp>
      <p:grpSp>
        <p:nvGrpSpPr>
          <p:cNvPr name="Group 12" id="12"/>
          <p:cNvGrpSpPr/>
          <p:nvPr/>
        </p:nvGrpSpPr>
        <p:grpSpPr>
          <a:xfrm rot="0">
            <a:off x="14830659" y="2742939"/>
            <a:ext cx="1310881" cy="1310881"/>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85725" cap="sq">
              <a:solidFill>
                <a:srgbClr val="B16D44"/>
              </a:solidFill>
              <a:prstDash val="solid"/>
              <a:miter/>
            </a:ln>
          </p:spPr>
        </p:sp>
        <p:sp>
          <p:nvSpPr>
            <p:cNvPr name="TextBox 14" id="14"/>
            <p:cNvSpPr txBox="true"/>
            <p:nvPr/>
          </p:nvSpPr>
          <p:spPr>
            <a:xfrm>
              <a:off x="76200" y="28575"/>
              <a:ext cx="660400" cy="708025"/>
            </a:xfrm>
            <a:prstGeom prst="rect">
              <a:avLst/>
            </a:prstGeom>
          </p:spPr>
          <p:txBody>
            <a:bodyPr anchor="ctr" rtlCol="false" tIns="50800" lIns="50800" bIns="50800" rIns="50800"/>
            <a:lstStyle/>
            <a:p>
              <a:pPr algn="ctr">
                <a:lnSpc>
                  <a:spcPts val="2800"/>
                </a:lnSpc>
              </a:pPr>
            </a:p>
          </p:txBody>
        </p:sp>
      </p:grpSp>
      <p:sp>
        <p:nvSpPr>
          <p:cNvPr name="AutoShape 15" id="15"/>
          <p:cNvSpPr/>
          <p:nvPr/>
        </p:nvSpPr>
        <p:spPr>
          <a:xfrm flipH="true">
            <a:off x="13200690" y="3565555"/>
            <a:ext cx="1658331" cy="456122"/>
          </a:xfrm>
          <a:prstGeom prst="line">
            <a:avLst/>
          </a:prstGeom>
          <a:ln cap="flat" w="66675">
            <a:solidFill>
              <a:srgbClr val="B16D44"/>
            </a:solidFill>
            <a:prstDash val="solid"/>
            <a:headEnd type="none" len="sm" w="sm"/>
            <a:tailEnd type="arrow" len="sm" w="med"/>
          </a:ln>
        </p:spPr>
      </p:sp>
      <p:sp>
        <p:nvSpPr>
          <p:cNvPr name="AutoShape 16" id="16"/>
          <p:cNvSpPr/>
          <p:nvPr/>
        </p:nvSpPr>
        <p:spPr>
          <a:xfrm flipH="true">
            <a:off x="8295360" y="4295328"/>
            <a:ext cx="657451" cy="1997067"/>
          </a:xfrm>
          <a:prstGeom prst="line">
            <a:avLst/>
          </a:prstGeom>
          <a:ln cap="flat" w="66675">
            <a:solidFill>
              <a:srgbClr val="B16D44"/>
            </a:solidFill>
            <a:prstDash val="solid"/>
            <a:headEnd type="none" len="sm" w="sm"/>
            <a:tailEnd type="arrow" len="sm" w="med"/>
          </a:ln>
        </p:spPr>
      </p:sp>
      <p:sp>
        <p:nvSpPr>
          <p:cNvPr name="AutoShape 17" id="17"/>
          <p:cNvSpPr/>
          <p:nvPr/>
        </p:nvSpPr>
        <p:spPr>
          <a:xfrm flipH="true">
            <a:off x="12583847" y="7386553"/>
            <a:ext cx="1009027" cy="513555"/>
          </a:xfrm>
          <a:prstGeom prst="line">
            <a:avLst/>
          </a:prstGeom>
          <a:ln cap="flat" w="66675">
            <a:solidFill>
              <a:srgbClr val="B16D44"/>
            </a:solidFill>
            <a:prstDash val="solid"/>
            <a:headEnd type="none" len="sm" w="sm"/>
            <a:tailEnd type="arrow" len="sm" w="med"/>
          </a:ln>
        </p:spPr>
      </p:sp>
      <p:sp>
        <p:nvSpPr>
          <p:cNvPr name="AutoShape 18" id="18"/>
          <p:cNvSpPr/>
          <p:nvPr/>
        </p:nvSpPr>
        <p:spPr>
          <a:xfrm flipV="true">
            <a:off x="14858337" y="5644821"/>
            <a:ext cx="930326" cy="249280"/>
          </a:xfrm>
          <a:prstGeom prst="line">
            <a:avLst/>
          </a:prstGeom>
          <a:ln cap="flat" w="66675">
            <a:solidFill>
              <a:srgbClr val="B16D44"/>
            </a:solidFill>
            <a:prstDash val="solid"/>
            <a:headEnd type="none" len="sm" w="sm"/>
            <a:tailEnd type="arrow" len="sm" w="med"/>
          </a:ln>
        </p:spPr>
      </p:sp>
      <p:sp>
        <p:nvSpPr>
          <p:cNvPr name="TextBox 19" id="19"/>
          <p:cNvSpPr txBox="true"/>
          <p:nvPr/>
        </p:nvSpPr>
        <p:spPr>
          <a:xfrm rot="0">
            <a:off x="9701116" y="5970707"/>
            <a:ext cx="5068344" cy="893613"/>
          </a:xfrm>
          <a:prstGeom prst="rect">
            <a:avLst/>
          </a:prstGeom>
        </p:spPr>
        <p:txBody>
          <a:bodyPr anchor="t" rtlCol="false" tIns="0" lIns="0" bIns="0" rIns="0">
            <a:spAutoFit/>
          </a:bodyPr>
          <a:lstStyle/>
          <a:p>
            <a:pPr algn="l">
              <a:lnSpc>
                <a:spcPts val="2391"/>
              </a:lnSpc>
            </a:pPr>
            <a:r>
              <a:rPr lang="en-US" sz="2044" u="sng" b="true">
                <a:solidFill>
                  <a:srgbClr val="05060B"/>
                </a:solidFill>
                <a:latin typeface="Canva Sans Bold"/>
                <a:ea typeface="Canva Sans Bold"/>
                <a:cs typeface="Canva Sans Bold"/>
                <a:sym typeface="Canva Sans Bold"/>
              </a:rPr>
              <a:t>Florida Launch Sites</a:t>
            </a:r>
          </a:p>
          <a:p>
            <a:pPr algn="l">
              <a:lnSpc>
                <a:spcPts val="2391"/>
              </a:lnSpc>
            </a:pPr>
            <a:r>
              <a:rPr lang="en-US" sz="2044" b="true">
                <a:solidFill>
                  <a:srgbClr val="05060B"/>
                </a:solidFill>
                <a:latin typeface="Canva Sans Bold"/>
                <a:ea typeface="Canva Sans Bold"/>
                <a:cs typeface="Canva Sans Bold"/>
                <a:sym typeface="Canva Sans Bold"/>
              </a:rPr>
              <a:t>Green - successful </a:t>
            </a:r>
          </a:p>
          <a:p>
            <a:pPr algn="l">
              <a:lnSpc>
                <a:spcPts val="2391"/>
              </a:lnSpc>
            </a:pPr>
            <a:r>
              <a:rPr lang="en-US" sz="2044" b="true">
                <a:solidFill>
                  <a:srgbClr val="05060B"/>
                </a:solidFill>
                <a:latin typeface="Canva Sans Bold"/>
                <a:ea typeface="Canva Sans Bold"/>
                <a:cs typeface="Canva Sans Bold"/>
                <a:sym typeface="Canva Sans Bold"/>
              </a:rPr>
              <a:t>Red - failures</a:t>
            </a:r>
          </a:p>
        </p:txBody>
      </p:sp>
      <p:sp>
        <p:nvSpPr>
          <p:cNvPr name="TextBox 20" id="20"/>
          <p:cNvSpPr txBox="true"/>
          <p:nvPr/>
        </p:nvSpPr>
        <p:spPr>
          <a:xfrm rot="0">
            <a:off x="659608" y="5523901"/>
            <a:ext cx="5068344" cy="893613"/>
          </a:xfrm>
          <a:prstGeom prst="rect">
            <a:avLst/>
          </a:prstGeom>
        </p:spPr>
        <p:txBody>
          <a:bodyPr anchor="t" rtlCol="false" tIns="0" lIns="0" bIns="0" rIns="0">
            <a:spAutoFit/>
          </a:bodyPr>
          <a:lstStyle/>
          <a:p>
            <a:pPr algn="l">
              <a:lnSpc>
                <a:spcPts val="2391"/>
              </a:lnSpc>
            </a:pPr>
            <a:r>
              <a:rPr lang="en-US" sz="2044" u="sng" b="true">
                <a:solidFill>
                  <a:srgbClr val="05060B"/>
                </a:solidFill>
                <a:latin typeface="Canva Sans Bold"/>
                <a:ea typeface="Canva Sans Bold"/>
                <a:cs typeface="Canva Sans Bold"/>
                <a:sym typeface="Canva Sans Bold"/>
              </a:rPr>
              <a:t>California Lunch Sites</a:t>
            </a:r>
          </a:p>
          <a:p>
            <a:pPr algn="l">
              <a:lnSpc>
                <a:spcPts val="2391"/>
              </a:lnSpc>
            </a:pPr>
            <a:r>
              <a:rPr lang="en-US" sz="2044" b="true">
                <a:solidFill>
                  <a:srgbClr val="05060B"/>
                </a:solidFill>
                <a:latin typeface="Canva Sans Bold"/>
                <a:ea typeface="Canva Sans Bold"/>
                <a:cs typeface="Canva Sans Bold"/>
                <a:sym typeface="Canva Sans Bold"/>
              </a:rPr>
              <a:t>Green - successful </a:t>
            </a:r>
          </a:p>
          <a:p>
            <a:pPr algn="l">
              <a:lnSpc>
                <a:spcPts val="2391"/>
              </a:lnSpc>
            </a:pPr>
            <a:r>
              <a:rPr lang="en-US" sz="2044" b="true">
                <a:solidFill>
                  <a:srgbClr val="05060B"/>
                </a:solidFill>
                <a:latin typeface="Canva Sans Bold"/>
                <a:ea typeface="Canva Sans Bold"/>
                <a:cs typeface="Canva Sans Bold"/>
                <a:sym typeface="Canva Sans Bold"/>
              </a:rPr>
              <a:t>Red - failures</a:t>
            </a:r>
          </a:p>
        </p:txBody>
      </p:sp>
      <p:sp>
        <p:nvSpPr>
          <p:cNvPr name="TextBox 21" id="21"/>
          <p:cNvSpPr txBox="true"/>
          <p:nvPr/>
        </p:nvSpPr>
        <p:spPr>
          <a:xfrm rot="0">
            <a:off x="1028700" y="6492939"/>
            <a:ext cx="3869227" cy="893613"/>
          </a:xfrm>
          <a:prstGeom prst="rect">
            <a:avLst/>
          </a:prstGeom>
        </p:spPr>
        <p:txBody>
          <a:bodyPr anchor="t" rtlCol="false" tIns="0" lIns="0" bIns="0" rIns="0">
            <a:spAutoFit/>
          </a:bodyPr>
          <a:lstStyle/>
          <a:p>
            <a:pPr algn="r">
              <a:lnSpc>
                <a:spcPts val="2391"/>
              </a:lnSpc>
            </a:pPr>
            <a:r>
              <a:rPr lang="en-US" sz="2044">
                <a:solidFill>
                  <a:srgbClr val="05060B"/>
                </a:solidFill>
                <a:latin typeface="Canva Sans"/>
                <a:ea typeface="Canva Sans"/>
                <a:cs typeface="Canva Sans"/>
                <a:sym typeface="Canva Sans"/>
              </a:rPr>
              <a:t>Clusters can be clicked on to display each landing</a:t>
            </a:r>
          </a:p>
          <a:p>
            <a:pPr algn="r">
              <a:lnSpc>
                <a:spcPts val="2391"/>
              </a:lnSpc>
            </a:pP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47291" y="1926879"/>
            <a:ext cx="16712009" cy="7165274"/>
          </a:xfrm>
          <a:custGeom>
            <a:avLst/>
            <a:gdLst/>
            <a:ahLst/>
            <a:cxnLst/>
            <a:rect r="r" b="b" t="t" l="l"/>
            <a:pathLst>
              <a:path h="7165274" w="16712009">
                <a:moveTo>
                  <a:pt x="0" y="0"/>
                </a:moveTo>
                <a:lnTo>
                  <a:pt x="16712009" y="0"/>
                </a:lnTo>
                <a:lnTo>
                  <a:pt x="16712009" y="7165274"/>
                </a:lnTo>
                <a:lnTo>
                  <a:pt x="0" y="7165274"/>
                </a:lnTo>
                <a:lnTo>
                  <a:pt x="0" y="0"/>
                </a:lnTo>
                <a:close/>
              </a:path>
            </a:pathLst>
          </a:custGeom>
          <a:blipFill>
            <a:blip r:embed="rId2"/>
            <a:stretch>
              <a:fillRect l="0" t="0" r="0" b="0"/>
            </a:stretch>
          </a:blipFill>
        </p:spPr>
      </p:sp>
      <p:sp>
        <p:nvSpPr>
          <p:cNvPr name="TextBox 3" id="3"/>
          <p:cNvSpPr txBox="true"/>
          <p:nvPr/>
        </p:nvSpPr>
        <p:spPr>
          <a:xfrm rot="0">
            <a:off x="433707" y="9599186"/>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5060B"/>
                </a:solidFill>
                <a:latin typeface="Canva Sans"/>
                <a:ea typeface="Canva Sans"/>
                <a:cs typeface="Canva Sans"/>
                <a:sym typeface="Canva Sans"/>
              </a:rPr>
              <a:t>Page 37</a:t>
            </a:r>
          </a:p>
        </p:txBody>
      </p:sp>
      <p:sp>
        <p:nvSpPr>
          <p:cNvPr name="TextBox 4" id="4"/>
          <p:cNvSpPr txBox="true"/>
          <p:nvPr/>
        </p:nvSpPr>
        <p:spPr>
          <a:xfrm rot="0">
            <a:off x="547291" y="942975"/>
            <a:ext cx="16214705" cy="877569"/>
          </a:xfrm>
          <a:prstGeom prst="rect">
            <a:avLst/>
          </a:prstGeom>
        </p:spPr>
        <p:txBody>
          <a:bodyPr anchor="t" rtlCol="false" tIns="0" lIns="0" bIns="0" rIns="0">
            <a:spAutoFit/>
          </a:bodyPr>
          <a:lstStyle/>
          <a:p>
            <a:pPr algn="l">
              <a:lnSpc>
                <a:spcPts val="7280"/>
              </a:lnSpc>
              <a:spcBef>
                <a:spcPct val="0"/>
              </a:spcBef>
            </a:pPr>
            <a:r>
              <a:rPr lang="en-US" sz="5200">
                <a:solidFill>
                  <a:srgbClr val="05060B"/>
                </a:solidFill>
                <a:latin typeface="Anton"/>
                <a:ea typeface="Anton"/>
                <a:cs typeface="Anton"/>
                <a:sym typeface="Anton"/>
              </a:rPr>
              <a:t>CCAFS SLC-40 &amp; CCAFS LC-40 PROXIMITIES</a:t>
            </a:r>
          </a:p>
        </p:txBody>
      </p:sp>
      <p:sp>
        <p:nvSpPr>
          <p:cNvPr name="TextBox 5" id="5"/>
          <p:cNvSpPr txBox="true"/>
          <p:nvPr/>
        </p:nvSpPr>
        <p:spPr>
          <a:xfrm rot="0">
            <a:off x="11693652" y="2398028"/>
            <a:ext cx="5068344" cy="2074713"/>
          </a:xfrm>
          <a:prstGeom prst="rect">
            <a:avLst/>
          </a:prstGeom>
        </p:spPr>
        <p:txBody>
          <a:bodyPr anchor="t" rtlCol="false" tIns="0" lIns="0" bIns="0" rIns="0">
            <a:spAutoFit/>
          </a:bodyPr>
          <a:lstStyle/>
          <a:p>
            <a:pPr algn="l">
              <a:lnSpc>
                <a:spcPts val="2391"/>
              </a:lnSpc>
            </a:pPr>
            <a:r>
              <a:rPr lang="en-US" sz="2044" b="true">
                <a:solidFill>
                  <a:srgbClr val="000000"/>
                </a:solidFill>
                <a:latin typeface="Canva Sans Bold"/>
                <a:ea typeface="Canva Sans Bold"/>
                <a:cs typeface="Canva Sans Bold"/>
                <a:sym typeface="Canva Sans Bold"/>
              </a:rPr>
              <a:t>Launch sites are not in close proximity to railways, highways or cities.</a:t>
            </a:r>
          </a:p>
          <a:p>
            <a:pPr algn="l">
              <a:lnSpc>
                <a:spcPts val="2391"/>
              </a:lnSpc>
            </a:pPr>
            <a:r>
              <a:rPr lang="en-US" sz="2044" b="true">
                <a:solidFill>
                  <a:srgbClr val="000000"/>
                </a:solidFill>
                <a:latin typeface="Canva Sans Bold"/>
                <a:ea typeface="Canva Sans Bold"/>
                <a:cs typeface="Canva Sans Bold"/>
                <a:sym typeface="Canva Sans Bold"/>
              </a:rPr>
              <a:t>Launch sites are in close proximity to coastlines so that launch failures can land in the sea to avoid rockets falling on desensely populated areas like cities.</a:t>
            </a: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433707" y="9599186"/>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5060B"/>
                </a:solidFill>
                <a:latin typeface="Canva Sans"/>
                <a:ea typeface="Canva Sans"/>
                <a:cs typeface="Canva Sans"/>
                <a:sym typeface="Canva Sans"/>
              </a:rPr>
              <a:t>Page 38</a:t>
            </a:r>
          </a:p>
        </p:txBody>
      </p:sp>
      <p:sp>
        <p:nvSpPr>
          <p:cNvPr name="Freeform 3" id="3"/>
          <p:cNvSpPr/>
          <p:nvPr/>
        </p:nvSpPr>
        <p:spPr>
          <a:xfrm flipH="false" flipV="false" rot="0">
            <a:off x="663379" y="1912558"/>
            <a:ext cx="16961243" cy="7123722"/>
          </a:xfrm>
          <a:custGeom>
            <a:avLst/>
            <a:gdLst/>
            <a:ahLst/>
            <a:cxnLst/>
            <a:rect r="r" b="b" t="t" l="l"/>
            <a:pathLst>
              <a:path h="7123722" w="16961243">
                <a:moveTo>
                  <a:pt x="0" y="0"/>
                </a:moveTo>
                <a:lnTo>
                  <a:pt x="16961242" y="0"/>
                </a:lnTo>
                <a:lnTo>
                  <a:pt x="16961242" y="7123722"/>
                </a:lnTo>
                <a:lnTo>
                  <a:pt x="0" y="7123722"/>
                </a:lnTo>
                <a:lnTo>
                  <a:pt x="0" y="0"/>
                </a:lnTo>
                <a:close/>
              </a:path>
            </a:pathLst>
          </a:custGeom>
          <a:blipFill>
            <a:blip r:embed="rId2"/>
            <a:stretch>
              <a:fillRect l="0" t="0" r="0" b="0"/>
            </a:stretch>
          </a:blipFill>
        </p:spPr>
      </p:sp>
      <p:sp>
        <p:nvSpPr>
          <p:cNvPr name="TextBox 4" id="4"/>
          <p:cNvSpPr txBox="true"/>
          <p:nvPr/>
        </p:nvSpPr>
        <p:spPr>
          <a:xfrm rot="0">
            <a:off x="663379" y="547053"/>
            <a:ext cx="16214705" cy="877569"/>
          </a:xfrm>
          <a:prstGeom prst="rect">
            <a:avLst/>
          </a:prstGeom>
        </p:spPr>
        <p:txBody>
          <a:bodyPr anchor="t" rtlCol="false" tIns="0" lIns="0" bIns="0" rIns="0">
            <a:spAutoFit/>
          </a:bodyPr>
          <a:lstStyle/>
          <a:p>
            <a:pPr algn="l">
              <a:lnSpc>
                <a:spcPts val="7280"/>
              </a:lnSpc>
              <a:spcBef>
                <a:spcPct val="0"/>
              </a:spcBef>
            </a:pPr>
            <a:r>
              <a:rPr lang="en-US" sz="5200">
                <a:solidFill>
                  <a:srgbClr val="05060B"/>
                </a:solidFill>
                <a:latin typeface="Anton"/>
                <a:ea typeface="Anton"/>
                <a:cs typeface="Anton"/>
                <a:sym typeface="Anton"/>
              </a:rPr>
              <a:t>KSC LC-39A PROXIMITIES</a:t>
            </a:r>
          </a:p>
        </p:txBody>
      </p:sp>
      <p:sp>
        <p:nvSpPr>
          <p:cNvPr name="TextBox 5" id="5"/>
          <p:cNvSpPr txBox="true"/>
          <p:nvPr/>
        </p:nvSpPr>
        <p:spPr>
          <a:xfrm rot="0">
            <a:off x="12190956" y="2319376"/>
            <a:ext cx="5068344" cy="2074713"/>
          </a:xfrm>
          <a:prstGeom prst="rect">
            <a:avLst/>
          </a:prstGeom>
        </p:spPr>
        <p:txBody>
          <a:bodyPr anchor="t" rtlCol="false" tIns="0" lIns="0" bIns="0" rIns="0">
            <a:spAutoFit/>
          </a:bodyPr>
          <a:lstStyle/>
          <a:p>
            <a:pPr algn="l">
              <a:lnSpc>
                <a:spcPts val="2391"/>
              </a:lnSpc>
            </a:pPr>
            <a:r>
              <a:rPr lang="en-US" sz="2044" b="true">
                <a:solidFill>
                  <a:srgbClr val="000000"/>
                </a:solidFill>
                <a:latin typeface="Canva Sans Bold"/>
                <a:ea typeface="Canva Sans Bold"/>
                <a:cs typeface="Canva Sans Bold"/>
                <a:sym typeface="Canva Sans Bold"/>
              </a:rPr>
              <a:t>Launch sites are not in close proximity to railways, highways or cities.</a:t>
            </a:r>
          </a:p>
          <a:p>
            <a:pPr algn="l">
              <a:lnSpc>
                <a:spcPts val="2391"/>
              </a:lnSpc>
            </a:pPr>
            <a:r>
              <a:rPr lang="en-US" sz="2044" b="true">
                <a:solidFill>
                  <a:srgbClr val="000000"/>
                </a:solidFill>
                <a:latin typeface="Canva Sans Bold"/>
                <a:ea typeface="Canva Sans Bold"/>
                <a:cs typeface="Canva Sans Bold"/>
                <a:sym typeface="Canva Sans Bold"/>
              </a:rPr>
              <a:t>Launch sites are in close proximity to coastlines so that launch failures can land in the sea to avoid rockets falling on desensely populated areas like cities.</a:t>
            </a:r>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433707" y="9599186"/>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5060B"/>
                </a:solidFill>
                <a:latin typeface="Canva Sans"/>
                <a:ea typeface="Canva Sans"/>
                <a:cs typeface="Canva Sans"/>
                <a:sym typeface="Canva Sans"/>
              </a:rPr>
              <a:t>Page 39</a:t>
            </a:r>
          </a:p>
        </p:txBody>
      </p:sp>
      <p:grpSp>
        <p:nvGrpSpPr>
          <p:cNvPr name="Group 3" id="3"/>
          <p:cNvGrpSpPr/>
          <p:nvPr/>
        </p:nvGrpSpPr>
        <p:grpSpPr>
          <a:xfrm rot="0">
            <a:off x="11081626" y="0"/>
            <a:ext cx="7831370" cy="10287000"/>
            <a:chOff x="0" y="0"/>
            <a:chExt cx="1168151" cy="1534440"/>
          </a:xfrm>
        </p:grpSpPr>
        <p:sp>
          <p:nvSpPr>
            <p:cNvPr name="Freeform 4" id="4"/>
            <p:cNvSpPr/>
            <p:nvPr/>
          </p:nvSpPr>
          <p:spPr>
            <a:xfrm flipH="false" flipV="false" rot="0">
              <a:off x="0" y="0"/>
              <a:ext cx="1168150" cy="1534440"/>
            </a:xfrm>
            <a:custGeom>
              <a:avLst/>
              <a:gdLst/>
              <a:ahLst/>
              <a:cxnLst/>
              <a:rect r="r" b="b" t="t" l="l"/>
              <a:pathLst>
                <a:path h="1534440" w="1168150">
                  <a:moveTo>
                    <a:pt x="0" y="0"/>
                  </a:moveTo>
                  <a:lnTo>
                    <a:pt x="1168150" y="0"/>
                  </a:lnTo>
                  <a:lnTo>
                    <a:pt x="1168150" y="1534440"/>
                  </a:lnTo>
                  <a:lnTo>
                    <a:pt x="0" y="1534440"/>
                  </a:lnTo>
                  <a:close/>
                </a:path>
              </a:pathLst>
            </a:custGeom>
            <a:blipFill>
              <a:blip r:embed="rId2">
                <a:alphaModFix amt="82000"/>
              </a:blip>
              <a:stretch>
                <a:fillRect l="-39510" t="0" r="-39510" b="0"/>
              </a:stretch>
            </a:blipFill>
            <a:ln cap="sq">
              <a:noFill/>
              <a:prstDash val="solid"/>
              <a:miter/>
            </a:ln>
          </p:spPr>
        </p:sp>
      </p:grpSp>
      <p:sp>
        <p:nvSpPr>
          <p:cNvPr name="TextBox 5" id="5"/>
          <p:cNvSpPr txBox="true"/>
          <p:nvPr/>
        </p:nvSpPr>
        <p:spPr>
          <a:xfrm rot="0">
            <a:off x="1009724" y="3735787"/>
            <a:ext cx="8223639" cy="2129626"/>
          </a:xfrm>
          <a:prstGeom prst="rect">
            <a:avLst/>
          </a:prstGeom>
        </p:spPr>
        <p:txBody>
          <a:bodyPr anchor="t" rtlCol="false" tIns="0" lIns="0" bIns="0" rIns="0">
            <a:spAutoFit/>
          </a:bodyPr>
          <a:lstStyle/>
          <a:p>
            <a:pPr algn="l">
              <a:lnSpc>
                <a:spcPts val="8619"/>
              </a:lnSpc>
              <a:spcBef>
                <a:spcPct val="0"/>
              </a:spcBef>
            </a:pPr>
            <a:r>
              <a:rPr lang="en-US" sz="6156">
                <a:solidFill>
                  <a:srgbClr val="05060B"/>
                </a:solidFill>
                <a:latin typeface="Anton"/>
                <a:ea typeface="Anton"/>
                <a:cs typeface="Anton"/>
                <a:sym typeface="Anton"/>
              </a:rPr>
              <a:t>BUILD A DASHBOARD WITH PLOTLY DASH</a:t>
            </a:r>
          </a:p>
        </p:txBody>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831722" y="2005330"/>
            <a:ext cx="3361927" cy="2234509"/>
          </a:xfrm>
          <a:custGeom>
            <a:avLst/>
            <a:gdLst/>
            <a:ahLst/>
            <a:cxnLst/>
            <a:rect r="r" b="b" t="t" l="l"/>
            <a:pathLst>
              <a:path h="2234509" w="3361927">
                <a:moveTo>
                  <a:pt x="0" y="0"/>
                </a:moveTo>
                <a:lnTo>
                  <a:pt x="3361927" y="0"/>
                </a:lnTo>
                <a:lnTo>
                  <a:pt x="3361927" y="2234509"/>
                </a:lnTo>
                <a:lnTo>
                  <a:pt x="0" y="2234509"/>
                </a:lnTo>
                <a:lnTo>
                  <a:pt x="0" y="0"/>
                </a:lnTo>
                <a:close/>
              </a:path>
            </a:pathLst>
          </a:custGeom>
          <a:blipFill>
            <a:blip r:embed="rId2"/>
            <a:stretch>
              <a:fillRect l="-742074" t="-76193" r="0" b="-189636"/>
            </a:stretch>
          </a:blipFill>
        </p:spPr>
      </p:sp>
      <p:sp>
        <p:nvSpPr>
          <p:cNvPr name="TextBox 3" id="3"/>
          <p:cNvSpPr txBox="true"/>
          <p:nvPr/>
        </p:nvSpPr>
        <p:spPr>
          <a:xfrm rot="0">
            <a:off x="433707" y="9599186"/>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5060B"/>
                </a:solidFill>
                <a:latin typeface="Canva Sans"/>
                <a:ea typeface="Canva Sans"/>
                <a:cs typeface="Canva Sans"/>
                <a:sym typeface="Canva Sans"/>
              </a:rPr>
              <a:t>Page 40</a:t>
            </a:r>
          </a:p>
        </p:txBody>
      </p:sp>
      <p:sp>
        <p:nvSpPr>
          <p:cNvPr name="TextBox 4" id="4"/>
          <p:cNvSpPr txBox="true"/>
          <p:nvPr/>
        </p:nvSpPr>
        <p:spPr>
          <a:xfrm rot="0">
            <a:off x="496615" y="547053"/>
            <a:ext cx="16214705" cy="877569"/>
          </a:xfrm>
          <a:prstGeom prst="rect">
            <a:avLst/>
          </a:prstGeom>
        </p:spPr>
        <p:txBody>
          <a:bodyPr anchor="t" rtlCol="false" tIns="0" lIns="0" bIns="0" rIns="0">
            <a:spAutoFit/>
          </a:bodyPr>
          <a:lstStyle/>
          <a:p>
            <a:pPr algn="l">
              <a:lnSpc>
                <a:spcPts val="7280"/>
              </a:lnSpc>
              <a:spcBef>
                <a:spcPct val="0"/>
              </a:spcBef>
            </a:pPr>
            <a:r>
              <a:rPr lang="en-US" sz="5200">
                <a:solidFill>
                  <a:srgbClr val="05060B"/>
                </a:solidFill>
                <a:latin typeface="Anton"/>
                <a:ea typeface="Anton"/>
                <a:cs typeface="Anton"/>
                <a:sym typeface="Anton"/>
              </a:rPr>
              <a:t>TOTAL SUCCESS LAUNCHES BY SITE</a:t>
            </a:r>
          </a:p>
        </p:txBody>
      </p:sp>
      <p:sp>
        <p:nvSpPr>
          <p:cNvPr name="Freeform 5" id="5"/>
          <p:cNvSpPr/>
          <p:nvPr/>
        </p:nvSpPr>
        <p:spPr>
          <a:xfrm flipH="false" flipV="false" rot="0">
            <a:off x="1655395" y="1895533"/>
            <a:ext cx="6747051" cy="6495933"/>
          </a:xfrm>
          <a:custGeom>
            <a:avLst/>
            <a:gdLst/>
            <a:ahLst/>
            <a:cxnLst/>
            <a:rect r="r" b="b" t="t" l="l"/>
            <a:pathLst>
              <a:path h="6495933" w="6747051">
                <a:moveTo>
                  <a:pt x="0" y="0"/>
                </a:moveTo>
                <a:lnTo>
                  <a:pt x="6747051" y="0"/>
                </a:lnTo>
                <a:lnTo>
                  <a:pt x="6747051" y="6495934"/>
                </a:lnTo>
                <a:lnTo>
                  <a:pt x="0" y="6495934"/>
                </a:lnTo>
                <a:lnTo>
                  <a:pt x="0" y="0"/>
                </a:lnTo>
                <a:close/>
              </a:path>
            </a:pathLst>
          </a:custGeom>
          <a:blipFill>
            <a:blip r:embed="rId2"/>
            <a:stretch>
              <a:fillRect l="-132510" t="-22620" r="-176343" b="0"/>
            </a:stretch>
          </a:blipFill>
        </p:spPr>
      </p:sp>
      <p:sp>
        <p:nvSpPr>
          <p:cNvPr name="TextBox 6" id="6"/>
          <p:cNvSpPr txBox="true"/>
          <p:nvPr/>
        </p:nvSpPr>
        <p:spPr>
          <a:xfrm rot="0">
            <a:off x="9701116" y="5970707"/>
            <a:ext cx="5068344" cy="893613"/>
          </a:xfrm>
          <a:prstGeom prst="rect">
            <a:avLst/>
          </a:prstGeom>
        </p:spPr>
        <p:txBody>
          <a:bodyPr anchor="t" rtlCol="false" tIns="0" lIns="0" bIns="0" rIns="0">
            <a:spAutoFit/>
          </a:bodyPr>
          <a:lstStyle/>
          <a:p>
            <a:pPr algn="l">
              <a:lnSpc>
                <a:spcPts val="2391"/>
              </a:lnSpc>
            </a:pPr>
            <a:r>
              <a:rPr lang="en-US" sz="2044">
                <a:solidFill>
                  <a:srgbClr val="05060B"/>
                </a:solidFill>
                <a:latin typeface="Canva Sans"/>
                <a:ea typeface="Canva Sans"/>
                <a:cs typeface="Canva Sans"/>
                <a:sym typeface="Canva Sans"/>
              </a:rPr>
              <a:t>KSC LC-39A has the most successful launches </a:t>
            </a:r>
          </a:p>
          <a:p>
            <a:pPr algn="l">
              <a:lnSpc>
                <a:spcPts val="2391"/>
              </a:lnSpc>
            </a:pPr>
            <a:r>
              <a:rPr lang="en-US" sz="2044">
                <a:solidFill>
                  <a:srgbClr val="05060B"/>
                </a:solidFill>
                <a:latin typeface="Canva Sans"/>
                <a:ea typeface="Canva Sans"/>
                <a:cs typeface="Canva Sans"/>
                <a:sym typeface="Canva Sans"/>
              </a:rPr>
              <a:t>CCAFS SLC-40 least success</a:t>
            </a:r>
          </a:p>
        </p:txBody>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98057" y="1866712"/>
            <a:ext cx="3803236" cy="4338121"/>
          </a:xfrm>
          <a:custGeom>
            <a:avLst/>
            <a:gdLst/>
            <a:ahLst/>
            <a:cxnLst/>
            <a:rect r="r" b="b" t="t" l="l"/>
            <a:pathLst>
              <a:path h="4338121" w="3803236">
                <a:moveTo>
                  <a:pt x="0" y="0"/>
                </a:moveTo>
                <a:lnTo>
                  <a:pt x="3803236" y="0"/>
                </a:lnTo>
                <a:lnTo>
                  <a:pt x="3803236" y="4338121"/>
                </a:lnTo>
                <a:lnTo>
                  <a:pt x="0" y="4338121"/>
                </a:lnTo>
                <a:lnTo>
                  <a:pt x="0" y="0"/>
                </a:lnTo>
                <a:close/>
              </a:path>
            </a:pathLst>
          </a:custGeom>
          <a:blipFill>
            <a:blip r:embed="rId2"/>
            <a:stretch>
              <a:fillRect l="-133567" t="-1724" r="-163121" b="0"/>
            </a:stretch>
          </a:blipFill>
        </p:spPr>
      </p:sp>
      <p:sp>
        <p:nvSpPr>
          <p:cNvPr name="Freeform 3" id="3"/>
          <p:cNvSpPr/>
          <p:nvPr/>
        </p:nvSpPr>
        <p:spPr>
          <a:xfrm flipH="false" flipV="false" rot="0">
            <a:off x="3486754" y="5903962"/>
            <a:ext cx="3822363" cy="3675301"/>
          </a:xfrm>
          <a:custGeom>
            <a:avLst/>
            <a:gdLst/>
            <a:ahLst/>
            <a:cxnLst/>
            <a:rect r="r" b="b" t="t" l="l"/>
            <a:pathLst>
              <a:path h="3675301" w="3822363">
                <a:moveTo>
                  <a:pt x="0" y="0"/>
                </a:moveTo>
                <a:lnTo>
                  <a:pt x="3822363" y="0"/>
                </a:lnTo>
                <a:lnTo>
                  <a:pt x="3822363" y="3675301"/>
                </a:lnTo>
                <a:lnTo>
                  <a:pt x="0" y="3675301"/>
                </a:lnTo>
                <a:lnTo>
                  <a:pt x="0" y="0"/>
                </a:lnTo>
                <a:close/>
              </a:path>
            </a:pathLst>
          </a:custGeom>
          <a:blipFill>
            <a:blip r:embed="rId3"/>
            <a:stretch>
              <a:fillRect l="-129012" t="-17644" r="-157715" b="0"/>
            </a:stretch>
          </a:blipFill>
        </p:spPr>
      </p:sp>
      <p:sp>
        <p:nvSpPr>
          <p:cNvPr name="Freeform 4" id="4"/>
          <p:cNvSpPr/>
          <p:nvPr/>
        </p:nvSpPr>
        <p:spPr>
          <a:xfrm flipH="false" flipV="false" rot="0">
            <a:off x="6778592" y="2573418"/>
            <a:ext cx="4249641" cy="3669401"/>
          </a:xfrm>
          <a:custGeom>
            <a:avLst/>
            <a:gdLst/>
            <a:ahLst/>
            <a:cxnLst/>
            <a:rect r="r" b="b" t="t" l="l"/>
            <a:pathLst>
              <a:path h="3669401" w="4249641">
                <a:moveTo>
                  <a:pt x="0" y="0"/>
                </a:moveTo>
                <a:lnTo>
                  <a:pt x="4249640" y="0"/>
                </a:lnTo>
                <a:lnTo>
                  <a:pt x="4249640" y="3669402"/>
                </a:lnTo>
                <a:lnTo>
                  <a:pt x="0" y="3669402"/>
                </a:lnTo>
                <a:lnTo>
                  <a:pt x="0" y="0"/>
                </a:lnTo>
                <a:close/>
              </a:path>
            </a:pathLst>
          </a:custGeom>
          <a:blipFill>
            <a:blip r:embed="rId4"/>
            <a:stretch>
              <a:fillRect l="0" t="0" r="0" b="0"/>
            </a:stretch>
          </a:blipFill>
        </p:spPr>
      </p:sp>
      <p:sp>
        <p:nvSpPr>
          <p:cNvPr name="Freeform 5" id="5"/>
          <p:cNvSpPr/>
          <p:nvPr/>
        </p:nvSpPr>
        <p:spPr>
          <a:xfrm flipH="false" flipV="false" rot="0">
            <a:off x="10286520" y="6001834"/>
            <a:ext cx="4242849" cy="3795789"/>
          </a:xfrm>
          <a:custGeom>
            <a:avLst/>
            <a:gdLst/>
            <a:ahLst/>
            <a:cxnLst/>
            <a:rect r="r" b="b" t="t" l="l"/>
            <a:pathLst>
              <a:path h="3795789" w="4242849">
                <a:moveTo>
                  <a:pt x="0" y="0"/>
                </a:moveTo>
                <a:lnTo>
                  <a:pt x="4242850" y="0"/>
                </a:lnTo>
                <a:lnTo>
                  <a:pt x="4242850" y="3795790"/>
                </a:lnTo>
                <a:lnTo>
                  <a:pt x="0" y="3795790"/>
                </a:lnTo>
                <a:lnTo>
                  <a:pt x="0" y="0"/>
                </a:lnTo>
                <a:close/>
              </a:path>
            </a:pathLst>
          </a:custGeom>
          <a:blipFill>
            <a:blip r:embed="rId5"/>
            <a:stretch>
              <a:fillRect l="0" t="0" r="0" b="0"/>
            </a:stretch>
          </a:blipFill>
        </p:spPr>
      </p:sp>
      <p:sp>
        <p:nvSpPr>
          <p:cNvPr name="Freeform 6" id="6"/>
          <p:cNvSpPr/>
          <p:nvPr/>
        </p:nvSpPr>
        <p:spPr>
          <a:xfrm flipH="false" flipV="false" rot="0">
            <a:off x="12259353" y="2129578"/>
            <a:ext cx="2270017" cy="1186135"/>
          </a:xfrm>
          <a:custGeom>
            <a:avLst/>
            <a:gdLst/>
            <a:ahLst/>
            <a:cxnLst/>
            <a:rect r="r" b="b" t="t" l="l"/>
            <a:pathLst>
              <a:path h="1186135" w="2270017">
                <a:moveTo>
                  <a:pt x="0" y="0"/>
                </a:moveTo>
                <a:lnTo>
                  <a:pt x="2270017" y="0"/>
                </a:lnTo>
                <a:lnTo>
                  <a:pt x="2270017" y="1186134"/>
                </a:lnTo>
                <a:lnTo>
                  <a:pt x="0" y="1186134"/>
                </a:lnTo>
                <a:lnTo>
                  <a:pt x="0" y="0"/>
                </a:lnTo>
                <a:close/>
              </a:path>
            </a:pathLst>
          </a:custGeom>
          <a:blipFill>
            <a:blip r:embed="rId6"/>
            <a:stretch>
              <a:fillRect l="0" t="0" r="0" b="0"/>
            </a:stretch>
          </a:blipFill>
        </p:spPr>
      </p:sp>
      <p:sp>
        <p:nvSpPr>
          <p:cNvPr name="TextBox 7" id="7"/>
          <p:cNvSpPr txBox="true"/>
          <p:nvPr/>
        </p:nvSpPr>
        <p:spPr>
          <a:xfrm rot="0">
            <a:off x="433707" y="9599186"/>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5060B"/>
                </a:solidFill>
                <a:latin typeface="Canva Sans"/>
                <a:ea typeface="Canva Sans"/>
                <a:cs typeface="Canva Sans"/>
                <a:sym typeface="Canva Sans"/>
              </a:rPr>
              <a:t>Page 41</a:t>
            </a:r>
          </a:p>
        </p:txBody>
      </p:sp>
      <p:sp>
        <p:nvSpPr>
          <p:cNvPr name="TextBox 8" id="8"/>
          <p:cNvSpPr txBox="true"/>
          <p:nvPr/>
        </p:nvSpPr>
        <p:spPr>
          <a:xfrm rot="0">
            <a:off x="547291" y="547053"/>
            <a:ext cx="16214705" cy="877569"/>
          </a:xfrm>
          <a:prstGeom prst="rect">
            <a:avLst/>
          </a:prstGeom>
        </p:spPr>
        <p:txBody>
          <a:bodyPr anchor="t" rtlCol="false" tIns="0" lIns="0" bIns="0" rIns="0">
            <a:spAutoFit/>
          </a:bodyPr>
          <a:lstStyle/>
          <a:p>
            <a:pPr algn="l">
              <a:lnSpc>
                <a:spcPts val="7280"/>
              </a:lnSpc>
              <a:spcBef>
                <a:spcPct val="0"/>
              </a:spcBef>
            </a:pPr>
            <a:r>
              <a:rPr lang="en-US" sz="5200">
                <a:solidFill>
                  <a:srgbClr val="05060B"/>
                </a:solidFill>
                <a:latin typeface="Anton"/>
                <a:ea typeface="Anton"/>
                <a:cs typeface="Anton"/>
                <a:sym typeface="Anton"/>
              </a:rPr>
              <a:t>TOTAL SUCCESS LAUNCHES</a:t>
            </a:r>
          </a:p>
        </p:txBody>
      </p:sp>
      <p:sp>
        <p:nvSpPr>
          <p:cNvPr name="TextBox 9" id="9"/>
          <p:cNvSpPr txBox="true"/>
          <p:nvPr/>
        </p:nvSpPr>
        <p:spPr>
          <a:xfrm rot="0">
            <a:off x="1028700" y="1800037"/>
            <a:ext cx="10765485" cy="592407"/>
          </a:xfrm>
          <a:prstGeom prst="rect">
            <a:avLst/>
          </a:prstGeom>
        </p:spPr>
        <p:txBody>
          <a:bodyPr anchor="t" rtlCol="false" tIns="0" lIns="0" bIns="0" rIns="0">
            <a:spAutoFit/>
          </a:bodyPr>
          <a:lstStyle/>
          <a:p>
            <a:pPr algn="l">
              <a:lnSpc>
                <a:spcPts val="4833"/>
              </a:lnSpc>
              <a:spcBef>
                <a:spcPct val="0"/>
              </a:spcBef>
            </a:pPr>
            <a:r>
              <a:rPr lang="en-US" sz="3452">
                <a:solidFill>
                  <a:srgbClr val="05060B"/>
                </a:solidFill>
                <a:latin typeface="Anton"/>
                <a:ea typeface="Anton"/>
                <a:cs typeface="Anton"/>
                <a:sym typeface="Anton"/>
              </a:rPr>
              <a:t>CCAFS LC-40</a:t>
            </a:r>
          </a:p>
        </p:txBody>
      </p:sp>
      <p:sp>
        <p:nvSpPr>
          <p:cNvPr name="TextBox 10" id="10"/>
          <p:cNvSpPr txBox="true"/>
          <p:nvPr/>
        </p:nvSpPr>
        <p:spPr>
          <a:xfrm rot="0">
            <a:off x="4500261" y="5168905"/>
            <a:ext cx="10765485" cy="592407"/>
          </a:xfrm>
          <a:prstGeom prst="rect">
            <a:avLst/>
          </a:prstGeom>
        </p:spPr>
        <p:txBody>
          <a:bodyPr anchor="t" rtlCol="false" tIns="0" lIns="0" bIns="0" rIns="0">
            <a:spAutoFit/>
          </a:bodyPr>
          <a:lstStyle/>
          <a:p>
            <a:pPr algn="l">
              <a:lnSpc>
                <a:spcPts val="4833"/>
              </a:lnSpc>
              <a:spcBef>
                <a:spcPct val="0"/>
              </a:spcBef>
            </a:pPr>
            <a:r>
              <a:rPr lang="en-US" sz="3452">
                <a:solidFill>
                  <a:srgbClr val="05060B"/>
                </a:solidFill>
                <a:latin typeface="Anton"/>
                <a:ea typeface="Anton"/>
                <a:cs typeface="Anton"/>
                <a:sym typeface="Anton"/>
              </a:rPr>
              <a:t>KSC LC-39A</a:t>
            </a:r>
          </a:p>
        </p:txBody>
      </p:sp>
      <p:sp>
        <p:nvSpPr>
          <p:cNvPr name="TextBox 11" id="11"/>
          <p:cNvSpPr txBox="true"/>
          <p:nvPr/>
        </p:nvSpPr>
        <p:spPr>
          <a:xfrm rot="0">
            <a:off x="8150293" y="1800037"/>
            <a:ext cx="10765485" cy="592407"/>
          </a:xfrm>
          <a:prstGeom prst="rect">
            <a:avLst/>
          </a:prstGeom>
        </p:spPr>
        <p:txBody>
          <a:bodyPr anchor="t" rtlCol="false" tIns="0" lIns="0" bIns="0" rIns="0">
            <a:spAutoFit/>
          </a:bodyPr>
          <a:lstStyle/>
          <a:p>
            <a:pPr algn="l">
              <a:lnSpc>
                <a:spcPts val="4833"/>
              </a:lnSpc>
              <a:spcBef>
                <a:spcPct val="0"/>
              </a:spcBef>
            </a:pPr>
            <a:r>
              <a:rPr lang="en-US" sz="3452">
                <a:solidFill>
                  <a:srgbClr val="05060B"/>
                </a:solidFill>
                <a:latin typeface="Anton"/>
                <a:ea typeface="Anton"/>
                <a:cs typeface="Anton"/>
                <a:sym typeface="Anton"/>
              </a:rPr>
              <a:t>VAFB SLC-4E</a:t>
            </a:r>
          </a:p>
        </p:txBody>
      </p:sp>
      <p:sp>
        <p:nvSpPr>
          <p:cNvPr name="TextBox 12" id="12"/>
          <p:cNvSpPr txBox="true"/>
          <p:nvPr/>
        </p:nvSpPr>
        <p:spPr>
          <a:xfrm rot="0">
            <a:off x="11577165" y="5168905"/>
            <a:ext cx="10765485" cy="592407"/>
          </a:xfrm>
          <a:prstGeom prst="rect">
            <a:avLst/>
          </a:prstGeom>
        </p:spPr>
        <p:txBody>
          <a:bodyPr anchor="t" rtlCol="false" tIns="0" lIns="0" bIns="0" rIns="0">
            <a:spAutoFit/>
          </a:bodyPr>
          <a:lstStyle/>
          <a:p>
            <a:pPr algn="l">
              <a:lnSpc>
                <a:spcPts val="4833"/>
              </a:lnSpc>
              <a:spcBef>
                <a:spcPct val="0"/>
              </a:spcBef>
            </a:pPr>
            <a:r>
              <a:rPr lang="en-US" sz="3452">
                <a:solidFill>
                  <a:srgbClr val="05060B"/>
                </a:solidFill>
                <a:latin typeface="Anton"/>
                <a:ea typeface="Anton"/>
                <a:cs typeface="Anton"/>
                <a:sym typeface="Anton"/>
              </a:rPr>
              <a:t>VAFB SLC-4E</a:t>
            </a:r>
          </a:p>
        </p:txBody>
      </p:sp>
      <p:sp>
        <p:nvSpPr>
          <p:cNvPr name="TextBox 13" id="13"/>
          <p:cNvSpPr txBox="true"/>
          <p:nvPr/>
        </p:nvSpPr>
        <p:spPr>
          <a:xfrm rot="0">
            <a:off x="1028700" y="7157647"/>
            <a:ext cx="2345626" cy="1484163"/>
          </a:xfrm>
          <a:prstGeom prst="rect">
            <a:avLst/>
          </a:prstGeom>
        </p:spPr>
        <p:txBody>
          <a:bodyPr anchor="t" rtlCol="false" tIns="0" lIns="0" bIns="0" rIns="0">
            <a:spAutoFit/>
          </a:bodyPr>
          <a:lstStyle/>
          <a:p>
            <a:pPr algn="l">
              <a:lnSpc>
                <a:spcPts val="2391"/>
              </a:lnSpc>
            </a:pPr>
            <a:r>
              <a:rPr lang="en-US" sz="2044">
                <a:solidFill>
                  <a:srgbClr val="05060B"/>
                </a:solidFill>
                <a:latin typeface="Canva Sans"/>
                <a:ea typeface="Canva Sans"/>
                <a:cs typeface="Canva Sans"/>
                <a:sym typeface="Canva Sans"/>
              </a:rPr>
              <a:t>KSC LC-39A has the most successful launches </a:t>
            </a:r>
          </a:p>
          <a:p>
            <a:pPr algn="l">
              <a:lnSpc>
                <a:spcPts val="2391"/>
              </a:lnSpc>
            </a:pPr>
          </a:p>
        </p:txBody>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49200" y="1542865"/>
            <a:ext cx="16810100" cy="6682015"/>
          </a:xfrm>
          <a:custGeom>
            <a:avLst/>
            <a:gdLst/>
            <a:ahLst/>
            <a:cxnLst/>
            <a:rect r="r" b="b" t="t" l="l"/>
            <a:pathLst>
              <a:path h="6682015" w="16810100">
                <a:moveTo>
                  <a:pt x="0" y="0"/>
                </a:moveTo>
                <a:lnTo>
                  <a:pt x="16810100" y="0"/>
                </a:lnTo>
                <a:lnTo>
                  <a:pt x="16810100" y="6682014"/>
                </a:lnTo>
                <a:lnTo>
                  <a:pt x="0" y="6682014"/>
                </a:lnTo>
                <a:lnTo>
                  <a:pt x="0" y="0"/>
                </a:lnTo>
                <a:close/>
              </a:path>
            </a:pathLst>
          </a:custGeom>
          <a:blipFill>
            <a:blip r:embed="rId2"/>
            <a:stretch>
              <a:fillRect l="0" t="0" r="0" b="0"/>
            </a:stretch>
          </a:blipFill>
        </p:spPr>
      </p:sp>
      <p:sp>
        <p:nvSpPr>
          <p:cNvPr name="TextBox 3" id="3"/>
          <p:cNvSpPr txBox="true"/>
          <p:nvPr/>
        </p:nvSpPr>
        <p:spPr>
          <a:xfrm rot="0">
            <a:off x="433707" y="9599186"/>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5060B"/>
                </a:solidFill>
                <a:latin typeface="Canva Sans"/>
                <a:ea typeface="Canva Sans"/>
                <a:cs typeface="Canva Sans"/>
                <a:sym typeface="Canva Sans"/>
              </a:rPr>
              <a:t>Page 42</a:t>
            </a:r>
          </a:p>
        </p:txBody>
      </p:sp>
      <p:sp>
        <p:nvSpPr>
          <p:cNvPr name="TextBox 4" id="4"/>
          <p:cNvSpPr txBox="true"/>
          <p:nvPr/>
        </p:nvSpPr>
        <p:spPr>
          <a:xfrm rot="0">
            <a:off x="433707" y="547053"/>
            <a:ext cx="16214705" cy="877569"/>
          </a:xfrm>
          <a:prstGeom prst="rect">
            <a:avLst/>
          </a:prstGeom>
        </p:spPr>
        <p:txBody>
          <a:bodyPr anchor="t" rtlCol="false" tIns="0" lIns="0" bIns="0" rIns="0">
            <a:spAutoFit/>
          </a:bodyPr>
          <a:lstStyle/>
          <a:p>
            <a:pPr algn="l">
              <a:lnSpc>
                <a:spcPts val="7280"/>
              </a:lnSpc>
              <a:spcBef>
                <a:spcPct val="0"/>
              </a:spcBef>
            </a:pPr>
            <a:r>
              <a:rPr lang="en-US" sz="5200">
                <a:solidFill>
                  <a:srgbClr val="05060B"/>
                </a:solidFill>
                <a:latin typeface="Anton"/>
                <a:ea typeface="Anton"/>
                <a:cs typeface="Anton"/>
                <a:sym typeface="Anton"/>
              </a:rPr>
              <a:t>PAYLOAD VS OUTCOME FOR ALL SITES</a:t>
            </a:r>
          </a:p>
        </p:txBody>
      </p:sp>
      <p:sp>
        <p:nvSpPr>
          <p:cNvPr name="TextBox 5" id="5"/>
          <p:cNvSpPr txBox="true"/>
          <p:nvPr/>
        </p:nvSpPr>
        <p:spPr>
          <a:xfrm rot="0">
            <a:off x="10868292" y="8348704"/>
            <a:ext cx="6391008" cy="970419"/>
          </a:xfrm>
          <a:prstGeom prst="rect">
            <a:avLst/>
          </a:prstGeom>
        </p:spPr>
        <p:txBody>
          <a:bodyPr anchor="t" rtlCol="false" tIns="0" lIns="0" bIns="0" rIns="0">
            <a:spAutoFit/>
          </a:bodyPr>
          <a:lstStyle/>
          <a:p>
            <a:pPr algn="l" marL="475687" indent="-237844" lvl="1">
              <a:lnSpc>
                <a:spcPts val="2577"/>
              </a:lnSpc>
              <a:buFont typeface="Arial"/>
              <a:buChar char="•"/>
            </a:pPr>
            <a:r>
              <a:rPr lang="en-US" sz="2203">
                <a:solidFill>
                  <a:srgbClr val="05060B"/>
                </a:solidFill>
                <a:latin typeface="Canva Sans"/>
                <a:ea typeface="Canva Sans"/>
                <a:cs typeface="Canva Sans"/>
                <a:sym typeface="Canva Sans"/>
              </a:rPr>
              <a:t>Class 1 - successful landing</a:t>
            </a:r>
          </a:p>
          <a:p>
            <a:pPr algn="l" marL="475687" indent="-237844" lvl="1">
              <a:lnSpc>
                <a:spcPts val="2577"/>
              </a:lnSpc>
              <a:buFont typeface="Arial"/>
              <a:buChar char="•"/>
            </a:pPr>
            <a:r>
              <a:rPr lang="en-US" sz="2203">
                <a:solidFill>
                  <a:srgbClr val="05060B"/>
                </a:solidFill>
                <a:latin typeface="Canva Sans"/>
                <a:ea typeface="Canva Sans"/>
                <a:cs typeface="Canva Sans"/>
                <a:sym typeface="Canva Sans"/>
              </a:rPr>
              <a:t>Class 0 - failure</a:t>
            </a:r>
          </a:p>
          <a:p>
            <a:pPr algn="l" marL="475687" indent="-237844" lvl="1">
              <a:lnSpc>
                <a:spcPts val="2577"/>
              </a:lnSpc>
              <a:buFont typeface="Arial"/>
              <a:buChar char="•"/>
            </a:pPr>
            <a:r>
              <a:rPr lang="en-US" sz="2203">
                <a:solidFill>
                  <a:srgbClr val="05060B"/>
                </a:solidFill>
                <a:latin typeface="Canva Sans"/>
                <a:ea typeface="Canva Sans"/>
                <a:cs typeface="Canva Sans"/>
                <a:sym typeface="Canva Sans"/>
              </a:rPr>
              <a:t>Booster versions shown in different colours</a:t>
            </a:r>
          </a:p>
        </p:txBody>
      </p:sp>
      <p:sp>
        <p:nvSpPr>
          <p:cNvPr name="TextBox 6" id="6"/>
          <p:cNvSpPr txBox="true"/>
          <p:nvPr/>
        </p:nvSpPr>
        <p:spPr>
          <a:xfrm rot="0">
            <a:off x="586107" y="8287881"/>
            <a:ext cx="9534765" cy="970419"/>
          </a:xfrm>
          <a:prstGeom prst="rect">
            <a:avLst/>
          </a:prstGeom>
        </p:spPr>
        <p:txBody>
          <a:bodyPr anchor="t" rtlCol="false" tIns="0" lIns="0" bIns="0" rIns="0">
            <a:spAutoFit/>
          </a:bodyPr>
          <a:lstStyle/>
          <a:p>
            <a:pPr algn="l" marL="475687" indent="-237844" lvl="1">
              <a:lnSpc>
                <a:spcPts val="2577"/>
              </a:lnSpc>
              <a:buFont typeface="Arial"/>
              <a:buChar char="•"/>
            </a:pPr>
            <a:r>
              <a:rPr lang="en-US" sz="2203">
                <a:solidFill>
                  <a:srgbClr val="05060B"/>
                </a:solidFill>
                <a:latin typeface="Canva Sans"/>
                <a:ea typeface="Canva Sans"/>
                <a:cs typeface="Canva Sans"/>
                <a:sym typeface="Canva Sans"/>
              </a:rPr>
              <a:t>More successful landings with payload mass of less than 5500kg.</a:t>
            </a:r>
          </a:p>
          <a:p>
            <a:pPr algn="l" marL="475687" indent="-237844" lvl="1">
              <a:lnSpc>
                <a:spcPts val="2577"/>
              </a:lnSpc>
              <a:buFont typeface="Arial"/>
              <a:buChar char="•"/>
            </a:pPr>
            <a:r>
              <a:rPr lang="en-US" sz="2203">
                <a:solidFill>
                  <a:srgbClr val="05060B"/>
                </a:solidFill>
                <a:latin typeface="Canva Sans"/>
                <a:ea typeface="Canva Sans"/>
                <a:cs typeface="Canva Sans"/>
                <a:sym typeface="Canva Sans"/>
              </a:rPr>
              <a:t>Most successful boosters include FT and B4.</a:t>
            </a:r>
          </a:p>
          <a:p>
            <a:pPr algn="l" marL="475687" indent="-237844" lvl="1">
              <a:lnSpc>
                <a:spcPts val="2577"/>
              </a:lnSpc>
              <a:buFont typeface="Arial"/>
              <a:buChar char="•"/>
            </a:pPr>
            <a:r>
              <a:rPr lang="en-US" sz="2203">
                <a:solidFill>
                  <a:srgbClr val="05060B"/>
                </a:solidFill>
                <a:latin typeface="Canva Sans"/>
                <a:ea typeface="Canva Sans"/>
                <a:cs typeface="Canva Sans"/>
                <a:sym typeface="Canva Sans"/>
              </a:rPr>
              <a:t>Boosters v1.0 and v1.1 doesn’t show positive results.</a:t>
            </a:r>
          </a:p>
        </p:txBody>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433707" y="9599186"/>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5060B"/>
                </a:solidFill>
                <a:latin typeface="Canva Sans"/>
                <a:ea typeface="Canva Sans"/>
                <a:cs typeface="Canva Sans"/>
                <a:sym typeface="Canva Sans"/>
              </a:rPr>
              <a:t>Page 43</a:t>
            </a:r>
          </a:p>
        </p:txBody>
      </p:sp>
      <p:grpSp>
        <p:nvGrpSpPr>
          <p:cNvPr name="Group 3" id="3"/>
          <p:cNvGrpSpPr/>
          <p:nvPr/>
        </p:nvGrpSpPr>
        <p:grpSpPr>
          <a:xfrm rot="0">
            <a:off x="11081626" y="0"/>
            <a:ext cx="7831370" cy="10287000"/>
            <a:chOff x="0" y="0"/>
            <a:chExt cx="1168151" cy="1534440"/>
          </a:xfrm>
        </p:grpSpPr>
        <p:sp>
          <p:nvSpPr>
            <p:cNvPr name="Freeform 4" id="4"/>
            <p:cNvSpPr/>
            <p:nvPr/>
          </p:nvSpPr>
          <p:spPr>
            <a:xfrm flipH="false" flipV="false" rot="0">
              <a:off x="0" y="0"/>
              <a:ext cx="1168150" cy="1534440"/>
            </a:xfrm>
            <a:custGeom>
              <a:avLst/>
              <a:gdLst/>
              <a:ahLst/>
              <a:cxnLst/>
              <a:rect r="r" b="b" t="t" l="l"/>
              <a:pathLst>
                <a:path h="1534440" w="1168150">
                  <a:moveTo>
                    <a:pt x="0" y="0"/>
                  </a:moveTo>
                  <a:lnTo>
                    <a:pt x="1168150" y="0"/>
                  </a:lnTo>
                  <a:lnTo>
                    <a:pt x="1168150" y="1534440"/>
                  </a:lnTo>
                  <a:lnTo>
                    <a:pt x="0" y="1534440"/>
                  </a:lnTo>
                  <a:close/>
                </a:path>
              </a:pathLst>
            </a:custGeom>
            <a:blipFill>
              <a:blip r:embed="rId2">
                <a:alphaModFix amt="82000"/>
              </a:blip>
              <a:stretch>
                <a:fillRect l="-39510" t="0" r="-39510" b="0"/>
              </a:stretch>
            </a:blipFill>
            <a:ln cap="sq">
              <a:noFill/>
              <a:prstDash val="solid"/>
              <a:miter/>
            </a:ln>
          </p:spPr>
        </p:sp>
      </p:grpSp>
      <p:sp>
        <p:nvSpPr>
          <p:cNvPr name="TextBox 5" id="5"/>
          <p:cNvSpPr txBox="true"/>
          <p:nvPr/>
        </p:nvSpPr>
        <p:spPr>
          <a:xfrm rot="0">
            <a:off x="1009724" y="3735787"/>
            <a:ext cx="8223639" cy="2129626"/>
          </a:xfrm>
          <a:prstGeom prst="rect">
            <a:avLst/>
          </a:prstGeom>
        </p:spPr>
        <p:txBody>
          <a:bodyPr anchor="t" rtlCol="false" tIns="0" lIns="0" bIns="0" rIns="0">
            <a:spAutoFit/>
          </a:bodyPr>
          <a:lstStyle/>
          <a:p>
            <a:pPr algn="l">
              <a:lnSpc>
                <a:spcPts val="8619"/>
              </a:lnSpc>
              <a:spcBef>
                <a:spcPct val="0"/>
              </a:spcBef>
            </a:pPr>
            <a:r>
              <a:rPr lang="en-US" sz="6156">
                <a:solidFill>
                  <a:srgbClr val="05060B"/>
                </a:solidFill>
                <a:latin typeface="Anton"/>
                <a:ea typeface="Anton"/>
                <a:cs typeface="Anton"/>
                <a:sym typeface="Anton"/>
              </a:rPr>
              <a:t>PREDICTIVE ANALYSIS (CLASSIFICATION)</a:t>
            </a:r>
          </a:p>
        </p:txBody>
      </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86107" y="2294310"/>
            <a:ext cx="11301259" cy="6272199"/>
          </a:xfrm>
          <a:custGeom>
            <a:avLst/>
            <a:gdLst/>
            <a:ahLst/>
            <a:cxnLst/>
            <a:rect r="r" b="b" t="t" l="l"/>
            <a:pathLst>
              <a:path h="6272199" w="11301259">
                <a:moveTo>
                  <a:pt x="0" y="0"/>
                </a:moveTo>
                <a:lnTo>
                  <a:pt x="11301259" y="0"/>
                </a:lnTo>
                <a:lnTo>
                  <a:pt x="11301259" y="6272199"/>
                </a:lnTo>
                <a:lnTo>
                  <a:pt x="0" y="6272199"/>
                </a:lnTo>
                <a:lnTo>
                  <a:pt x="0" y="0"/>
                </a:lnTo>
                <a:close/>
              </a:path>
            </a:pathLst>
          </a:custGeom>
          <a:blipFill>
            <a:blip r:embed="rId2"/>
            <a:stretch>
              <a:fillRect l="0" t="0" r="0" b="0"/>
            </a:stretch>
          </a:blipFill>
        </p:spPr>
      </p:sp>
      <p:sp>
        <p:nvSpPr>
          <p:cNvPr name="TextBox 3" id="3"/>
          <p:cNvSpPr txBox="true"/>
          <p:nvPr/>
        </p:nvSpPr>
        <p:spPr>
          <a:xfrm rot="0">
            <a:off x="433707" y="9599186"/>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5060B"/>
                </a:solidFill>
                <a:latin typeface="Canva Sans"/>
                <a:ea typeface="Canva Sans"/>
                <a:cs typeface="Canva Sans"/>
                <a:sym typeface="Canva Sans"/>
              </a:rPr>
              <a:t>Page 44</a:t>
            </a:r>
          </a:p>
        </p:txBody>
      </p:sp>
      <p:sp>
        <p:nvSpPr>
          <p:cNvPr name="TextBox 4" id="4"/>
          <p:cNvSpPr txBox="true"/>
          <p:nvPr/>
        </p:nvSpPr>
        <p:spPr>
          <a:xfrm rot="0">
            <a:off x="547291" y="942975"/>
            <a:ext cx="16214705" cy="877569"/>
          </a:xfrm>
          <a:prstGeom prst="rect">
            <a:avLst/>
          </a:prstGeom>
        </p:spPr>
        <p:txBody>
          <a:bodyPr anchor="t" rtlCol="false" tIns="0" lIns="0" bIns="0" rIns="0">
            <a:spAutoFit/>
          </a:bodyPr>
          <a:lstStyle/>
          <a:p>
            <a:pPr algn="l">
              <a:lnSpc>
                <a:spcPts val="7280"/>
              </a:lnSpc>
              <a:spcBef>
                <a:spcPct val="0"/>
              </a:spcBef>
            </a:pPr>
            <a:r>
              <a:rPr lang="en-US" sz="5200">
                <a:solidFill>
                  <a:srgbClr val="05060B"/>
                </a:solidFill>
                <a:latin typeface="Anton"/>
                <a:ea typeface="Anton"/>
                <a:cs typeface="Anton"/>
                <a:sym typeface="Anton"/>
              </a:rPr>
              <a:t>CLASSIFICATION ACCURACY</a:t>
            </a:r>
          </a:p>
        </p:txBody>
      </p:sp>
      <p:sp>
        <p:nvSpPr>
          <p:cNvPr name="TextBox 5" id="5"/>
          <p:cNvSpPr txBox="true"/>
          <p:nvPr/>
        </p:nvSpPr>
        <p:spPr>
          <a:xfrm rot="0">
            <a:off x="12122053" y="4626112"/>
            <a:ext cx="5857692" cy="2589669"/>
          </a:xfrm>
          <a:prstGeom prst="rect">
            <a:avLst/>
          </a:prstGeom>
        </p:spPr>
        <p:txBody>
          <a:bodyPr anchor="t" rtlCol="false" tIns="0" lIns="0" bIns="0" rIns="0">
            <a:spAutoFit/>
          </a:bodyPr>
          <a:lstStyle/>
          <a:p>
            <a:pPr algn="l" marL="475687" indent="-237844" lvl="1">
              <a:lnSpc>
                <a:spcPts val="2577"/>
              </a:lnSpc>
              <a:buFont typeface="Arial"/>
              <a:buChar char="•"/>
            </a:pPr>
            <a:r>
              <a:rPr lang="en-US" sz="2203">
                <a:solidFill>
                  <a:srgbClr val="05060B"/>
                </a:solidFill>
                <a:latin typeface="Canva Sans"/>
                <a:ea typeface="Canva Sans"/>
                <a:cs typeface="Canva Sans"/>
                <a:sym typeface="Canva Sans"/>
              </a:rPr>
              <a:t>All models had the same accuracy if 83.33%</a:t>
            </a:r>
          </a:p>
          <a:p>
            <a:pPr algn="l" marL="475687" indent="-237844" lvl="1">
              <a:lnSpc>
                <a:spcPts val="2577"/>
              </a:lnSpc>
              <a:buFont typeface="Arial"/>
              <a:buChar char="•"/>
            </a:pPr>
            <a:r>
              <a:rPr lang="en-US" sz="2203">
                <a:solidFill>
                  <a:srgbClr val="05060B"/>
                </a:solidFill>
                <a:latin typeface="Canva Sans"/>
                <a:ea typeface="Canva Sans"/>
                <a:cs typeface="Canva Sans"/>
                <a:sym typeface="Canva Sans"/>
              </a:rPr>
              <a:t>We likely need more data to determine the best model.</a:t>
            </a:r>
          </a:p>
          <a:p>
            <a:pPr algn="l" marL="475687" indent="-237844" lvl="1">
              <a:lnSpc>
                <a:spcPts val="2577"/>
              </a:lnSpc>
              <a:buFont typeface="Arial"/>
              <a:buChar char="•"/>
            </a:pPr>
            <a:r>
              <a:rPr lang="en-US" sz="2203">
                <a:solidFill>
                  <a:srgbClr val="05060B"/>
                </a:solidFill>
                <a:latin typeface="Canva Sans"/>
                <a:ea typeface="Canva Sans"/>
                <a:cs typeface="Canva Sans"/>
                <a:sym typeface="Canva Sans"/>
              </a:rPr>
              <a:t>Looking at best performed method, the decision tree classifier is the best if we look down to the decimal.</a:t>
            </a:r>
          </a:p>
          <a:p>
            <a:pPr algn="l">
              <a:lnSpc>
                <a:spcPts val="2577"/>
              </a:lnSpc>
            </a:pPr>
          </a:p>
        </p:txBody>
      </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630883"/>
            <a:ext cx="8884684" cy="7627417"/>
          </a:xfrm>
          <a:custGeom>
            <a:avLst/>
            <a:gdLst/>
            <a:ahLst/>
            <a:cxnLst/>
            <a:rect r="r" b="b" t="t" l="l"/>
            <a:pathLst>
              <a:path h="7627417" w="8884684">
                <a:moveTo>
                  <a:pt x="0" y="0"/>
                </a:moveTo>
                <a:lnTo>
                  <a:pt x="8884684" y="0"/>
                </a:lnTo>
                <a:lnTo>
                  <a:pt x="8884684" y="7627417"/>
                </a:lnTo>
                <a:lnTo>
                  <a:pt x="0" y="7627417"/>
                </a:lnTo>
                <a:lnTo>
                  <a:pt x="0" y="0"/>
                </a:lnTo>
                <a:close/>
              </a:path>
            </a:pathLst>
          </a:custGeom>
          <a:blipFill>
            <a:blip r:embed="rId2"/>
            <a:stretch>
              <a:fillRect l="0" t="0" r="0" b="0"/>
            </a:stretch>
          </a:blipFill>
        </p:spPr>
      </p:sp>
      <p:sp>
        <p:nvSpPr>
          <p:cNvPr name="TextBox 3" id="3"/>
          <p:cNvSpPr txBox="true"/>
          <p:nvPr/>
        </p:nvSpPr>
        <p:spPr>
          <a:xfrm rot="0">
            <a:off x="433707" y="9599186"/>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5060B"/>
                </a:solidFill>
                <a:latin typeface="Canva Sans"/>
                <a:ea typeface="Canva Sans"/>
                <a:cs typeface="Canva Sans"/>
                <a:sym typeface="Canva Sans"/>
              </a:rPr>
              <a:t>Page 45</a:t>
            </a:r>
          </a:p>
        </p:txBody>
      </p:sp>
      <p:sp>
        <p:nvSpPr>
          <p:cNvPr name="TextBox 4" id="4"/>
          <p:cNvSpPr txBox="true"/>
          <p:nvPr/>
        </p:nvSpPr>
        <p:spPr>
          <a:xfrm rot="0">
            <a:off x="1028700" y="547053"/>
            <a:ext cx="16214705" cy="877569"/>
          </a:xfrm>
          <a:prstGeom prst="rect">
            <a:avLst/>
          </a:prstGeom>
        </p:spPr>
        <p:txBody>
          <a:bodyPr anchor="t" rtlCol="false" tIns="0" lIns="0" bIns="0" rIns="0">
            <a:spAutoFit/>
          </a:bodyPr>
          <a:lstStyle/>
          <a:p>
            <a:pPr algn="l">
              <a:lnSpc>
                <a:spcPts val="7280"/>
              </a:lnSpc>
              <a:spcBef>
                <a:spcPct val="0"/>
              </a:spcBef>
            </a:pPr>
            <a:r>
              <a:rPr lang="en-US" sz="5200">
                <a:solidFill>
                  <a:srgbClr val="05060B"/>
                </a:solidFill>
                <a:latin typeface="Anton"/>
                <a:ea typeface="Anton"/>
                <a:cs typeface="Anton"/>
                <a:sym typeface="Anton"/>
              </a:rPr>
              <a:t>CONFUSION MATRIX</a:t>
            </a:r>
          </a:p>
        </p:txBody>
      </p:sp>
      <p:sp>
        <p:nvSpPr>
          <p:cNvPr name="TextBox 5" id="5"/>
          <p:cNvSpPr txBox="true"/>
          <p:nvPr/>
        </p:nvSpPr>
        <p:spPr>
          <a:xfrm rot="0">
            <a:off x="11031718" y="3853428"/>
            <a:ext cx="5857692" cy="2913519"/>
          </a:xfrm>
          <a:prstGeom prst="rect">
            <a:avLst/>
          </a:prstGeom>
        </p:spPr>
        <p:txBody>
          <a:bodyPr anchor="t" rtlCol="false" tIns="0" lIns="0" bIns="0" rIns="0">
            <a:spAutoFit/>
          </a:bodyPr>
          <a:lstStyle/>
          <a:p>
            <a:pPr algn="l" marL="475687" indent="-237844" lvl="1">
              <a:lnSpc>
                <a:spcPts val="2577"/>
              </a:lnSpc>
              <a:buFont typeface="Arial"/>
              <a:buChar char="•"/>
            </a:pPr>
            <a:r>
              <a:rPr lang="en-US" sz="2203">
                <a:solidFill>
                  <a:srgbClr val="05060B"/>
                </a:solidFill>
                <a:latin typeface="Canva Sans"/>
                <a:ea typeface="Canva Sans"/>
                <a:cs typeface="Canva Sans"/>
                <a:sym typeface="Canva Sans"/>
              </a:rPr>
              <a:t>The model predicts 12 successful landings</a:t>
            </a:r>
          </a:p>
          <a:p>
            <a:pPr algn="l" marL="475687" indent="-237844" lvl="1">
              <a:lnSpc>
                <a:spcPts val="2577"/>
              </a:lnSpc>
              <a:buFont typeface="Arial"/>
              <a:buChar char="•"/>
            </a:pPr>
            <a:r>
              <a:rPr lang="en-US" sz="2203">
                <a:solidFill>
                  <a:srgbClr val="05060B"/>
                </a:solidFill>
                <a:latin typeface="Canva Sans"/>
                <a:ea typeface="Canva Sans"/>
                <a:cs typeface="Canva Sans"/>
                <a:sym typeface="Canva Sans"/>
              </a:rPr>
              <a:t>Predicts 3 unsuccessful landings.</a:t>
            </a:r>
          </a:p>
          <a:p>
            <a:pPr algn="l" marL="475687" indent="-237844" lvl="1">
              <a:lnSpc>
                <a:spcPts val="2577"/>
              </a:lnSpc>
              <a:buFont typeface="Arial"/>
              <a:buChar char="•"/>
            </a:pPr>
            <a:r>
              <a:rPr lang="en-US" sz="2203">
                <a:solidFill>
                  <a:srgbClr val="05060B"/>
                </a:solidFill>
                <a:latin typeface="Canva Sans"/>
                <a:ea typeface="Canva Sans"/>
                <a:cs typeface="Canva Sans"/>
                <a:sym typeface="Canva Sans"/>
              </a:rPr>
              <a:t>Predicts 3 successful landing (false positive)</a:t>
            </a:r>
          </a:p>
          <a:p>
            <a:pPr algn="l" marL="475687" indent="-237844" lvl="1">
              <a:lnSpc>
                <a:spcPts val="2577"/>
              </a:lnSpc>
              <a:buFont typeface="Arial"/>
              <a:buChar char="•"/>
            </a:pPr>
            <a:r>
              <a:rPr lang="en-US" sz="2203">
                <a:solidFill>
                  <a:srgbClr val="05060B"/>
                </a:solidFill>
                <a:latin typeface="Canva Sans"/>
                <a:ea typeface="Canva Sans"/>
                <a:cs typeface="Canva Sans"/>
                <a:sym typeface="Canva Sans"/>
              </a:rPr>
              <a:t>Thus our model over predicts successful landings and our major problem is false positives.</a:t>
            </a:r>
          </a:p>
          <a:p>
            <a:pPr algn="l">
              <a:lnSpc>
                <a:spcPts val="2577"/>
              </a:lnSpc>
            </a:pPr>
          </a:p>
        </p:txBody>
      </p:sp>
    </p:spTree>
  </p:cSld>
  <p:clrMapOvr>
    <a:masterClrMapping/>
  </p:clrMapOvr>
</p:sld>
</file>

<file path=ppt/slides/slide4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433707" y="9599186"/>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5060B"/>
                </a:solidFill>
                <a:latin typeface="Canva Sans"/>
                <a:ea typeface="Canva Sans"/>
                <a:cs typeface="Canva Sans"/>
                <a:sym typeface="Canva Sans"/>
              </a:rPr>
              <a:t>Page 46</a:t>
            </a:r>
          </a:p>
        </p:txBody>
      </p:sp>
      <p:sp>
        <p:nvSpPr>
          <p:cNvPr name="TextBox 3" id="3"/>
          <p:cNvSpPr txBox="true"/>
          <p:nvPr/>
        </p:nvSpPr>
        <p:spPr>
          <a:xfrm rot="0">
            <a:off x="1028700" y="723382"/>
            <a:ext cx="16214705" cy="877569"/>
          </a:xfrm>
          <a:prstGeom prst="rect">
            <a:avLst/>
          </a:prstGeom>
        </p:spPr>
        <p:txBody>
          <a:bodyPr anchor="t" rtlCol="false" tIns="0" lIns="0" bIns="0" rIns="0">
            <a:spAutoFit/>
          </a:bodyPr>
          <a:lstStyle/>
          <a:p>
            <a:pPr algn="l">
              <a:lnSpc>
                <a:spcPts val="7280"/>
              </a:lnSpc>
              <a:spcBef>
                <a:spcPct val="0"/>
              </a:spcBef>
            </a:pPr>
            <a:r>
              <a:rPr lang="en-US" sz="5200">
                <a:solidFill>
                  <a:srgbClr val="05060B"/>
                </a:solidFill>
                <a:latin typeface="Anton"/>
                <a:ea typeface="Anton"/>
                <a:cs typeface="Anton"/>
                <a:sym typeface="Anton"/>
              </a:rPr>
              <a:t>CONCLUSION</a:t>
            </a:r>
          </a:p>
        </p:txBody>
      </p:sp>
      <p:sp>
        <p:nvSpPr>
          <p:cNvPr name="TextBox 4" id="4"/>
          <p:cNvSpPr txBox="true"/>
          <p:nvPr/>
        </p:nvSpPr>
        <p:spPr>
          <a:xfrm rot="0">
            <a:off x="1028700" y="2036879"/>
            <a:ext cx="14550117" cy="4532769"/>
          </a:xfrm>
          <a:prstGeom prst="rect">
            <a:avLst/>
          </a:prstGeom>
        </p:spPr>
        <p:txBody>
          <a:bodyPr anchor="t" rtlCol="false" tIns="0" lIns="0" bIns="0" rIns="0">
            <a:spAutoFit/>
          </a:bodyPr>
          <a:lstStyle/>
          <a:p>
            <a:pPr algn="l" marL="475687" indent="-237844" lvl="1">
              <a:lnSpc>
                <a:spcPts val="2577"/>
              </a:lnSpc>
              <a:buFont typeface="Arial"/>
              <a:buChar char="•"/>
            </a:pPr>
            <a:r>
              <a:rPr lang="en-US" sz="2203">
                <a:solidFill>
                  <a:srgbClr val="05060B"/>
                </a:solidFill>
                <a:latin typeface="Canva Sans"/>
                <a:ea typeface="Canva Sans"/>
                <a:cs typeface="Canva Sans"/>
                <a:sym typeface="Canva Sans"/>
              </a:rPr>
              <a:t>We developed a machine learning model for Space Y to predict whether the Falcon 9 first stage will land successfully based on historical data and launch parameters.</a:t>
            </a:r>
          </a:p>
          <a:p>
            <a:pPr algn="l" marL="475687" indent="-237844" lvl="1">
              <a:lnSpc>
                <a:spcPts val="2577"/>
              </a:lnSpc>
              <a:buFont typeface="Arial"/>
              <a:buChar char="•"/>
            </a:pPr>
            <a:r>
              <a:rPr lang="en-US" sz="2203">
                <a:solidFill>
                  <a:srgbClr val="05060B"/>
                </a:solidFill>
                <a:latin typeface="Canva Sans"/>
                <a:ea typeface="Canva Sans"/>
                <a:cs typeface="Canva Sans"/>
                <a:sym typeface="Canva Sans"/>
              </a:rPr>
              <a:t>Used SpaceX API and Web Scraping techniques to retrieve data.</a:t>
            </a:r>
          </a:p>
          <a:p>
            <a:pPr algn="l" marL="475687" indent="-237844" lvl="1">
              <a:lnSpc>
                <a:spcPts val="2577"/>
              </a:lnSpc>
              <a:buFont typeface="Arial"/>
              <a:buChar char="•"/>
            </a:pPr>
            <a:r>
              <a:rPr lang="en-US" sz="2203">
                <a:solidFill>
                  <a:srgbClr val="05060B"/>
                </a:solidFill>
                <a:latin typeface="Canva Sans"/>
                <a:ea typeface="Canva Sans"/>
                <a:cs typeface="Canva Sans"/>
                <a:sym typeface="Canva Sans"/>
              </a:rPr>
              <a:t>Wrangled data to get needed sources and used data visualization and SQL to retrieve needed information and create relevant graphs to conclude on relationships between parameters.</a:t>
            </a:r>
          </a:p>
          <a:p>
            <a:pPr algn="l" marL="475687" indent="-237844" lvl="1">
              <a:lnSpc>
                <a:spcPts val="2577"/>
              </a:lnSpc>
              <a:buFont typeface="Arial"/>
              <a:buChar char="•"/>
            </a:pPr>
            <a:r>
              <a:rPr lang="en-US" sz="2203">
                <a:solidFill>
                  <a:srgbClr val="05060B"/>
                </a:solidFill>
                <a:latin typeface="Canva Sans"/>
                <a:ea typeface="Canva Sans"/>
                <a:cs typeface="Canva Sans"/>
                <a:sym typeface="Canva Sans"/>
              </a:rPr>
              <a:t>Machine learning model created with 83.33% accuracy.</a:t>
            </a:r>
          </a:p>
          <a:p>
            <a:pPr algn="l" marL="475687" indent="-237844" lvl="1">
              <a:lnSpc>
                <a:spcPts val="2577"/>
              </a:lnSpc>
              <a:buFont typeface="Arial"/>
              <a:buChar char="•"/>
            </a:pPr>
            <a:r>
              <a:rPr lang="en-US" sz="2203">
                <a:solidFill>
                  <a:srgbClr val="05060B"/>
                </a:solidFill>
                <a:latin typeface="Canva Sans"/>
                <a:ea typeface="Canva Sans"/>
                <a:cs typeface="Canva Sans"/>
                <a:sym typeface="Canva Sans"/>
              </a:rPr>
              <a:t>The decision tree classifier is the best for machine learning for this dataset.</a:t>
            </a:r>
          </a:p>
          <a:p>
            <a:pPr algn="l" marL="475687" indent="-237844" lvl="1">
              <a:lnSpc>
                <a:spcPts val="2577"/>
              </a:lnSpc>
              <a:buFont typeface="Arial"/>
              <a:buChar char="•"/>
            </a:pPr>
            <a:r>
              <a:rPr lang="en-US" sz="2203">
                <a:solidFill>
                  <a:srgbClr val="05060B"/>
                </a:solidFill>
                <a:latin typeface="Canva Sans"/>
                <a:ea typeface="Canva Sans"/>
                <a:cs typeface="Canva Sans"/>
                <a:sym typeface="Canva Sans"/>
              </a:rPr>
              <a:t>KSC LC -39A had the most successful launches out of all the sites.</a:t>
            </a:r>
          </a:p>
          <a:p>
            <a:pPr algn="l" marL="475687" indent="-237844" lvl="1">
              <a:lnSpc>
                <a:spcPts val="2577"/>
              </a:lnSpc>
              <a:buFont typeface="Arial"/>
              <a:buChar char="•"/>
            </a:pPr>
            <a:r>
              <a:rPr lang="en-US" sz="2203">
                <a:solidFill>
                  <a:srgbClr val="05060B"/>
                </a:solidFill>
                <a:latin typeface="Canva Sans"/>
                <a:ea typeface="Canva Sans"/>
                <a:cs typeface="Canva Sans"/>
                <a:sym typeface="Canva Sans"/>
              </a:rPr>
              <a:t>Orbit ES-L1, GEO, HEO, SSO has the best success rate.\</a:t>
            </a:r>
          </a:p>
          <a:p>
            <a:pPr algn="l" marL="475687" indent="-237844" lvl="1">
              <a:lnSpc>
                <a:spcPts val="2577"/>
              </a:lnSpc>
              <a:buFont typeface="Arial"/>
              <a:buChar char="•"/>
            </a:pPr>
            <a:r>
              <a:rPr lang="en-US" sz="2203">
                <a:solidFill>
                  <a:srgbClr val="05060B"/>
                </a:solidFill>
                <a:latin typeface="Canva Sans"/>
                <a:ea typeface="Canva Sans"/>
                <a:cs typeface="Canva Sans"/>
                <a:sym typeface="Canva Sans"/>
              </a:rPr>
              <a:t>Space Y can predict with a relevantly high accuracy whether a launch will have a successful stage 1 landing, to determine whether the launch should be made or not.</a:t>
            </a:r>
          </a:p>
          <a:p>
            <a:pPr algn="l" marL="475687" indent="-237844" lvl="1">
              <a:lnSpc>
                <a:spcPts val="2577"/>
              </a:lnSpc>
              <a:buFont typeface="Arial"/>
              <a:buChar char="•"/>
            </a:pPr>
            <a:r>
              <a:rPr lang="en-US" sz="2203">
                <a:solidFill>
                  <a:srgbClr val="05060B"/>
                </a:solidFill>
                <a:latin typeface="Canva Sans"/>
                <a:ea typeface="Canva Sans"/>
                <a:cs typeface="Canva Sans"/>
                <a:sym typeface="Canva Sans"/>
              </a:rPr>
              <a:t>More data should be collected to better determine the best model for machine learning model to improve accuracy</a:t>
            </a:r>
          </a:p>
          <a:p>
            <a:pPr algn="l">
              <a:lnSpc>
                <a:spcPts val="2577"/>
              </a:lnSpc>
            </a:pPr>
          </a:p>
        </p:txBody>
      </p:sp>
    </p:spTree>
  </p:cSld>
  <p:clrMapOvr>
    <a:masterClrMapping/>
  </p:clrMapOvr>
</p:sld>
</file>

<file path=ppt/slides/slide4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433707" y="9599186"/>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5060B"/>
                </a:solidFill>
                <a:latin typeface="Canva Sans"/>
                <a:ea typeface="Canva Sans"/>
                <a:cs typeface="Canva Sans"/>
                <a:sym typeface="Canva Sans"/>
              </a:rPr>
              <a:t>Page 47</a:t>
            </a:r>
          </a:p>
        </p:txBody>
      </p:sp>
      <p:sp>
        <p:nvSpPr>
          <p:cNvPr name="TextBox 3" id="3"/>
          <p:cNvSpPr txBox="true"/>
          <p:nvPr/>
        </p:nvSpPr>
        <p:spPr>
          <a:xfrm rot="0">
            <a:off x="1044595" y="942975"/>
            <a:ext cx="16214705" cy="877569"/>
          </a:xfrm>
          <a:prstGeom prst="rect">
            <a:avLst/>
          </a:prstGeom>
        </p:spPr>
        <p:txBody>
          <a:bodyPr anchor="t" rtlCol="false" tIns="0" lIns="0" bIns="0" rIns="0">
            <a:spAutoFit/>
          </a:bodyPr>
          <a:lstStyle/>
          <a:p>
            <a:pPr algn="l">
              <a:lnSpc>
                <a:spcPts val="7280"/>
              </a:lnSpc>
              <a:spcBef>
                <a:spcPct val="0"/>
              </a:spcBef>
            </a:pPr>
            <a:r>
              <a:rPr lang="en-US" sz="5200">
                <a:solidFill>
                  <a:srgbClr val="05060B"/>
                </a:solidFill>
                <a:latin typeface="Anton"/>
                <a:ea typeface="Anton"/>
                <a:cs typeface="Anton"/>
                <a:sym typeface="Anton"/>
              </a:rPr>
              <a:t>APPENDIX</a:t>
            </a:r>
          </a:p>
        </p:txBody>
      </p:sp>
      <p:sp>
        <p:nvSpPr>
          <p:cNvPr name="TextBox 4" id="4"/>
          <p:cNvSpPr txBox="true"/>
          <p:nvPr/>
        </p:nvSpPr>
        <p:spPr>
          <a:xfrm rot="0">
            <a:off x="1028700" y="2036879"/>
            <a:ext cx="14550117" cy="970419"/>
          </a:xfrm>
          <a:prstGeom prst="rect">
            <a:avLst/>
          </a:prstGeom>
        </p:spPr>
        <p:txBody>
          <a:bodyPr anchor="t" rtlCol="false" tIns="0" lIns="0" bIns="0" rIns="0">
            <a:spAutoFit/>
          </a:bodyPr>
          <a:lstStyle/>
          <a:p>
            <a:pPr algn="l">
              <a:lnSpc>
                <a:spcPts val="2577"/>
              </a:lnSpc>
            </a:pPr>
            <a:r>
              <a:rPr lang="en-US" sz="2203">
                <a:solidFill>
                  <a:srgbClr val="05060B"/>
                </a:solidFill>
                <a:latin typeface="Canva Sans"/>
                <a:ea typeface="Canva Sans"/>
                <a:cs typeface="Canva Sans"/>
                <a:sym typeface="Canva Sans"/>
              </a:rPr>
              <a:t>Github repository url:</a:t>
            </a:r>
          </a:p>
          <a:p>
            <a:pPr algn="l">
              <a:lnSpc>
                <a:spcPts val="2577"/>
              </a:lnSpc>
            </a:pPr>
            <a:r>
              <a:rPr lang="en-US" sz="2203">
                <a:solidFill>
                  <a:srgbClr val="05060B"/>
                </a:solidFill>
                <a:latin typeface="Canva Sans"/>
                <a:ea typeface="Canva Sans"/>
                <a:cs typeface="Canva Sans"/>
                <a:sym typeface="Canva Sans"/>
              </a:rPr>
              <a:t>https://github.com/Ankedefrey/Data-Science-Capstone-Project</a:t>
            </a:r>
          </a:p>
          <a:p>
            <a:pPr algn="l">
              <a:lnSpc>
                <a:spcPts val="2577"/>
              </a:lnSpc>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DAGVs0k0-HQ</dc:identifier>
  <dcterms:modified xsi:type="dcterms:W3CDTF">2011-08-01T06:04:30Z</dcterms:modified>
  <cp:revision>1</cp:revision>
  <dc:title>Executive Summary</dc:title>
</cp:coreProperties>
</file>